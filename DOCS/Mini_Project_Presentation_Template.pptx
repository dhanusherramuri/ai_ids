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64" r:id="rId2"/>
    <p:sldId id="413" r:id="rId3"/>
    <p:sldId id="440" r:id="rId4"/>
    <p:sldId id="468" r:id="rId5"/>
    <p:sldId id="467" r:id="rId6"/>
    <p:sldId id="466" r:id="rId7"/>
    <p:sldId id="441" r:id="rId8"/>
    <p:sldId id="465" r:id="rId9"/>
    <p:sldId id="448" r:id="rId10"/>
    <p:sldId id="462" r:id="rId11"/>
    <p:sldId id="469" r:id="rId12"/>
    <p:sldId id="470" r:id="rId13"/>
    <p:sldId id="471" r:id="rId14"/>
    <p:sldId id="472" r:id="rId15"/>
    <p:sldId id="463" r:id="rId16"/>
    <p:sldId id="473" r:id="rId17"/>
    <p:sldId id="474" r:id="rId18"/>
    <p:sldId id="475" r:id="rId19"/>
    <p:sldId id="476" r:id="rId20"/>
    <p:sldId id="477" r:id="rId21"/>
    <p:sldId id="464" r:id="rId22"/>
    <p:sldId id="434" r:id="rId23"/>
  </p:sldIdLst>
  <p:sldSz cx="10799763"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D47D26"/>
    <a:srgbClr val="FF6600"/>
    <a:srgbClr val="CCFFFF"/>
    <a:srgbClr val="66FFFF"/>
    <a:srgbClr val="FFFF66"/>
    <a:srgbClr val="FFFF00"/>
    <a:srgbClr val="FFFFCC"/>
    <a:srgbClr val="FF99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0036" autoAdjust="0"/>
  </p:normalViewPr>
  <p:slideViewPr>
    <p:cSldViewPr>
      <p:cViewPr varScale="1">
        <p:scale>
          <a:sx n="74" d="100"/>
          <a:sy n="74" d="100"/>
        </p:scale>
        <p:origin x="1368" y="62"/>
      </p:cViewPr>
      <p:guideLst>
        <p:guide orient="horz" pos="2160"/>
        <p:guide pos="3402"/>
      </p:guideLst>
    </p:cSldViewPr>
  </p:slideViewPr>
  <p:notesTextViewPr>
    <p:cViewPr>
      <p:scale>
        <a:sx n="100" d="100"/>
        <a:sy n="100" d="100"/>
      </p:scale>
      <p:origin x="0" y="0"/>
    </p:cViewPr>
  </p:notesTextViewPr>
  <p:sorterViewPr>
    <p:cViewPr>
      <p:scale>
        <a:sx n="100" d="100"/>
        <a:sy n="100" d="100"/>
      </p:scale>
      <p:origin x="0" y="5328"/>
    </p:cViewPr>
  </p:sorterViewPr>
  <p:notesViewPr>
    <p:cSldViewPr>
      <p:cViewPr varScale="1">
        <p:scale>
          <a:sx n="55" d="100"/>
          <a:sy n="55" d="100"/>
        </p:scale>
        <p:origin x="288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19E7B17-C078-4C50-9935-3DE50FC9DB26}" type="slidenum">
              <a:rPr lang="en-US"/>
              <a:pPr>
                <a:defRPr/>
              </a:pPr>
              <a:t>‹#›</a:t>
            </a:fld>
            <a:endParaRPr lang="en-US"/>
          </a:p>
        </p:txBody>
      </p:sp>
    </p:spTree>
    <p:extLst>
      <p:ext uri="{BB962C8B-B14F-4D97-AF65-F5344CB8AC3E}">
        <p14:creationId xmlns:p14="http://schemas.microsoft.com/office/powerpoint/2010/main" val="9265063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730250" y="685800"/>
            <a:ext cx="53975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5E4430F-96D5-4F5E-AF15-BF5EB88FA4B6}" type="slidenum">
              <a:rPr lang="en-US"/>
              <a:pPr>
                <a:defRPr/>
              </a:pPr>
              <a:t>‹#›</a:t>
            </a:fld>
            <a:endParaRPr lang="en-US"/>
          </a:p>
        </p:txBody>
      </p:sp>
    </p:spTree>
    <p:extLst>
      <p:ext uri="{BB962C8B-B14F-4D97-AF65-F5344CB8AC3E}">
        <p14:creationId xmlns:p14="http://schemas.microsoft.com/office/powerpoint/2010/main" val="119430235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0" y="685800"/>
            <a:ext cx="53975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a:t>
            </a:fld>
            <a:endParaRPr lang="en-US"/>
          </a:p>
        </p:txBody>
      </p:sp>
    </p:spTree>
    <p:extLst>
      <p:ext uri="{BB962C8B-B14F-4D97-AF65-F5344CB8AC3E}">
        <p14:creationId xmlns:p14="http://schemas.microsoft.com/office/powerpoint/2010/main" val="289941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9</a:t>
            </a:fld>
            <a:endParaRPr lang="en-US"/>
          </a:p>
        </p:txBody>
      </p:sp>
    </p:spTree>
    <p:extLst>
      <p:ext uri="{BB962C8B-B14F-4D97-AF65-F5344CB8AC3E}">
        <p14:creationId xmlns:p14="http://schemas.microsoft.com/office/powerpoint/2010/main" val="116954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10</a:t>
            </a:fld>
            <a:endParaRPr lang="en-US"/>
          </a:p>
        </p:txBody>
      </p:sp>
    </p:spTree>
    <p:extLst>
      <p:ext uri="{BB962C8B-B14F-4D97-AF65-F5344CB8AC3E}">
        <p14:creationId xmlns:p14="http://schemas.microsoft.com/office/powerpoint/2010/main" val="167258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F442-9103-C281-187B-90A4D9381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8327D-0167-BE99-15D5-7D1B25079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367CE-1E17-B0FC-58F9-6C37689BEC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96D8F2-D316-5565-0960-737E3880EA40}"/>
              </a:ext>
            </a:extLst>
          </p:cNvPr>
          <p:cNvSpPr>
            <a:spLocks noGrp="1"/>
          </p:cNvSpPr>
          <p:nvPr>
            <p:ph type="sldNum" sz="quarter" idx="10"/>
          </p:nvPr>
        </p:nvSpPr>
        <p:spPr/>
        <p:txBody>
          <a:bodyPr/>
          <a:lstStyle/>
          <a:p>
            <a:pPr>
              <a:defRPr/>
            </a:pPr>
            <a:fld id="{65E4430F-96D5-4F5E-AF15-BF5EB88FA4B6}" type="slidenum">
              <a:rPr lang="en-US" smtClean="0"/>
              <a:pPr>
                <a:defRPr/>
              </a:pPr>
              <a:t>11</a:t>
            </a:fld>
            <a:endParaRPr lang="en-US"/>
          </a:p>
        </p:txBody>
      </p:sp>
    </p:spTree>
    <p:extLst>
      <p:ext uri="{BB962C8B-B14F-4D97-AF65-F5344CB8AC3E}">
        <p14:creationId xmlns:p14="http://schemas.microsoft.com/office/powerpoint/2010/main" val="271796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B2E8-07BF-6603-309F-2882F4265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C32DE-D9EE-9549-23EB-C3EA21343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F389D-A148-5387-CAA3-6872151195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64CE23-24EB-DDFE-40E3-45AEFB18F2E8}"/>
              </a:ext>
            </a:extLst>
          </p:cNvPr>
          <p:cNvSpPr>
            <a:spLocks noGrp="1"/>
          </p:cNvSpPr>
          <p:nvPr>
            <p:ph type="sldNum" sz="quarter" idx="10"/>
          </p:nvPr>
        </p:nvSpPr>
        <p:spPr/>
        <p:txBody>
          <a:bodyPr/>
          <a:lstStyle/>
          <a:p>
            <a:pPr>
              <a:defRPr/>
            </a:pPr>
            <a:fld id="{65E4430F-96D5-4F5E-AF15-BF5EB88FA4B6}" type="slidenum">
              <a:rPr lang="en-US" smtClean="0"/>
              <a:pPr>
                <a:defRPr/>
              </a:pPr>
              <a:t>12</a:t>
            </a:fld>
            <a:endParaRPr lang="en-US"/>
          </a:p>
        </p:txBody>
      </p:sp>
    </p:spTree>
    <p:extLst>
      <p:ext uri="{BB962C8B-B14F-4D97-AF65-F5344CB8AC3E}">
        <p14:creationId xmlns:p14="http://schemas.microsoft.com/office/powerpoint/2010/main" val="4183452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BCBE-D71E-A6A6-4C9E-CC6651EA6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335F7-3978-D128-5C43-8C53C87D7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CC0DF-6629-7668-8895-71B549AB8F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7E5DE9-5763-1F05-325F-B30A49DA158B}"/>
              </a:ext>
            </a:extLst>
          </p:cNvPr>
          <p:cNvSpPr>
            <a:spLocks noGrp="1"/>
          </p:cNvSpPr>
          <p:nvPr>
            <p:ph type="sldNum" sz="quarter" idx="10"/>
          </p:nvPr>
        </p:nvSpPr>
        <p:spPr/>
        <p:txBody>
          <a:bodyPr/>
          <a:lstStyle/>
          <a:p>
            <a:pPr>
              <a:defRPr/>
            </a:pPr>
            <a:fld id="{65E4430F-96D5-4F5E-AF15-BF5EB88FA4B6}" type="slidenum">
              <a:rPr lang="en-US" smtClean="0"/>
              <a:pPr>
                <a:defRPr/>
              </a:pPr>
              <a:t>13</a:t>
            </a:fld>
            <a:endParaRPr lang="en-US"/>
          </a:p>
        </p:txBody>
      </p:sp>
    </p:spTree>
    <p:extLst>
      <p:ext uri="{BB962C8B-B14F-4D97-AF65-F5344CB8AC3E}">
        <p14:creationId xmlns:p14="http://schemas.microsoft.com/office/powerpoint/2010/main" val="38769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F17A-281E-D367-7646-6DC3F0775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1C1A4-7FEF-6487-9E03-95359122B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FF405-8FEB-4E9A-EFF1-3BEF954F8A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761FE0-DCF6-BB28-20F3-C7713DF4CF74}"/>
              </a:ext>
            </a:extLst>
          </p:cNvPr>
          <p:cNvSpPr>
            <a:spLocks noGrp="1"/>
          </p:cNvSpPr>
          <p:nvPr>
            <p:ph type="sldNum" sz="quarter" idx="10"/>
          </p:nvPr>
        </p:nvSpPr>
        <p:spPr/>
        <p:txBody>
          <a:bodyPr/>
          <a:lstStyle/>
          <a:p>
            <a:pPr>
              <a:defRPr/>
            </a:pPr>
            <a:fld id="{65E4430F-96D5-4F5E-AF15-BF5EB88FA4B6}" type="slidenum">
              <a:rPr lang="en-US" smtClean="0"/>
              <a:pPr>
                <a:defRPr/>
              </a:pPr>
              <a:t>14</a:t>
            </a:fld>
            <a:endParaRPr lang="en-US"/>
          </a:p>
        </p:txBody>
      </p:sp>
    </p:spTree>
    <p:extLst>
      <p:ext uri="{BB962C8B-B14F-4D97-AF65-F5344CB8AC3E}">
        <p14:creationId xmlns:p14="http://schemas.microsoft.com/office/powerpoint/2010/main" val="1574319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15</a:t>
            </a:fld>
            <a:endParaRPr lang="en-US"/>
          </a:p>
        </p:txBody>
      </p:sp>
    </p:spTree>
    <p:extLst>
      <p:ext uri="{BB962C8B-B14F-4D97-AF65-F5344CB8AC3E}">
        <p14:creationId xmlns:p14="http://schemas.microsoft.com/office/powerpoint/2010/main" val="2635458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172D4-C9EF-1A8B-7C9D-EF5DCB5A0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BF98-81BE-0E41-8913-26A8AA614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268D8-6F87-AA9B-DCB1-6F46F7CE37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0ED183-D765-E240-C1BA-7F8C153647D2}"/>
              </a:ext>
            </a:extLst>
          </p:cNvPr>
          <p:cNvSpPr>
            <a:spLocks noGrp="1"/>
          </p:cNvSpPr>
          <p:nvPr>
            <p:ph type="sldNum" sz="quarter" idx="10"/>
          </p:nvPr>
        </p:nvSpPr>
        <p:spPr/>
        <p:txBody>
          <a:bodyPr/>
          <a:lstStyle/>
          <a:p>
            <a:pPr>
              <a:defRPr/>
            </a:pPr>
            <a:fld id="{65E4430F-96D5-4F5E-AF15-BF5EB88FA4B6}" type="slidenum">
              <a:rPr lang="en-US" smtClean="0"/>
              <a:pPr>
                <a:defRPr/>
              </a:pPr>
              <a:t>16</a:t>
            </a:fld>
            <a:endParaRPr lang="en-US"/>
          </a:p>
        </p:txBody>
      </p:sp>
    </p:spTree>
    <p:extLst>
      <p:ext uri="{BB962C8B-B14F-4D97-AF65-F5344CB8AC3E}">
        <p14:creationId xmlns:p14="http://schemas.microsoft.com/office/powerpoint/2010/main" val="3398219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7FBE-F40A-3FA4-A916-2663555B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CAE31-5B66-E001-767C-80227AE46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CB306-63D4-A9BE-C1E7-288AD1DC7C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93ACD6-D3AF-6B7E-1DE7-642B19513AE9}"/>
              </a:ext>
            </a:extLst>
          </p:cNvPr>
          <p:cNvSpPr>
            <a:spLocks noGrp="1"/>
          </p:cNvSpPr>
          <p:nvPr>
            <p:ph type="sldNum" sz="quarter" idx="10"/>
          </p:nvPr>
        </p:nvSpPr>
        <p:spPr/>
        <p:txBody>
          <a:bodyPr/>
          <a:lstStyle/>
          <a:p>
            <a:pPr>
              <a:defRPr/>
            </a:pPr>
            <a:fld id="{65E4430F-96D5-4F5E-AF15-BF5EB88FA4B6}" type="slidenum">
              <a:rPr lang="en-US" smtClean="0"/>
              <a:pPr>
                <a:defRPr/>
              </a:pPr>
              <a:t>17</a:t>
            </a:fld>
            <a:endParaRPr lang="en-US"/>
          </a:p>
        </p:txBody>
      </p:sp>
    </p:spTree>
    <p:extLst>
      <p:ext uri="{BB962C8B-B14F-4D97-AF65-F5344CB8AC3E}">
        <p14:creationId xmlns:p14="http://schemas.microsoft.com/office/powerpoint/2010/main" val="3557117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8FA8-3504-037F-1CC6-D5BDD0664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EBF58-2AFA-4B1E-8B4D-6243EB1F5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BF5C7-137A-F4AC-B577-C2064B8672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E452D3-4B5A-7627-4F75-45551CC6B9E3}"/>
              </a:ext>
            </a:extLst>
          </p:cNvPr>
          <p:cNvSpPr>
            <a:spLocks noGrp="1"/>
          </p:cNvSpPr>
          <p:nvPr>
            <p:ph type="sldNum" sz="quarter" idx="10"/>
          </p:nvPr>
        </p:nvSpPr>
        <p:spPr/>
        <p:txBody>
          <a:bodyPr/>
          <a:lstStyle/>
          <a:p>
            <a:pPr>
              <a:defRPr/>
            </a:pPr>
            <a:fld id="{65E4430F-96D5-4F5E-AF15-BF5EB88FA4B6}" type="slidenum">
              <a:rPr lang="en-US" smtClean="0"/>
              <a:pPr>
                <a:defRPr/>
              </a:pPr>
              <a:t>18</a:t>
            </a:fld>
            <a:endParaRPr lang="en-US"/>
          </a:p>
        </p:txBody>
      </p:sp>
    </p:spTree>
    <p:extLst>
      <p:ext uri="{BB962C8B-B14F-4D97-AF65-F5344CB8AC3E}">
        <p14:creationId xmlns:p14="http://schemas.microsoft.com/office/powerpoint/2010/main" val="1813134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5BE97-A7AC-D984-281B-13174DDA7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A95C4-2EE1-36E8-D767-EB93F4AA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7C58B-5F10-93E1-B54B-56BDFA94E7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7EB172-FE10-5396-0308-C9C05A508BC5}"/>
              </a:ext>
            </a:extLst>
          </p:cNvPr>
          <p:cNvSpPr>
            <a:spLocks noGrp="1"/>
          </p:cNvSpPr>
          <p:nvPr>
            <p:ph type="sldNum" sz="quarter" idx="10"/>
          </p:nvPr>
        </p:nvSpPr>
        <p:spPr/>
        <p:txBody>
          <a:bodyPr/>
          <a:lstStyle/>
          <a:p>
            <a:pPr>
              <a:defRPr/>
            </a:pPr>
            <a:fld id="{65E4430F-96D5-4F5E-AF15-BF5EB88FA4B6}" type="slidenum">
              <a:rPr lang="en-US" smtClean="0"/>
              <a:pPr>
                <a:defRPr/>
              </a:pPr>
              <a:t>19</a:t>
            </a:fld>
            <a:endParaRPr lang="en-US"/>
          </a:p>
        </p:txBody>
      </p:sp>
    </p:spTree>
    <p:extLst>
      <p:ext uri="{BB962C8B-B14F-4D97-AF65-F5344CB8AC3E}">
        <p14:creationId xmlns:p14="http://schemas.microsoft.com/office/powerpoint/2010/main" val="51234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251F-1A13-5247-82F7-2FAD17470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74136-DBA7-1E43-833E-AF6F09E26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F9ECD-552F-CFDB-3998-84512F609B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F059CD-6939-4DA8-9D7A-BDF02F7D4AA7}"/>
              </a:ext>
            </a:extLst>
          </p:cNvPr>
          <p:cNvSpPr>
            <a:spLocks noGrp="1"/>
          </p:cNvSpPr>
          <p:nvPr>
            <p:ph type="sldNum" sz="quarter" idx="10"/>
          </p:nvPr>
        </p:nvSpPr>
        <p:spPr/>
        <p:txBody>
          <a:bodyPr/>
          <a:lstStyle/>
          <a:p>
            <a:pPr>
              <a:defRPr/>
            </a:pPr>
            <a:fld id="{65E4430F-96D5-4F5E-AF15-BF5EB88FA4B6}" type="slidenum">
              <a:rPr lang="en-US" smtClean="0"/>
              <a:pPr>
                <a:defRPr/>
              </a:pPr>
              <a:t>20</a:t>
            </a:fld>
            <a:endParaRPr lang="en-US"/>
          </a:p>
        </p:txBody>
      </p:sp>
    </p:spTree>
    <p:extLst>
      <p:ext uri="{BB962C8B-B14F-4D97-AF65-F5344CB8AC3E}">
        <p14:creationId xmlns:p14="http://schemas.microsoft.com/office/powerpoint/2010/main" val="4034126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21</a:t>
            </a:fld>
            <a:endParaRPr lang="en-US"/>
          </a:p>
        </p:txBody>
      </p:sp>
    </p:spTree>
    <p:extLst>
      <p:ext uri="{BB962C8B-B14F-4D97-AF65-F5344CB8AC3E}">
        <p14:creationId xmlns:p14="http://schemas.microsoft.com/office/powerpoint/2010/main" val="19235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130426"/>
            <a:ext cx="9179799"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619965" y="3886200"/>
            <a:ext cx="7559834"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539988" y="1600201"/>
            <a:ext cx="9719787"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406901"/>
            <a:ext cx="9179799"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53107" y="2906713"/>
            <a:ext cx="9179799"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39988"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535113"/>
            <a:ext cx="477177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9988" y="2174875"/>
            <a:ext cx="477177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535113"/>
            <a:ext cx="477364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86130" y="2174875"/>
            <a:ext cx="477364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4" name="Text Box 10"/>
          <p:cNvSpPr txBox="1">
            <a:spLocks noChangeArrowheads="1"/>
          </p:cNvSpPr>
          <p:nvPr userDrawn="1"/>
        </p:nvSpPr>
        <p:spPr bwMode="auto">
          <a:xfrm>
            <a:off x="-719"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5"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 - MANIPAL</a:t>
            </a:r>
          </a:p>
        </p:txBody>
      </p:sp>
      <p:sp>
        <p:nvSpPr>
          <p:cNvPr id="6" name="TextBox 5"/>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8" name="TextBox 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1026" name="Picture 2">
            <a:extLst>
              <a:ext uri="{FF2B5EF4-FFF2-40B4-BE49-F238E27FC236}">
                <a16:creationId xmlns:a16="http://schemas.microsoft.com/office/drawing/2014/main" id="{656B400A-18F2-7C2D-EE12-81E8F5C0F6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extLst>
    <p:ext uri="{DCECCB84-F9BA-43D5-87BE-67443E8EF086}">
      <p15:sldGuideLst xmlns:p15="http://schemas.microsoft.com/office/powerpoint/2012/main">
        <p15:guide id="1" orient="horz" pos="2160" userDrawn="1">
          <p15:clr>
            <a:srgbClr val="FBAE40"/>
          </p15:clr>
        </p15:guide>
        <p15:guide id="2" pos="340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8"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539989" y="273050"/>
            <a:ext cx="3553048"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22407" y="273051"/>
            <a:ext cx="60373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39989" y="1435101"/>
            <a:ext cx="355304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68A5FFB0-7D75-7D8F-69AA-06F58721E6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7" name="Text Box 10"/>
          <p:cNvSpPr txBox="1">
            <a:spLocks noChangeArrowheads="1"/>
          </p:cNvSpPr>
          <p:nvPr userDrawn="1"/>
        </p:nvSpPr>
        <p:spPr bwMode="auto">
          <a:xfrm>
            <a:off x="0" y="6543635"/>
            <a:ext cx="10799763" cy="314365"/>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2116829" y="4800600"/>
            <a:ext cx="6479858"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16829" y="612775"/>
            <a:ext cx="647985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16829" y="5367338"/>
            <a:ext cx="647985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8" name="TextBox 17"/>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9" name="TextBox 18"/>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98577047-6146-1D25-9956-92F75CF7F1E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39988" y="1600201"/>
            <a:ext cx="9719787"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D245B9F0-4234-557E-4095-FFFC7BB9111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Vertical Title 1"/>
          <p:cNvSpPr>
            <a:spLocks noGrp="1"/>
          </p:cNvSpPr>
          <p:nvPr>
            <p:ph type="title" orient="vert"/>
          </p:nvPr>
        </p:nvSpPr>
        <p:spPr>
          <a:xfrm>
            <a:off x="7829828" y="274639"/>
            <a:ext cx="2429947"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74639"/>
            <a:ext cx="7109844" cy="5851525"/>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CC8F05B4-5452-D801-AFC2-06E3B2CD2AC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10"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1"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3" name="TextBox 12"/>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4" name="TextBox 13"/>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2" name="Picture 2">
            <a:extLst>
              <a:ext uri="{FF2B5EF4-FFF2-40B4-BE49-F238E27FC236}">
                <a16:creationId xmlns:a16="http://schemas.microsoft.com/office/drawing/2014/main" id="{FE2D58E9-A9D1-B37E-489B-30A70CCA1FB7}"/>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0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4"/>
          <p:cNvSpPr txBox="1">
            <a:spLocks noChangeArrowheads="1"/>
          </p:cNvSpPr>
          <p:nvPr/>
        </p:nvSpPr>
        <p:spPr bwMode="auto">
          <a:xfrm>
            <a:off x="2504281" y="176213"/>
            <a:ext cx="7315200" cy="461962"/>
          </a:xfrm>
          <a:prstGeom prst="rect">
            <a:avLst/>
          </a:prstGeom>
          <a:noFill/>
          <a:ln w="9525">
            <a:noFill/>
            <a:miter lim="800000"/>
            <a:headEnd/>
            <a:tailEnd/>
          </a:ln>
        </p:spPr>
        <p:txBody>
          <a:bodyPr>
            <a:spAutoFit/>
          </a:bodyPr>
          <a:lstStyle/>
          <a:p>
            <a:pPr algn="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MINI PROJECT</a:t>
            </a:r>
          </a:p>
        </p:txBody>
      </p:sp>
      <p:graphicFrame>
        <p:nvGraphicFramePr>
          <p:cNvPr id="2" name="Table 1"/>
          <p:cNvGraphicFramePr>
            <a:graphicFrameLocks noGrp="1"/>
          </p:cNvGraphicFramePr>
          <p:nvPr>
            <p:extLst>
              <p:ext uri="{D42A27DB-BD31-4B8C-83A1-F6EECF244321}">
                <p14:modId xmlns:p14="http://schemas.microsoft.com/office/powerpoint/2010/main" val="3912908741"/>
              </p:ext>
            </p:extLst>
          </p:nvPr>
        </p:nvGraphicFramePr>
        <p:xfrm>
          <a:off x="1151409" y="1484784"/>
          <a:ext cx="8534400" cy="4680520"/>
        </p:xfrm>
        <a:graphic>
          <a:graphicData uri="http://schemas.openxmlformats.org/drawingml/2006/table">
            <a:tbl>
              <a:tblPr/>
              <a:tblGrid>
                <a:gridCol w="1584176">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gridCol w="2125688">
                  <a:extLst>
                    <a:ext uri="{9D8B030D-6E8A-4147-A177-3AD203B41FA5}">
                      <a16:colId xmlns:a16="http://schemas.microsoft.com/office/drawing/2014/main" val="2598869161"/>
                    </a:ext>
                  </a:extLst>
                </a:gridCol>
              </a:tblGrid>
              <a:tr h="1512168">
                <a:tc>
                  <a:txBody>
                    <a:bodyPr/>
                    <a:lstStyle/>
                    <a:p>
                      <a:pPr marL="0" marR="0" algn="ctr">
                        <a:spcBef>
                          <a:spcPts val="310"/>
                        </a:spcBef>
                        <a:spcAft>
                          <a:spcPts val="310"/>
                        </a:spcAft>
                      </a:pPr>
                      <a:r>
                        <a:rPr lang="en-US" sz="1800" b="0" i="0" dirty="0">
                          <a:effectLst/>
                          <a:latin typeface="Times New Roman"/>
                        </a:rPr>
                        <a:t>Reg No</a:t>
                      </a:r>
                      <a:endParaRPr lang="en-US" sz="1800" b="0" i="1" dirty="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Branch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56">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261100610001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ctr">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  Nitin Sri Karthikeya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i="0" dirty="0">
                          <a:latin typeface="Times New Roman" panose="02020603050405020304" pitchFamily="18" charset="0"/>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E. Dhanush Rajkumar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81560"/>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M. B. Usha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774338"/>
                  </a:ext>
                </a:extLst>
              </a:tr>
              <a:tr h="113553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Project</a:t>
                      </a:r>
                      <a:r>
                        <a:rPr lang="en-US" sz="1800" b="0" i="0" baseline="0" dirty="0">
                          <a:effectLst/>
                          <a:latin typeface="Times New Roman" panose="02020603050405020304" pitchFamily="18" charset="0"/>
                          <a:cs typeface="Times New Roman" panose="02020603050405020304" pitchFamily="18" charset="0"/>
                        </a:rPr>
                        <a:t> Title</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just"/>
                      <a:r>
                        <a:rPr lang="en-US" sz="1800" b="0" kern="1200" dirty="0">
                          <a:solidFill>
                            <a:schemeClr val="tx1"/>
                          </a:solidFill>
                          <a:latin typeface="Times New Roman" pitchFamily="18" charset="0"/>
                          <a:ea typeface="+mn-ea"/>
                          <a:cs typeface="Times New Roman" pitchFamily="18" charset="0"/>
                        </a:rPr>
                        <a:t>AI - Based Intrusion Detection System for IoT Networks Using Machine Learning and Deep Learning</a:t>
                      </a:r>
                      <a:endParaRPr lang="en-IN" sz="1800" b="0" kern="12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4"/>
                  </a:ext>
                </a:extLst>
              </a:tr>
              <a:tr h="52064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Guide</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lvl="0" algn="l">
                        <a:spcBef>
                          <a:spcPts val="310"/>
                        </a:spcBef>
                        <a:spcAft>
                          <a:spcPts val="310"/>
                        </a:spcAft>
                        <a:buNone/>
                      </a:pPr>
                      <a:r>
                        <a:rPr lang="en-US" dirty="0" err="1">
                          <a:effectLst/>
                          <a:latin typeface="Times New Roman" panose="02020603050405020304" pitchFamily="18" charset="0"/>
                          <a:cs typeface="Times New Roman" panose="02020603050405020304" pitchFamily="18" charset="0"/>
                        </a:rPr>
                        <a:t>Raghudathesh</a:t>
                      </a:r>
                      <a:r>
                        <a:rPr lang="en-US" dirty="0">
                          <a:effectLst/>
                          <a:latin typeface="Times New Roman" panose="02020603050405020304" pitchFamily="18" charset="0"/>
                          <a:cs typeface="Times New Roman" panose="02020603050405020304" pitchFamily="18" charset="0"/>
                        </a:rPr>
                        <a:t> G 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064177" y="188640"/>
            <a:ext cx="2418656" cy="461962"/>
          </a:xfrm>
          <a:prstGeom prst="rect">
            <a:avLst/>
          </a:prstGeom>
          <a:noFill/>
          <a:ln w="9525">
            <a:noFill/>
            <a:miter lim="800000"/>
            <a:headEnd/>
            <a:tailEnd/>
          </a:ln>
        </p:spPr>
        <p:txBody>
          <a:bodyPr wrap="square" anchor="t">
            <a:spAutoFit/>
          </a:bodyPr>
          <a:lstStyle/>
          <a:p>
            <a:pPr algn="ct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CONTENTS</a:t>
            </a:r>
          </a:p>
        </p:txBody>
      </p:sp>
      <p:sp>
        <p:nvSpPr>
          <p:cNvPr id="3" name="TextBox 2"/>
          <p:cNvSpPr txBox="1"/>
          <p:nvPr/>
        </p:nvSpPr>
        <p:spPr>
          <a:xfrm>
            <a:off x="647353" y="1772816"/>
            <a:ext cx="8839200" cy="4653646"/>
          </a:xfrm>
          <a:prstGeom prst="rect">
            <a:avLst/>
          </a:prstGeom>
          <a:noFill/>
        </p:spPr>
        <p:txBody>
          <a:bodyPr wrap="square" rtlCol="0" anchor="t">
            <a:spAutoFit/>
          </a:bodyPr>
          <a:lstStyle/>
          <a:p>
            <a:pPr marL="342900" indent="-342900">
              <a:lnSpc>
                <a:spcPct val="150000"/>
              </a:lnSpc>
              <a:buFontTx/>
              <a:buAutoNum type="arabicPeriod"/>
            </a:pPr>
            <a:r>
              <a:rPr lang="en-US" sz="2000" dirty="0">
                <a:latin typeface="Times New Roman"/>
                <a:cs typeface="Times New Roman"/>
              </a:rPr>
              <a:t>Introduction</a:t>
            </a:r>
          </a:p>
          <a:p>
            <a:pPr marL="342900" indent="-342900">
              <a:lnSpc>
                <a:spcPct val="150000"/>
              </a:lnSpc>
              <a:buFontTx/>
              <a:buAutoNum type="arabicPeriod"/>
            </a:pPr>
            <a:r>
              <a:rPr lang="en-US" sz="2000" dirty="0">
                <a:latin typeface="Times New Roman"/>
                <a:cs typeface="Times New Roman"/>
              </a:rPr>
              <a:t>Objective</a:t>
            </a:r>
          </a:p>
          <a:p>
            <a:pPr marL="342900" indent="-342900">
              <a:lnSpc>
                <a:spcPct val="150000"/>
              </a:lnSpc>
              <a:buFontTx/>
              <a:buAutoNum type="arabicPeriod"/>
            </a:pPr>
            <a:r>
              <a:rPr lang="en-US" sz="2000" dirty="0">
                <a:latin typeface="Times New Roman"/>
                <a:cs typeface="Times New Roman"/>
              </a:rPr>
              <a:t>Literature Review </a:t>
            </a:r>
          </a:p>
          <a:p>
            <a:pPr marL="342900" indent="-342900">
              <a:lnSpc>
                <a:spcPct val="150000"/>
              </a:lnSpc>
              <a:buFontTx/>
              <a:buAutoNum type="arabicPeriod"/>
            </a:pPr>
            <a:r>
              <a:rPr lang="en-US" sz="2000" dirty="0">
                <a:latin typeface="Times New Roman" panose="02020603050405020304" pitchFamily="18" charset="0"/>
                <a:cs typeface="Times New Roman" panose="02020603050405020304" pitchFamily="18" charset="0"/>
              </a:rPr>
              <a:t>Operational Flow</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Functional Requirements</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Implementation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Work Done</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References</a:t>
            </a:r>
          </a:p>
          <a:p>
            <a:pPr marL="342900" indent="-342900">
              <a:lnSpc>
                <a:spcPct val="150000"/>
              </a:lnSpc>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2797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3C6AE98E-B248-E7D4-28DD-2A472E894206}"/>
              </a:ext>
            </a:extLst>
          </p:cNvPr>
          <p:cNvSpPr txBox="1"/>
          <p:nvPr/>
        </p:nvSpPr>
        <p:spPr>
          <a:xfrm>
            <a:off x="-19997" y="979835"/>
            <a:ext cx="4843814" cy="5016758"/>
          </a:xfrm>
          <a:prstGeom prst="rect">
            <a:avLst/>
          </a:prstGeom>
          <a:noFill/>
        </p:spPr>
        <p:txBody>
          <a:bodyPr wrap="square" rtlCol="0">
            <a:spAutoFit/>
          </a:bodyPr>
          <a:lstStyle/>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Internet of Things (IoT) is a network of interconnected physical devices embedded with sensors, software, and communication technologies that enable them to collect, exchange, and process data over the Internet with minimal human intervention.</a:t>
            </a:r>
          </a:p>
          <a:p>
            <a:pPr marL="285750" indent="-285750" algn="just">
              <a:lnSpc>
                <a:spcPct val="1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IoT has become an integral part of modern applications such as:</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Homes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Cities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Healthcare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Industrial Automation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Agriculture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Transportation </a:t>
            </a:r>
          </a:p>
          <a:p>
            <a:pPr algn="just">
              <a:lnSpc>
                <a:spcPct val="100000"/>
              </a:lnSpc>
            </a:pPr>
            <a:endParaRPr lang="en-US" sz="1600" dirty="0">
              <a:latin typeface="Times New Roman" panose="02020603050405020304" pitchFamily="18" charset="0"/>
              <a:cs typeface="Times New Roman" panose="02020603050405020304" pitchFamily="18" charset="0"/>
            </a:endParaRPr>
          </a:p>
          <a:p>
            <a:pPr algn="just">
              <a:lnSpc>
                <a:spcPct val="100000"/>
              </a:lnSpc>
            </a:pPr>
            <a:r>
              <a:rPr lang="en-US" sz="1600" dirty="0">
                <a:latin typeface="Times New Roman" panose="02020603050405020304" pitchFamily="18" charset="0"/>
                <a:cs typeface="Times New Roman" panose="02020603050405020304" pitchFamily="18" charset="0"/>
              </a:rPr>
              <a:t>As the number of connected devices continues to grow, securing IoT networks has become increasingly important due to the large attack surface exposed to cyber threats.</a:t>
            </a:r>
          </a:p>
        </p:txBody>
      </p:sp>
      <p:pic>
        <p:nvPicPr>
          <p:cNvPr id="13" name="Picture 12">
            <a:extLst>
              <a:ext uri="{FF2B5EF4-FFF2-40B4-BE49-F238E27FC236}">
                <a16:creationId xmlns:a16="http://schemas.microsoft.com/office/drawing/2014/main" id="{88940517-7D73-6D8F-079B-35637A8D3ACE}"/>
              </a:ext>
            </a:extLst>
          </p:cNvPr>
          <p:cNvPicPr>
            <a:picLocks noChangeAspect="1"/>
          </p:cNvPicPr>
          <p:nvPr/>
        </p:nvPicPr>
        <p:blipFill>
          <a:blip r:embed="rId2"/>
          <a:stretch>
            <a:fillRect/>
          </a:stretch>
        </p:blipFill>
        <p:spPr>
          <a:xfrm>
            <a:off x="5183857" y="764704"/>
            <a:ext cx="5401327" cy="5688632"/>
          </a:xfrm>
          <a:prstGeom prst="rect">
            <a:avLst/>
          </a:prstGeom>
        </p:spPr>
      </p:pic>
    </p:spTree>
    <p:extLst>
      <p:ext uri="{BB962C8B-B14F-4D97-AF65-F5344CB8AC3E}">
        <p14:creationId xmlns:p14="http://schemas.microsoft.com/office/powerpoint/2010/main" val="39542458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1F45-620C-4E19-EA5C-A2F642FF83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1C9D99-0C8F-C633-959C-300DD31E4D26}"/>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grpSp>
        <p:nvGrpSpPr>
          <p:cNvPr id="3" name="Group 2">
            <a:extLst>
              <a:ext uri="{FF2B5EF4-FFF2-40B4-BE49-F238E27FC236}">
                <a16:creationId xmlns:a16="http://schemas.microsoft.com/office/drawing/2014/main" id="{D2BB41E1-1D15-9B1D-5B4D-F299B66FF8CF}"/>
              </a:ext>
            </a:extLst>
          </p:cNvPr>
          <p:cNvGrpSpPr/>
          <p:nvPr/>
        </p:nvGrpSpPr>
        <p:grpSpPr>
          <a:xfrm>
            <a:off x="148986" y="1110319"/>
            <a:ext cx="4224946" cy="1220142"/>
            <a:chOff x="457200" y="1401990"/>
            <a:chExt cx="3060700" cy="2476745"/>
          </a:xfrm>
        </p:grpSpPr>
        <p:sp>
          <p:nvSpPr>
            <p:cNvPr id="4" name="Rectangle: Rounded Corners 3">
              <a:extLst>
                <a:ext uri="{FF2B5EF4-FFF2-40B4-BE49-F238E27FC236}">
                  <a16:creationId xmlns:a16="http://schemas.microsoft.com/office/drawing/2014/main" id="{B0E112CD-0E31-E7E0-3769-FBF191CDA0C7}"/>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Physical layer of IoT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Collects data using sensors and RFID devices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Generates raw information </a:t>
              </a:r>
            </a:p>
          </p:txBody>
        </p:sp>
        <p:grpSp>
          <p:nvGrpSpPr>
            <p:cNvPr id="5" name="Group 4">
              <a:extLst>
                <a:ext uri="{FF2B5EF4-FFF2-40B4-BE49-F238E27FC236}">
                  <a16:creationId xmlns:a16="http://schemas.microsoft.com/office/drawing/2014/main" id="{366C3A27-F61B-B5E2-982D-94B2C35E7F26}"/>
                </a:ext>
              </a:extLst>
            </p:cNvPr>
            <p:cNvGrpSpPr/>
            <p:nvPr/>
          </p:nvGrpSpPr>
          <p:grpSpPr>
            <a:xfrm>
              <a:off x="457200" y="1401990"/>
              <a:ext cx="3048000" cy="491732"/>
              <a:chOff x="457200" y="1401990"/>
              <a:chExt cx="3048000" cy="491732"/>
            </a:xfrm>
          </p:grpSpPr>
          <p:sp>
            <p:nvSpPr>
              <p:cNvPr id="6" name="Rectangle: Rounded Corners 5">
                <a:extLst>
                  <a:ext uri="{FF2B5EF4-FFF2-40B4-BE49-F238E27FC236}">
                    <a16:creationId xmlns:a16="http://schemas.microsoft.com/office/drawing/2014/main" id="{7B8CE40C-2F9D-082D-5C4F-9C9C4D8FF08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FAC7EB71-FA4A-BF15-CF2B-EE48B58E84E3}"/>
                  </a:ext>
                </a:extLst>
              </p:cNvPr>
              <p:cNvSpPr txBox="1"/>
              <p:nvPr/>
            </p:nvSpPr>
            <p:spPr>
              <a:xfrm>
                <a:off x="571500" y="1401990"/>
                <a:ext cx="2819400" cy="491732"/>
              </a:xfrm>
              <a:prstGeom prst="roundRect">
                <a:avLst/>
              </a:prstGeom>
              <a:noFill/>
            </p:spPr>
            <p:txBody>
              <a:bodyPr wrap="square" rtlCol="0" anchor="ctr">
                <a:spAutoFit/>
              </a:bodyPr>
              <a:lstStyle/>
              <a:p>
                <a:pPr algn="ctr"/>
                <a:r>
                  <a:rPr lang="en-IN" sz="1600" dirty="0">
                    <a:solidFill>
                      <a:schemeClr val="bg1"/>
                    </a:solidFill>
                    <a:latin typeface="Times New Roman" panose="02020603050405020304" pitchFamily="18" charset="0"/>
                    <a:cs typeface="Times New Roman" panose="02020603050405020304" pitchFamily="18" charset="0"/>
                  </a:rPr>
                  <a:t>Perception Layer</a:t>
                </a:r>
              </a:p>
            </p:txBody>
          </p:sp>
        </p:grpSp>
      </p:grpSp>
      <p:grpSp>
        <p:nvGrpSpPr>
          <p:cNvPr id="8" name="Group 7">
            <a:extLst>
              <a:ext uri="{FF2B5EF4-FFF2-40B4-BE49-F238E27FC236}">
                <a16:creationId xmlns:a16="http://schemas.microsoft.com/office/drawing/2014/main" id="{85ABACE0-F681-7FC9-68B1-D532BDF78698}"/>
              </a:ext>
            </a:extLst>
          </p:cNvPr>
          <p:cNvGrpSpPr/>
          <p:nvPr/>
        </p:nvGrpSpPr>
        <p:grpSpPr>
          <a:xfrm>
            <a:off x="143297" y="2571312"/>
            <a:ext cx="4248472" cy="1246785"/>
            <a:chOff x="457200" y="1420927"/>
            <a:chExt cx="3060700" cy="2457808"/>
          </a:xfrm>
        </p:grpSpPr>
        <p:sp>
          <p:nvSpPr>
            <p:cNvPr id="9" name="Rectangle: Rounded Corners 8">
              <a:extLst>
                <a:ext uri="{FF2B5EF4-FFF2-40B4-BE49-F238E27FC236}">
                  <a16:creationId xmlns:a16="http://schemas.microsoft.com/office/drawing/2014/main" id="{9924847D-3A81-605D-A2B0-D4C77B28C28C}"/>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Transfers data between devices and servers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Uses communication technologies such as Wi-Fi, Bluetooth, ZigBee, and 5G</a:t>
              </a:r>
            </a:p>
          </p:txBody>
        </p:sp>
        <p:grpSp>
          <p:nvGrpSpPr>
            <p:cNvPr id="10" name="Group 9">
              <a:extLst>
                <a:ext uri="{FF2B5EF4-FFF2-40B4-BE49-F238E27FC236}">
                  <a16:creationId xmlns:a16="http://schemas.microsoft.com/office/drawing/2014/main" id="{80B84963-C78E-CE48-2551-FCF4C2881554}"/>
                </a:ext>
              </a:extLst>
            </p:cNvPr>
            <p:cNvGrpSpPr/>
            <p:nvPr/>
          </p:nvGrpSpPr>
          <p:grpSpPr>
            <a:xfrm>
              <a:off x="457200" y="1420927"/>
              <a:ext cx="3048000" cy="459960"/>
              <a:chOff x="457200" y="1420927"/>
              <a:chExt cx="3048000" cy="459960"/>
            </a:xfrm>
          </p:grpSpPr>
          <p:sp>
            <p:nvSpPr>
              <p:cNvPr id="12" name="Rectangle: Rounded Corners 11">
                <a:extLst>
                  <a:ext uri="{FF2B5EF4-FFF2-40B4-BE49-F238E27FC236}">
                    <a16:creationId xmlns:a16="http://schemas.microsoft.com/office/drawing/2014/main" id="{71C31A09-3AAF-69BB-0A8D-7F2D5933030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2F7F184-3610-B330-A707-3FF95508DA12}"/>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Network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grpSp>
        <p:nvGrpSpPr>
          <p:cNvPr id="15" name="Group 14">
            <a:extLst>
              <a:ext uri="{FF2B5EF4-FFF2-40B4-BE49-F238E27FC236}">
                <a16:creationId xmlns:a16="http://schemas.microsoft.com/office/drawing/2014/main" id="{B35E13C7-155F-FC96-1B3B-0033DA273A6E}"/>
              </a:ext>
            </a:extLst>
          </p:cNvPr>
          <p:cNvGrpSpPr/>
          <p:nvPr/>
        </p:nvGrpSpPr>
        <p:grpSpPr>
          <a:xfrm>
            <a:off x="143297" y="4293096"/>
            <a:ext cx="4248472" cy="1224136"/>
            <a:chOff x="457200" y="1420927"/>
            <a:chExt cx="3060700" cy="2457808"/>
          </a:xfrm>
        </p:grpSpPr>
        <p:sp>
          <p:nvSpPr>
            <p:cNvPr id="16" name="Rectangle: Rounded Corners 15">
              <a:extLst>
                <a:ext uri="{FF2B5EF4-FFF2-40B4-BE49-F238E27FC236}">
                  <a16:creationId xmlns:a16="http://schemas.microsoft.com/office/drawing/2014/main" id="{E1597093-10E4-91AF-9FA6-4BC5AB01D49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Delivers services to end users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Examples include healthcare, smart cities, agriculture, and industrial automation </a:t>
              </a:r>
            </a:p>
          </p:txBody>
        </p:sp>
        <p:grpSp>
          <p:nvGrpSpPr>
            <p:cNvPr id="17" name="Group 16">
              <a:extLst>
                <a:ext uri="{FF2B5EF4-FFF2-40B4-BE49-F238E27FC236}">
                  <a16:creationId xmlns:a16="http://schemas.microsoft.com/office/drawing/2014/main" id="{989A9056-52C2-0EB7-326C-EADCC3BD95B3}"/>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9035455D-DFF3-51AD-4A72-A8F2702A70E2}"/>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536C933-B8A8-57DB-8D84-A06564D02864}"/>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Application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pic>
        <p:nvPicPr>
          <p:cNvPr id="21" name="Picture 20">
            <a:extLst>
              <a:ext uri="{FF2B5EF4-FFF2-40B4-BE49-F238E27FC236}">
                <a16:creationId xmlns:a16="http://schemas.microsoft.com/office/drawing/2014/main" id="{55858D98-DCFD-90B2-2B01-E43E519CDFDC}"/>
              </a:ext>
            </a:extLst>
          </p:cNvPr>
          <p:cNvPicPr>
            <a:picLocks noChangeAspect="1"/>
          </p:cNvPicPr>
          <p:nvPr/>
        </p:nvPicPr>
        <p:blipFill>
          <a:blip r:embed="rId2"/>
          <a:stretch>
            <a:fillRect/>
          </a:stretch>
        </p:blipFill>
        <p:spPr>
          <a:xfrm>
            <a:off x="5244536" y="836712"/>
            <a:ext cx="4464495" cy="4877461"/>
          </a:xfrm>
          <a:prstGeom prst="rect">
            <a:avLst/>
          </a:prstGeom>
        </p:spPr>
      </p:pic>
      <p:sp>
        <p:nvSpPr>
          <p:cNvPr id="20" name="Rectangle: Rounded Corners 19">
            <a:extLst>
              <a:ext uri="{FF2B5EF4-FFF2-40B4-BE49-F238E27FC236}">
                <a16:creationId xmlns:a16="http://schemas.microsoft.com/office/drawing/2014/main" id="{5F74C15E-9380-87C4-40E5-21D90615EFEF}"/>
              </a:ext>
            </a:extLst>
          </p:cNvPr>
          <p:cNvSpPr/>
          <p:nvPr/>
        </p:nvSpPr>
        <p:spPr>
          <a:xfrm>
            <a:off x="143297" y="5900581"/>
            <a:ext cx="10225136" cy="588298"/>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8514CC6-F499-5892-C530-BA1699C0799C}"/>
              </a:ext>
            </a:extLst>
          </p:cNvPr>
          <p:cNvSpPr txBox="1"/>
          <p:nvPr/>
        </p:nvSpPr>
        <p:spPr>
          <a:xfrm>
            <a:off x="102094" y="5841893"/>
            <a:ext cx="1025726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Since all communication passes through the network layer, attackers often target IoT traffic, making intrusion detection essential.</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62941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B555-9451-6F70-802B-F57D4FAD85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E8A8E8-042E-58DE-2945-2D83CAB9A64D}"/>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22" name="TextBox 21">
            <a:extLst>
              <a:ext uri="{FF2B5EF4-FFF2-40B4-BE49-F238E27FC236}">
                <a16:creationId xmlns:a16="http://schemas.microsoft.com/office/drawing/2014/main" id="{A43A8DEC-C695-65AE-AB9F-7F1B4AC1772F}"/>
              </a:ext>
            </a:extLst>
          </p:cNvPr>
          <p:cNvSpPr txBox="1"/>
          <p:nvPr/>
        </p:nvSpPr>
        <p:spPr>
          <a:xfrm>
            <a:off x="287313" y="836712"/>
            <a:ext cx="4104456" cy="369332"/>
          </a:xfrm>
          <a:prstGeom prst="rect">
            <a:avLst/>
          </a:prstGeom>
          <a:noFill/>
        </p:spPr>
        <p:txBody>
          <a:bodyPr wrap="square" rtlCol="0">
            <a:spAutoFit/>
          </a:bodyPr>
          <a:lstStyle/>
          <a:p>
            <a:r>
              <a:rPr lang="en-IN" b="1" dirty="0">
                <a:solidFill>
                  <a:srgbClr val="FF9900"/>
                </a:solidFill>
                <a:latin typeface="Times New Roman" panose="02020603050405020304" pitchFamily="18" charset="0"/>
                <a:cs typeface="Times New Roman" panose="02020603050405020304" pitchFamily="18" charset="0"/>
              </a:rPr>
              <a:t>INTRUSION  DETECTION SYSTEM</a:t>
            </a:r>
          </a:p>
        </p:txBody>
      </p:sp>
      <p:graphicFrame>
        <p:nvGraphicFramePr>
          <p:cNvPr id="23" name="Table 22">
            <a:extLst>
              <a:ext uri="{FF2B5EF4-FFF2-40B4-BE49-F238E27FC236}">
                <a16:creationId xmlns:a16="http://schemas.microsoft.com/office/drawing/2014/main" id="{9C1D1E55-9B94-826F-A2E6-083C33C3ACF1}"/>
              </a:ext>
            </a:extLst>
          </p:cNvPr>
          <p:cNvGraphicFramePr>
            <a:graphicFrameLocks noGrp="1"/>
          </p:cNvGraphicFramePr>
          <p:nvPr>
            <p:extLst>
              <p:ext uri="{D42A27DB-BD31-4B8C-83A1-F6EECF244321}">
                <p14:modId xmlns:p14="http://schemas.microsoft.com/office/powerpoint/2010/main" val="1345758263"/>
              </p:ext>
            </p:extLst>
          </p:nvPr>
        </p:nvGraphicFramePr>
        <p:xfrm>
          <a:off x="824642" y="1206044"/>
          <a:ext cx="9150477" cy="2743200"/>
        </p:xfrm>
        <a:graphic>
          <a:graphicData uri="http://schemas.openxmlformats.org/drawingml/2006/table">
            <a:tbl>
              <a:tblPr/>
              <a:tblGrid>
                <a:gridCol w="4358005">
                  <a:extLst>
                    <a:ext uri="{9D8B030D-6E8A-4147-A177-3AD203B41FA5}">
                      <a16:colId xmlns:a16="http://schemas.microsoft.com/office/drawing/2014/main" val="2707713803"/>
                    </a:ext>
                  </a:extLst>
                </a:gridCol>
                <a:gridCol w="4792472">
                  <a:extLst>
                    <a:ext uri="{9D8B030D-6E8A-4147-A177-3AD203B41FA5}">
                      <a16:colId xmlns:a16="http://schemas.microsoft.com/office/drawing/2014/main" val="2295252238"/>
                    </a:ext>
                  </a:extLst>
                </a:gridCol>
              </a:tblGrid>
              <a:tr h="365760">
                <a:tc>
                  <a:txBody>
                    <a:bodyPr/>
                    <a:lstStyle/>
                    <a:p>
                      <a:pPr>
                        <a:buNone/>
                      </a:pPr>
                      <a:r>
                        <a:rPr lang="en-IN" sz="1600" b="1" dirty="0">
                          <a:latin typeface="Times New Roman" panose="02020603050405020304" pitchFamily="18" charset="0"/>
                          <a:cs typeface="Times New Roman" panose="02020603050405020304" pitchFamily="18" charset="0"/>
                        </a:rPr>
                        <a:t>Signature-Based IDS</a:t>
                      </a:r>
                    </a:p>
                  </a:txBody>
                  <a:tcPr anchor="ctr">
                    <a:lnB w="12700" cap="flat" cmpd="sng" algn="ctr">
                      <a:solidFill>
                        <a:schemeClr val="tx1"/>
                      </a:solidFill>
                      <a:prstDash val="solid"/>
                      <a:round/>
                      <a:headEnd type="none" w="med" len="med"/>
                      <a:tailEnd type="none" w="med" len="med"/>
                    </a:lnB>
                  </a:tcPr>
                </a:tc>
                <a:tc>
                  <a:txBody>
                    <a:bodyPr/>
                    <a:lstStyle/>
                    <a:p>
                      <a:pPr>
                        <a:buNone/>
                      </a:pPr>
                      <a:r>
                        <a:rPr lang="en-IN" sz="1600" b="1" dirty="0">
                          <a:latin typeface="Times New Roman" panose="02020603050405020304" pitchFamily="18" charset="0"/>
                          <a:cs typeface="Times New Roman" panose="02020603050405020304" pitchFamily="18" charset="0"/>
                        </a:rPr>
                        <a:t>Rule-Based IDS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3128125"/>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Detects known attacks using predefined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Detects attacks using manually defined security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905379"/>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Highly effective for previously identified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Effective for policy violations and predefined </a:t>
                      </a:r>
                      <a:r>
                        <a:rPr lang="en-IN" sz="1600" dirty="0" err="1">
                          <a:latin typeface="Times New Roman" panose="02020603050405020304" pitchFamily="18" charset="0"/>
                          <a:cs typeface="Times New Roman" panose="02020603050405020304" pitchFamily="18" charset="0"/>
                        </a:rPr>
                        <a:t>behaviors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6253510"/>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Requires frequent signature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Requires continuous rule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206933"/>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Cannot detect zero-day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Difficult to adapt to new attack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793784"/>
                  </a:ext>
                </a:extLst>
              </a:tr>
              <a:tr h="365760">
                <a:tc>
                  <a:txBody>
                    <a:bodyPr/>
                    <a:lstStyle/>
                    <a:p>
                      <a:pPr algn="l">
                        <a:buNone/>
                      </a:pPr>
                      <a:r>
                        <a:rPr lang="en-IN" sz="1600">
                          <a:latin typeface="Times New Roman" panose="02020603050405020304" pitchFamily="18" charset="0"/>
                          <a:cs typeface="Times New Roman" panose="02020603050405020304" pitchFamily="18" charset="0"/>
                        </a:rPr>
                        <a:t>Limited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High administrative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9740"/>
                  </a:ext>
                </a:extLst>
              </a:tr>
            </a:tbl>
          </a:graphicData>
        </a:graphic>
      </p:graphicFrame>
      <p:pic>
        <p:nvPicPr>
          <p:cNvPr id="27" name="Picture 26">
            <a:extLst>
              <a:ext uri="{FF2B5EF4-FFF2-40B4-BE49-F238E27FC236}">
                <a16:creationId xmlns:a16="http://schemas.microsoft.com/office/drawing/2014/main" id="{262D22F7-32F7-F2A3-8488-C66E1E814A1E}"/>
              </a:ext>
            </a:extLst>
          </p:cNvPr>
          <p:cNvPicPr>
            <a:picLocks noChangeAspect="1"/>
          </p:cNvPicPr>
          <p:nvPr/>
        </p:nvPicPr>
        <p:blipFill>
          <a:blip r:embed="rId2"/>
          <a:srcRect l="1326" t="28653" r="1994" b="32210"/>
          <a:stretch>
            <a:fillRect/>
          </a:stretch>
        </p:blipFill>
        <p:spPr>
          <a:xfrm>
            <a:off x="971389" y="4218692"/>
            <a:ext cx="8856984" cy="2015727"/>
          </a:xfrm>
          <a:prstGeom prst="rect">
            <a:avLst/>
          </a:prstGeom>
        </p:spPr>
      </p:pic>
    </p:spTree>
    <p:extLst>
      <p:ext uri="{BB962C8B-B14F-4D97-AF65-F5344CB8AC3E}">
        <p14:creationId xmlns:p14="http://schemas.microsoft.com/office/powerpoint/2010/main" val="186395975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48153"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OBJECTIVE</a:t>
            </a:r>
          </a:p>
        </p:txBody>
      </p:sp>
      <p:sp>
        <p:nvSpPr>
          <p:cNvPr id="9" name="TextBox 8">
            <a:extLst>
              <a:ext uri="{FF2B5EF4-FFF2-40B4-BE49-F238E27FC236}">
                <a16:creationId xmlns:a16="http://schemas.microsoft.com/office/drawing/2014/main" id="{EE187B90-23F6-4416-A139-0D1D53F1CBCB}"/>
              </a:ext>
            </a:extLst>
          </p:cNvPr>
          <p:cNvSpPr txBox="1"/>
          <p:nvPr/>
        </p:nvSpPr>
        <p:spPr>
          <a:xfrm>
            <a:off x="647353" y="1772816"/>
            <a:ext cx="9433048" cy="3366563"/>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collect and preprocess an IoT network traffic dataset containing both normal and malicious traffic, including different attack types for binary and multi-class classification.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and compare Machine Learning and Deep Learning models for accurately detecting malicious IoT network traffic.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the developed intrusion detection models using metrics such as Accuracy, Precision, Recall, F1-Score, ROC-AUC, and False Alarm Rate and develop a visual dashboard to monitor and present their performance.</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70948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CA1B2369-655C-8FCE-89EA-A8DE475E6785}"/>
              </a:ext>
            </a:extLst>
          </p:cNvPr>
          <p:cNvGraphicFramePr>
            <a:graphicFrameLocks noGrp="1"/>
          </p:cNvGraphicFramePr>
          <p:nvPr>
            <p:extLst>
              <p:ext uri="{D42A27DB-BD31-4B8C-83A1-F6EECF244321}">
                <p14:modId xmlns:p14="http://schemas.microsoft.com/office/powerpoint/2010/main" val="1054556859"/>
              </p:ext>
            </p:extLst>
          </p:nvPr>
        </p:nvGraphicFramePr>
        <p:xfrm>
          <a:off x="310995" y="836713"/>
          <a:ext cx="10057435" cy="5612728"/>
        </p:xfrm>
        <a:graphic>
          <a:graphicData uri="http://schemas.openxmlformats.org/drawingml/2006/table">
            <a:tbl>
              <a:tblPr/>
              <a:tblGrid>
                <a:gridCol w="2011487">
                  <a:extLst>
                    <a:ext uri="{9D8B030D-6E8A-4147-A177-3AD203B41FA5}">
                      <a16:colId xmlns:a16="http://schemas.microsoft.com/office/drawing/2014/main" val="13727708"/>
                    </a:ext>
                  </a:extLst>
                </a:gridCol>
                <a:gridCol w="2011487">
                  <a:extLst>
                    <a:ext uri="{9D8B030D-6E8A-4147-A177-3AD203B41FA5}">
                      <a16:colId xmlns:a16="http://schemas.microsoft.com/office/drawing/2014/main" val="148902432"/>
                    </a:ext>
                  </a:extLst>
                </a:gridCol>
                <a:gridCol w="2011487">
                  <a:extLst>
                    <a:ext uri="{9D8B030D-6E8A-4147-A177-3AD203B41FA5}">
                      <a16:colId xmlns:a16="http://schemas.microsoft.com/office/drawing/2014/main" val="1157971902"/>
                    </a:ext>
                  </a:extLst>
                </a:gridCol>
                <a:gridCol w="2011487">
                  <a:extLst>
                    <a:ext uri="{9D8B030D-6E8A-4147-A177-3AD203B41FA5}">
                      <a16:colId xmlns:a16="http://schemas.microsoft.com/office/drawing/2014/main" val="2677926079"/>
                    </a:ext>
                  </a:extLst>
                </a:gridCol>
                <a:gridCol w="2011487">
                  <a:extLst>
                    <a:ext uri="{9D8B030D-6E8A-4147-A177-3AD203B41FA5}">
                      <a16:colId xmlns:a16="http://schemas.microsoft.com/office/drawing/2014/main" val="2817727732"/>
                    </a:ext>
                  </a:extLst>
                </a:gridCol>
              </a:tblGrid>
              <a:tr h="247380">
                <a:tc>
                  <a:txBody>
                    <a:bodyPr/>
                    <a:lstStyle/>
                    <a:p>
                      <a:pPr>
                        <a:buNone/>
                      </a:pPr>
                      <a:r>
                        <a:rPr lang="en-IN" sz="1500" b="1" dirty="0"/>
                        <a:t>Paper Title</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Authors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Methodology</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Key Findings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Limitations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extLst>
                  <a:ext uri="{0D108BD9-81ED-4DB2-BD59-A6C34878D82A}">
                    <a16:rowId xmlns:a16="http://schemas.microsoft.com/office/drawing/2014/main" val="3822210368"/>
                  </a:ext>
                </a:extLst>
              </a:tr>
              <a:tr h="1544298">
                <a:tc>
                  <a:txBody>
                    <a:bodyPr/>
                    <a:lstStyle/>
                    <a:p>
                      <a:pPr algn="l">
                        <a:buNone/>
                      </a:pPr>
                      <a:r>
                        <a:rPr lang="en-IN" sz="1500" dirty="0">
                          <a:latin typeface="Times New Roman" panose="02020603050405020304" pitchFamily="18" charset="0"/>
                          <a:cs typeface="Times New Roman" panose="02020603050405020304" pitchFamily="18" charset="0"/>
                        </a:rPr>
                        <a:t>Anomaly-based Intrusion Detection System for IoT Application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Mansi Bhavsar, Kaushik Roy, John Kelly, and </a:t>
                      </a:r>
                      <a:r>
                        <a:rPr lang="en-IN" sz="1500" dirty="0" err="1">
                          <a:latin typeface="Times New Roman" panose="02020603050405020304" pitchFamily="18" charset="0"/>
                          <a:cs typeface="Times New Roman" panose="02020603050405020304" pitchFamily="18" charset="0"/>
                        </a:rPr>
                        <a:t>Odeyomi</a:t>
                      </a:r>
                      <a:r>
                        <a:rPr lang="en-IN" sz="1500" dirty="0">
                          <a:latin typeface="Times New Roman" panose="02020603050405020304" pitchFamily="18" charset="0"/>
                          <a:cs typeface="Times New Roman" panose="02020603050405020304" pitchFamily="18" charset="0"/>
                        </a:rPr>
                        <a:t> Olusola</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an anomaly-based IDS using machine learning techniques with feature selection to identify malicious IoT network traffic.</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Demonstrated effective detection of both known and unknown attacks with reduced false alarms compared to signature-based IDS.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Focused mainly on anomaly-based detection and did not compare multiple ML and DL models on a large-scale IoT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682330"/>
                  </a:ext>
                </a:extLst>
              </a:tr>
              <a:tr h="1795959">
                <a:tc>
                  <a:txBody>
                    <a:bodyPr/>
                    <a:lstStyle/>
                    <a:p>
                      <a:pPr algn="l">
                        <a:buNone/>
                      </a:pPr>
                      <a:r>
                        <a:rPr lang="en-IN" sz="1500">
                          <a:latin typeface="Times New Roman" panose="02020603050405020304" pitchFamily="18" charset="0"/>
                          <a:cs typeface="Times New Roman" panose="02020603050405020304" pitchFamily="18" charset="0"/>
                        </a:rPr>
                        <a:t>A New DDoS Attacks Intrusion Detection Model Based on Deep Learning for Cybersecurity</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 Akgun, S. </a:t>
                      </a:r>
                      <a:r>
                        <a:rPr lang="en-IN" sz="1500" dirty="0" err="1">
                          <a:latin typeface="Times New Roman" panose="02020603050405020304" pitchFamily="18" charset="0"/>
                          <a:cs typeface="Times New Roman" panose="02020603050405020304" pitchFamily="18" charset="0"/>
                        </a:rPr>
                        <a:t>Hizal</a:t>
                      </a:r>
                      <a:r>
                        <a:rPr lang="en-IN" sz="1500" dirty="0">
                          <a:latin typeface="Times New Roman" panose="02020603050405020304" pitchFamily="18" charset="0"/>
                          <a:cs typeface="Times New Roman" panose="02020603050405020304" pitchFamily="18" charset="0"/>
                        </a:rPr>
                        <a:t>, and U. Cavusoglu</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Developed a deep learning-based intrusion detection model for identifying DDoS attacks in cybersecurity environments.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high detection accuracy by automatically learning complex traffic patterns, showing the effectiveness of deep learning for DDoS detection.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Primarily focused on DDoS attacks and did not evaluate multiple learning algorithms or broader IoT attack categories.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6929242"/>
                  </a:ext>
                </a:extLst>
              </a:tr>
              <a:tr h="1956978">
                <a:tc>
                  <a:txBody>
                    <a:bodyPr/>
                    <a:lstStyle/>
                    <a:p>
                      <a:pPr algn="l">
                        <a:buNone/>
                      </a:pPr>
                      <a:r>
                        <a:rPr lang="en-IN" sz="1500">
                          <a:latin typeface="Times New Roman" panose="02020603050405020304" pitchFamily="18" charset="0"/>
                          <a:cs typeface="Times New Roman" panose="02020603050405020304" pitchFamily="18" charset="0"/>
                        </a:rPr>
                        <a:t>A Multi-Class Classification Model on CICIoT2023 using Kolmogorov–Arnold Networks and Tree Ensembles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S. Almahaqeri, M. H. Almourish, A. A. Nasser, A. S. A. Alghawli, A. A. K. Elsayed, and A. N. Alhejoj</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 multi-class intrusion detection framework using Kolmogorov–Arnold Networks (KAN) with Tree Ensemble models on the CICIoT2023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excellent multi-class classification performance by combining advanced neural architectures with ensemble learning.</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Focused on KAN and tree ensembles without comparing conventional deep learning models such as CNN and ANN under a unified framework.</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235690"/>
                  </a:ext>
                </a:extLst>
              </a:tr>
            </a:tbl>
          </a:graphicData>
        </a:graphic>
      </p:graphicFrame>
    </p:spTree>
    <p:extLst>
      <p:ext uri="{BB962C8B-B14F-4D97-AF65-F5344CB8AC3E}">
        <p14:creationId xmlns:p14="http://schemas.microsoft.com/office/powerpoint/2010/main" val="42896018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OPERATIONAL FLOW</a:t>
            </a:r>
          </a:p>
        </p:txBody>
      </p:sp>
      <p:pic>
        <p:nvPicPr>
          <p:cNvPr id="5" name="Picture 4">
            <a:extLst>
              <a:ext uri="{FF2B5EF4-FFF2-40B4-BE49-F238E27FC236}">
                <a16:creationId xmlns:a16="http://schemas.microsoft.com/office/drawing/2014/main" id="{45DEB882-B029-F07B-F5A3-689227523FD3}"/>
              </a:ext>
            </a:extLst>
          </p:cNvPr>
          <p:cNvPicPr>
            <a:picLocks noChangeAspect="1"/>
          </p:cNvPicPr>
          <p:nvPr/>
        </p:nvPicPr>
        <p:blipFill>
          <a:blip r:embed="rId2"/>
          <a:srcRect l="10885" r="10407"/>
          <a:stretch>
            <a:fillRect/>
          </a:stretch>
        </p:blipFill>
        <p:spPr>
          <a:xfrm>
            <a:off x="0" y="985486"/>
            <a:ext cx="5486626" cy="4647272"/>
          </a:xfrm>
          <a:prstGeom prst="rect">
            <a:avLst/>
          </a:prstGeom>
        </p:spPr>
      </p:pic>
      <p:graphicFrame>
        <p:nvGraphicFramePr>
          <p:cNvPr id="6" name="Table 5">
            <a:extLst>
              <a:ext uri="{FF2B5EF4-FFF2-40B4-BE49-F238E27FC236}">
                <a16:creationId xmlns:a16="http://schemas.microsoft.com/office/drawing/2014/main" id="{6FE07962-0C7A-28A8-6149-0E8650E1CC71}"/>
              </a:ext>
            </a:extLst>
          </p:cNvPr>
          <p:cNvGraphicFramePr>
            <a:graphicFrameLocks noGrp="1"/>
          </p:cNvGraphicFramePr>
          <p:nvPr>
            <p:extLst>
              <p:ext uri="{D42A27DB-BD31-4B8C-83A1-F6EECF244321}">
                <p14:modId xmlns:p14="http://schemas.microsoft.com/office/powerpoint/2010/main" val="4026218520"/>
              </p:ext>
            </p:extLst>
          </p:nvPr>
        </p:nvGraphicFramePr>
        <p:xfrm>
          <a:off x="5486626" y="836712"/>
          <a:ext cx="5291690" cy="5688634"/>
        </p:xfrm>
        <a:graphic>
          <a:graphicData uri="http://schemas.openxmlformats.org/drawingml/2006/table">
            <a:tbl>
              <a:tblPr/>
              <a:tblGrid>
                <a:gridCol w="1938607">
                  <a:extLst>
                    <a:ext uri="{9D8B030D-6E8A-4147-A177-3AD203B41FA5}">
                      <a16:colId xmlns:a16="http://schemas.microsoft.com/office/drawing/2014/main" val="2042213457"/>
                    </a:ext>
                  </a:extLst>
                </a:gridCol>
                <a:gridCol w="3353083">
                  <a:extLst>
                    <a:ext uri="{9D8B030D-6E8A-4147-A177-3AD203B41FA5}">
                      <a16:colId xmlns:a16="http://schemas.microsoft.com/office/drawing/2014/main" val="1643462031"/>
                    </a:ext>
                  </a:extLst>
                </a:gridCol>
              </a:tblGrid>
              <a:tr h="498421">
                <a:tc>
                  <a:txBody>
                    <a:bodyPr/>
                    <a:lstStyle/>
                    <a:p>
                      <a:pPr algn="ctr">
                        <a:buNone/>
                      </a:pPr>
                      <a:r>
                        <a:rPr lang="en-IN" sz="1600" b="1" dirty="0"/>
                        <a:t>Stage</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t>Description</a:t>
                      </a:r>
                      <a:endParaRPr lang="en-IN"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6498800"/>
                  </a:ext>
                </a:extLst>
              </a:tr>
              <a:tr h="872235">
                <a:tc>
                  <a:txBody>
                    <a:bodyPr/>
                    <a:lstStyle/>
                    <a:p>
                      <a:pPr algn="l">
                        <a:buNone/>
                      </a:pPr>
                      <a:r>
                        <a:rPr lang="en-IN" sz="1600" dirty="0"/>
                        <a:t>Dataset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CICIoT2023 binary dataset (Attack vs Benign)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75276235"/>
                  </a:ext>
                </a:extLst>
              </a:tr>
              <a:tr h="1144847">
                <a:tc>
                  <a:txBody>
                    <a:bodyPr/>
                    <a:lstStyle/>
                    <a:p>
                      <a:pPr algn="l">
                        <a:buNone/>
                      </a:pPr>
                      <a:r>
                        <a:rPr lang="en-IN" sz="1600" dirty="0"/>
                        <a:t>Preprocessing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Missing value handling, duplicate removal, data cleaning</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06797113"/>
                  </a:ext>
                </a:extLst>
              </a:tr>
              <a:tr h="805633">
                <a:tc>
                  <a:txBody>
                    <a:bodyPr/>
                    <a:lstStyle/>
                    <a:p>
                      <a:pPr algn="l">
                        <a:buNone/>
                      </a:pPr>
                      <a:r>
                        <a:rPr lang="en-IN" sz="1600" dirty="0"/>
                        <a:t>Feature Selection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Pearson Correlation Coefficient (PCC)</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21760454"/>
                  </a:ext>
                </a:extLst>
              </a:tr>
              <a:tr h="498421">
                <a:tc>
                  <a:txBody>
                    <a:bodyPr/>
                    <a:lstStyle/>
                    <a:p>
                      <a:pPr algn="l">
                        <a:buNone/>
                      </a:pPr>
                      <a:r>
                        <a:rPr lang="en-IN" sz="1600" dirty="0"/>
                        <a:t>Scaling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err="1"/>
                        <a:t>StandardScaler</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60604180"/>
                  </a:ext>
                </a:extLst>
              </a:tr>
              <a:tr h="498421">
                <a:tc>
                  <a:txBody>
                    <a:bodyPr/>
                    <a:lstStyle/>
                    <a:p>
                      <a:pPr algn="l">
                        <a:buNone/>
                      </a:pPr>
                      <a:r>
                        <a:rPr lang="en-IN" sz="1600" dirty="0"/>
                        <a:t>Models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CNN, ANN, Random Forest</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4053014"/>
                  </a:ext>
                </a:extLst>
              </a:tr>
              <a:tr h="498421">
                <a:tc>
                  <a:txBody>
                    <a:bodyPr/>
                    <a:lstStyle/>
                    <a:p>
                      <a:pPr algn="l">
                        <a:buNone/>
                      </a:pPr>
                      <a:r>
                        <a:rPr lang="en-IN" sz="1600" dirty="0"/>
                        <a:t>Validation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10-Fold Cross Validation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64408656"/>
                  </a:ext>
                </a:extLst>
              </a:tr>
              <a:tr h="872235">
                <a:tc>
                  <a:txBody>
                    <a:bodyPr/>
                    <a:lstStyle/>
                    <a:p>
                      <a:pPr algn="l">
                        <a:buNone/>
                      </a:pPr>
                      <a:r>
                        <a:rPr lang="en-IN" sz="1600"/>
                        <a:t>Evaluation Metrics</a:t>
                      </a:r>
                      <a:endParaRPr lang="en-IN" sz="160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Accuracy, Precision, Recall, F1-score, AUC, Specificity</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6469182"/>
                  </a:ext>
                </a:extLst>
              </a:tr>
            </a:tbl>
          </a:graphicData>
        </a:graphic>
      </p:graphicFrame>
    </p:spTree>
    <p:extLst>
      <p:ext uri="{BB962C8B-B14F-4D97-AF65-F5344CB8AC3E}">
        <p14:creationId xmlns:p14="http://schemas.microsoft.com/office/powerpoint/2010/main" val="15742965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28798" y="188640"/>
            <a:ext cx="4818967" cy="461665"/>
          </a:xfrm>
          <a:prstGeom prst="rect">
            <a:avLst/>
          </a:prstGeom>
          <a:noFill/>
        </p:spPr>
        <p:txBody>
          <a:bodyPr wrap="square" rtlCol="0">
            <a:spAutoFit/>
          </a:bodyPr>
          <a:lstStyle/>
          <a:p>
            <a:r>
              <a:rPr lang="en-IN" sz="2400" b="1" dirty="0">
                <a:solidFill>
                  <a:srgbClr val="D47D26"/>
                </a:solidFill>
                <a:latin typeface="Times New Roman" panose="02020603050405020304" pitchFamily="18" charset="0"/>
                <a:cs typeface="Times New Roman" panose="02020603050405020304" pitchFamily="18" charset="0"/>
              </a:rPr>
              <a:t>FUNCTIONAL REQUIREMENTS</a:t>
            </a:r>
          </a:p>
        </p:txBody>
      </p:sp>
      <p:graphicFrame>
        <p:nvGraphicFramePr>
          <p:cNvPr id="2" name="Table 1">
            <a:extLst>
              <a:ext uri="{FF2B5EF4-FFF2-40B4-BE49-F238E27FC236}">
                <a16:creationId xmlns:a16="http://schemas.microsoft.com/office/drawing/2014/main" id="{3375734E-C9E8-3ED5-E41A-71AED34EFACC}"/>
              </a:ext>
            </a:extLst>
          </p:cNvPr>
          <p:cNvGraphicFramePr>
            <a:graphicFrameLocks noGrp="1"/>
          </p:cNvGraphicFramePr>
          <p:nvPr>
            <p:extLst>
              <p:ext uri="{D42A27DB-BD31-4B8C-83A1-F6EECF244321}">
                <p14:modId xmlns:p14="http://schemas.microsoft.com/office/powerpoint/2010/main" val="3721978782"/>
              </p:ext>
            </p:extLst>
          </p:nvPr>
        </p:nvGraphicFramePr>
        <p:xfrm>
          <a:off x="278058" y="1412776"/>
          <a:ext cx="10301479" cy="4382154"/>
        </p:xfrm>
        <a:graphic>
          <a:graphicData uri="http://schemas.openxmlformats.org/drawingml/2006/table">
            <a:tbl>
              <a:tblPr/>
              <a:tblGrid>
                <a:gridCol w="2020983">
                  <a:extLst>
                    <a:ext uri="{9D8B030D-6E8A-4147-A177-3AD203B41FA5}">
                      <a16:colId xmlns:a16="http://schemas.microsoft.com/office/drawing/2014/main" val="3458385419"/>
                    </a:ext>
                  </a:extLst>
                </a:gridCol>
                <a:gridCol w="8280496">
                  <a:extLst>
                    <a:ext uri="{9D8B030D-6E8A-4147-A177-3AD203B41FA5}">
                      <a16:colId xmlns:a16="http://schemas.microsoft.com/office/drawing/2014/main" val="2083001099"/>
                    </a:ext>
                  </a:extLst>
                </a:gridCol>
              </a:tblGrid>
              <a:tr h="263717">
                <a:tc>
                  <a:txBody>
                    <a:bodyPr/>
                    <a:lstStyle/>
                    <a:p>
                      <a:pPr algn="ctr">
                        <a:buNone/>
                      </a:pPr>
                      <a:r>
                        <a:rPr lang="en-IN" sz="1500" b="1" dirty="0">
                          <a:latin typeface="Times New Roman" panose="02020603050405020304" pitchFamily="18" charset="0"/>
                          <a:cs typeface="Times New Roman" panose="02020603050405020304" pitchFamily="18" charset="0"/>
                        </a:rPr>
                        <a:t>Requirement</a:t>
                      </a:r>
                    </a:p>
                  </a:txBody>
                  <a:tcPr marL="65929" marR="65929" marT="32965" marB="32965" anchor="ctr">
                    <a:solidFill>
                      <a:srgbClr val="FF9900"/>
                    </a:solidFill>
                  </a:tcPr>
                </a:tc>
                <a:tc>
                  <a:txBody>
                    <a:bodyPr/>
                    <a:lstStyle/>
                    <a:p>
                      <a:pPr algn="ctr">
                        <a:buNone/>
                      </a:pPr>
                      <a:r>
                        <a:rPr lang="en-IN" sz="1500" b="1" dirty="0">
                          <a:latin typeface="Times New Roman" panose="02020603050405020304" pitchFamily="18" charset="0"/>
                          <a:cs typeface="Times New Roman" panose="02020603050405020304" pitchFamily="18" charset="0"/>
                        </a:rPr>
                        <a:t>Description</a:t>
                      </a:r>
                    </a:p>
                  </a:txBody>
                  <a:tcPr marL="65929" marR="65929" marT="32965" marB="32965" anchor="ctr">
                    <a:solidFill>
                      <a:srgbClr val="FF9900"/>
                    </a:solidFill>
                  </a:tcPr>
                </a:tc>
                <a:extLst>
                  <a:ext uri="{0D108BD9-81ED-4DB2-BD59-A6C34878D82A}">
                    <a16:rowId xmlns:a16="http://schemas.microsoft.com/office/drawing/2014/main" val="2294185896"/>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Dataset Loading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Load the CICIoT2023 dataset for intrusion detection.</a:t>
                      </a:r>
                    </a:p>
                  </a:txBody>
                  <a:tcPr marL="65929" marR="65929" marT="32965" marB="32965" anchor="ctr"/>
                </a:tc>
                <a:extLst>
                  <a:ext uri="{0D108BD9-81ED-4DB2-BD59-A6C34878D82A}">
                    <a16:rowId xmlns:a16="http://schemas.microsoft.com/office/drawing/2014/main" val="425667827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 Preprocessing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Clean the dataset by handling missing values, duplicates, and inconsistencies.</a:t>
                      </a:r>
                    </a:p>
                  </a:txBody>
                  <a:tcPr marL="65929" marR="65929" marT="32965" marB="32965" anchor="ctr"/>
                </a:tc>
                <a:extLst>
                  <a:ext uri="{0D108BD9-81ED-4DB2-BD59-A6C34878D82A}">
                    <a16:rowId xmlns:a16="http://schemas.microsoft.com/office/drawing/2014/main" val="1721916451"/>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Feature Selection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Select the most relevant network traffic features using Pearson Correlation Coefficient (PCC).</a:t>
                      </a:r>
                    </a:p>
                  </a:txBody>
                  <a:tcPr marL="65929" marR="65929" marT="32965" marB="32965" anchor="ctr"/>
                </a:tc>
                <a:extLst>
                  <a:ext uri="{0D108BD9-81ED-4DB2-BD59-A6C34878D82A}">
                    <a16:rowId xmlns:a16="http://schemas.microsoft.com/office/drawing/2014/main" val="193310891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Feature Scaling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Standardize the selected features before model training.</a:t>
                      </a:r>
                    </a:p>
                  </a:txBody>
                  <a:tcPr marL="65929" marR="65929" marT="32965" marB="32965" anchor="ctr"/>
                </a:tc>
                <a:extLst>
                  <a:ext uri="{0D108BD9-81ED-4DB2-BD59-A6C34878D82A}">
                    <a16:rowId xmlns:a16="http://schemas.microsoft.com/office/drawing/2014/main" val="206586592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Model Training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Train CNN, ANN, and Random Forest models using the processed dataset.</a:t>
                      </a:r>
                    </a:p>
                  </a:txBody>
                  <a:tcPr marL="65929" marR="65929" marT="32965" marB="32965" anchor="ctr"/>
                </a:tc>
                <a:extLst>
                  <a:ext uri="{0D108BD9-81ED-4DB2-BD59-A6C34878D82A}">
                    <a16:rowId xmlns:a16="http://schemas.microsoft.com/office/drawing/2014/main" val="3055342327"/>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Attack Classification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Classify network traffic into Attack and Benign classes.</a:t>
                      </a:r>
                    </a:p>
                  </a:txBody>
                  <a:tcPr marL="65929" marR="65929" marT="32965" marB="32965" anchor="ctr"/>
                </a:tc>
                <a:extLst>
                  <a:ext uri="{0D108BD9-81ED-4DB2-BD59-A6C34878D82A}">
                    <a16:rowId xmlns:a16="http://schemas.microsoft.com/office/drawing/2014/main" val="315867736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Performance Evaluation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Evaluate models using 10-fold Cross Validation and performance metrics.</a:t>
                      </a:r>
                    </a:p>
                  </a:txBody>
                  <a:tcPr marL="65929" marR="65929" marT="32965" marB="32965" anchor="ctr"/>
                </a:tc>
                <a:extLst>
                  <a:ext uri="{0D108BD9-81ED-4DB2-BD59-A6C34878D82A}">
                    <a16:rowId xmlns:a16="http://schemas.microsoft.com/office/drawing/2014/main" val="413412259"/>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Result Generation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Generate confusion matrices, ROC curves, training plots, architecture summaries, and comparison reports.</a:t>
                      </a:r>
                    </a:p>
                  </a:txBody>
                  <a:tcPr marL="65929" marR="65929" marT="32965" marB="32965" anchor="ctr"/>
                </a:tc>
                <a:extLst>
                  <a:ext uri="{0D108BD9-81ED-4DB2-BD59-A6C34878D82A}">
                    <a16:rowId xmlns:a16="http://schemas.microsoft.com/office/drawing/2014/main" val="2670226260"/>
                  </a:ext>
                </a:extLst>
              </a:tr>
            </a:tbl>
          </a:graphicData>
        </a:graphic>
      </p:graphicFrame>
    </p:spTree>
    <p:extLst>
      <p:ext uri="{BB962C8B-B14F-4D97-AF65-F5344CB8AC3E}">
        <p14:creationId xmlns:p14="http://schemas.microsoft.com/office/powerpoint/2010/main" val="304251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AEFB0077-F69A-F564-F666-2CAB56AA0860}"/>
              </a:ext>
            </a:extLst>
          </p:cNvPr>
          <p:cNvSpPr txBox="1"/>
          <p:nvPr/>
        </p:nvSpPr>
        <p:spPr>
          <a:xfrm>
            <a:off x="215305" y="836712"/>
            <a:ext cx="4176464"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DATASET USED</a:t>
            </a:r>
          </a:p>
        </p:txBody>
      </p:sp>
      <p:sp>
        <p:nvSpPr>
          <p:cNvPr id="6" name="TextBox 5">
            <a:extLst>
              <a:ext uri="{FF2B5EF4-FFF2-40B4-BE49-F238E27FC236}">
                <a16:creationId xmlns:a16="http://schemas.microsoft.com/office/drawing/2014/main" id="{1FE5EE0F-B4AB-7550-0BCA-5541E79824FE}"/>
              </a:ext>
            </a:extLst>
          </p:cNvPr>
          <p:cNvSpPr txBox="1"/>
          <p:nvPr/>
        </p:nvSpPr>
        <p:spPr>
          <a:xfrm>
            <a:off x="226821" y="1206044"/>
            <a:ext cx="223224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CICIoT2023 Dataset</a:t>
            </a:r>
          </a:p>
        </p:txBody>
      </p:sp>
      <p:sp>
        <p:nvSpPr>
          <p:cNvPr id="7" name="TextBox 6">
            <a:extLst>
              <a:ext uri="{FF2B5EF4-FFF2-40B4-BE49-F238E27FC236}">
                <a16:creationId xmlns:a16="http://schemas.microsoft.com/office/drawing/2014/main" id="{1ADEBED4-6A33-3FC1-3F02-03922A6E1295}"/>
              </a:ext>
            </a:extLst>
          </p:cNvPr>
          <p:cNvSpPr txBox="1"/>
          <p:nvPr/>
        </p:nvSpPr>
        <p:spPr>
          <a:xfrm>
            <a:off x="287313" y="1772817"/>
            <a:ext cx="10153128" cy="170456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Intrusion Detection System (IDS) was developed using the CICIoT2023 dataset, which contains realistic IoT network traffic comprising both benign and malicious activities. The dataset includes various attack categories such as DDoS, DoS, spoofing, reconnaissance, brute-force, and web-based attacks, making it suitable for evaluating AI-based intrusion detection systems.</a:t>
            </a:r>
          </a:p>
        </p:txBody>
      </p:sp>
      <p:grpSp>
        <p:nvGrpSpPr>
          <p:cNvPr id="10" name="Group 9">
            <a:extLst>
              <a:ext uri="{FF2B5EF4-FFF2-40B4-BE49-F238E27FC236}">
                <a16:creationId xmlns:a16="http://schemas.microsoft.com/office/drawing/2014/main" id="{2D129669-EE39-71AA-B474-2A76C5091EC1}"/>
              </a:ext>
            </a:extLst>
          </p:cNvPr>
          <p:cNvGrpSpPr/>
          <p:nvPr/>
        </p:nvGrpSpPr>
        <p:grpSpPr>
          <a:xfrm>
            <a:off x="5729864" y="3717032"/>
            <a:ext cx="4777016" cy="2489382"/>
            <a:chOff x="457200" y="1420927"/>
            <a:chExt cx="3060700" cy="2457808"/>
          </a:xfrm>
        </p:grpSpPr>
        <p:sp>
          <p:nvSpPr>
            <p:cNvPr id="11" name="Rectangle: Rounded Corners 10">
              <a:extLst>
                <a:ext uri="{FF2B5EF4-FFF2-40B4-BE49-F238E27FC236}">
                  <a16:creationId xmlns:a16="http://schemas.microsoft.com/office/drawing/2014/main" id="{17B09D05-A0E1-5D05-57BE-69077CBF90A4}"/>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Dataset: CICIoT2023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Classification: Binary (Attack / Benign)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Feature Selection: Pearson Correlation Coefficient (PCC)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Selected Features: 15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Validation Technique: 10-Fold Cross Validation</a:t>
              </a:r>
            </a:p>
          </p:txBody>
        </p:sp>
        <p:grpSp>
          <p:nvGrpSpPr>
            <p:cNvPr id="12" name="Group 11">
              <a:extLst>
                <a:ext uri="{FF2B5EF4-FFF2-40B4-BE49-F238E27FC236}">
                  <a16:creationId xmlns:a16="http://schemas.microsoft.com/office/drawing/2014/main" id="{3EF42D54-3A13-F883-CFFC-5DDE21D534DE}"/>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AA808AF3-A263-2F24-75CD-E18EBBE3F95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4C5B953-DF9E-AF96-BEF3-7F890C7A1BC7}"/>
                  </a:ext>
                </a:extLst>
              </p:cNvPr>
              <p:cNvSpPr txBox="1"/>
              <p:nvPr/>
            </p:nvSpPr>
            <p:spPr>
              <a:xfrm>
                <a:off x="571500" y="1494558"/>
                <a:ext cx="2819400" cy="306596"/>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Characteristics</a:t>
                </a:r>
              </a:p>
            </p:txBody>
          </p:sp>
        </p:grpSp>
      </p:grpSp>
    </p:spTree>
    <p:extLst>
      <p:ext uri="{BB962C8B-B14F-4D97-AF65-F5344CB8AC3E}">
        <p14:creationId xmlns:p14="http://schemas.microsoft.com/office/powerpoint/2010/main" val="13995003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7108-B6D4-4941-ED4E-0DF3C5F16C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89EE7-5525-F911-F0B4-D862A6F13523}"/>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B90856B8-B58F-8A4D-7CF1-0674B617B732}"/>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 PREPROCESSING &amp; FEATURE ENGINEERING</a:t>
            </a:r>
          </a:p>
        </p:txBody>
      </p:sp>
      <p:grpSp>
        <p:nvGrpSpPr>
          <p:cNvPr id="10" name="Group 9">
            <a:extLst>
              <a:ext uri="{FF2B5EF4-FFF2-40B4-BE49-F238E27FC236}">
                <a16:creationId xmlns:a16="http://schemas.microsoft.com/office/drawing/2014/main" id="{CB6DAA27-0E07-8981-DC87-781E360D50F2}"/>
              </a:ext>
            </a:extLst>
          </p:cNvPr>
          <p:cNvGrpSpPr/>
          <p:nvPr/>
        </p:nvGrpSpPr>
        <p:grpSpPr>
          <a:xfrm>
            <a:off x="269983" y="1074139"/>
            <a:ext cx="4320480" cy="2510988"/>
            <a:chOff x="457200" y="1420927"/>
            <a:chExt cx="3060700" cy="2457808"/>
          </a:xfrm>
        </p:grpSpPr>
        <p:sp>
          <p:nvSpPr>
            <p:cNvPr id="11" name="Rectangle: Rounded Corners 10">
              <a:extLst>
                <a:ext uri="{FF2B5EF4-FFF2-40B4-BE49-F238E27FC236}">
                  <a16:creationId xmlns:a16="http://schemas.microsoft.com/office/drawing/2014/main" id="{727B345F-C217-2D79-8A3D-249DF04B07BD}"/>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Data Preprocessing Steps :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Removed duplicate records.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Handled missing and infinite values.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Converted attack categories into binary labels.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Verified dataset consistency.</a:t>
              </a:r>
            </a:p>
          </p:txBody>
        </p:sp>
        <p:grpSp>
          <p:nvGrpSpPr>
            <p:cNvPr id="12" name="Group 11">
              <a:extLst>
                <a:ext uri="{FF2B5EF4-FFF2-40B4-BE49-F238E27FC236}">
                  <a16:creationId xmlns:a16="http://schemas.microsoft.com/office/drawing/2014/main" id="{D1DA6254-043F-4AE6-4E43-B126C3D60C4A}"/>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B478229-0A86-FE6A-7724-DE1FC985CEB8}"/>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8680C89-1BE3-FE08-FA8C-112D664685EF}"/>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Data Preprocessing</a:t>
                </a:r>
              </a:p>
            </p:txBody>
          </p:sp>
        </p:grpSp>
      </p:grpSp>
      <p:grpSp>
        <p:nvGrpSpPr>
          <p:cNvPr id="4" name="Group 3">
            <a:extLst>
              <a:ext uri="{FF2B5EF4-FFF2-40B4-BE49-F238E27FC236}">
                <a16:creationId xmlns:a16="http://schemas.microsoft.com/office/drawing/2014/main" id="{2B5CEF15-5D6D-5DD5-D117-278273C59503}"/>
              </a:ext>
            </a:extLst>
          </p:cNvPr>
          <p:cNvGrpSpPr/>
          <p:nvPr/>
        </p:nvGrpSpPr>
        <p:grpSpPr>
          <a:xfrm>
            <a:off x="578231" y="3795005"/>
            <a:ext cx="9366812" cy="2720141"/>
            <a:chOff x="457200" y="1420927"/>
            <a:chExt cx="3060700" cy="2457808"/>
          </a:xfrm>
        </p:grpSpPr>
        <p:sp>
          <p:nvSpPr>
            <p:cNvPr id="5" name="Rectangle: Rounded Corners 4">
              <a:extLst>
                <a:ext uri="{FF2B5EF4-FFF2-40B4-BE49-F238E27FC236}">
                  <a16:creationId xmlns:a16="http://schemas.microsoft.com/office/drawing/2014/main" id="{57F143F8-F7C7-2576-D5D5-45CC4926ACE9}"/>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The Pearson Correlation Coefficient was used to measure the relationship between each feature and the target class.</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Advantages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Removes irrelevant features.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Reduces dimensionality.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Improves computational efficiency.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Helps prevent overfitting.</a:t>
              </a:r>
            </a:p>
          </p:txBody>
        </p:sp>
        <p:grpSp>
          <p:nvGrpSpPr>
            <p:cNvPr id="8" name="Group 7">
              <a:extLst>
                <a:ext uri="{FF2B5EF4-FFF2-40B4-BE49-F238E27FC236}">
                  <a16:creationId xmlns:a16="http://schemas.microsoft.com/office/drawing/2014/main" id="{F3210198-93BF-ED17-4738-8B73C8F6ABBB}"/>
                </a:ext>
              </a:extLst>
            </p:cNvPr>
            <p:cNvGrpSpPr/>
            <p:nvPr/>
          </p:nvGrpSpPr>
          <p:grpSpPr>
            <a:xfrm>
              <a:off x="457200" y="1420927"/>
              <a:ext cx="3048000" cy="459960"/>
              <a:chOff x="457200" y="1420927"/>
              <a:chExt cx="3048000" cy="459960"/>
            </a:xfrm>
          </p:grpSpPr>
          <p:sp>
            <p:nvSpPr>
              <p:cNvPr id="9" name="Rectangle: Rounded Corners 8">
                <a:extLst>
                  <a:ext uri="{FF2B5EF4-FFF2-40B4-BE49-F238E27FC236}">
                    <a16:creationId xmlns:a16="http://schemas.microsoft.com/office/drawing/2014/main" id="{727DAD89-255C-5B9E-77AC-C4FC76905F9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22BB207-2CB4-1613-C764-06C71836AFAC}"/>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Selection</a:t>
                </a:r>
              </a:p>
            </p:txBody>
          </p:sp>
        </p:grpSp>
      </p:grpSp>
      <p:grpSp>
        <p:nvGrpSpPr>
          <p:cNvPr id="16" name="Group 15">
            <a:extLst>
              <a:ext uri="{FF2B5EF4-FFF2-40B4-BE49-F238E27FC236}">
                <a16:creationId xmlns:a16="http://schemas.microsoft.com/office/drawing/2014/main" id="{B886BE2D-18C0-006F-8B51-78480A8D5B1D}"/>
              </a:ext>
            </a:extLst>
          </p:cNvPr>
          <p:cNvGrpSpPr/>
          <p:nvPr/>
        </p:nvGrpSpPr>
        <p:grpSpPr>
          <a:xfrm>
            <a:off x="4751809" y="1074139"/>
            <a:ext cx="5588261" cy="2510988"/>
            <a:chOff x="457200" y="1420927"/>
            <a:chExt cx="3060700" cy="2457808"/>
          </a:xfrm>
        </p:grpSpPr>
        <p:sp>
          <p:nvSpPr>
            <p:cNvPr id="17" name="Rectangle: Rounded Corners 16">
              <a:extLst>
                <a:ext uri="{FF2B5EF4-FFF2-40B4-BE49-F238E27FC236}">
                  <a16:creationId xmlns:a16="http://schemas.microsoft.com/office/drawing/2014/main" id="{5E7EA871-EB8C-E43C-3CC1-31A4A8F9ED68}"/>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After feature selection, all selected features were standardized using </a:t>
              </a:r>
              <a:r>
                <a:rPr lang="en-US" sz="1500" dirty="0" err="1">
                  <a:solidFill>
                    <a:schemeClr val="tx1"/>
                  </a:solidFill>
                  <a:latin typeface="Times New Roman" panose="02020603050405020304" pitchFamily="18" charset="0"/>
                  <a:cs typeface="Times New Roman" panose="02020603050405020304" pitchFamily="18" charset="0"/>
                </a:rPr>
                <a:t>StandardScaler</a:t>
              </a:r>
              <a:r>
                <a:rPr lang="en-US" sz="1500" dirty="0">
                  <a:solidFill>
                    <a:schemeClr val="tx1"/>
                  </a:solidFill>
                  <a:latin typeface="Times New Roman" panose="02020603050405020304" pitchFamily="18" charset="0"/>
                  <a:cs typeface="Times New Roman" panose="02020603050405020304" pitchFamily="18" charset="0"/>
                </a:rPr>
                <a:t> to ensure they have zero mean and unit variance.</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This improves the convergence of neural network models and ensures that all features contribute equally during training.</a:t>
              </a:r>
            </a:p>
          </p:txBody>
        </p:sp>
        <p:grpSp>
          <p:nvGrpSpPr>
            <p:cNvPr id="18" name="Group 17">
              <a:extLst>
                <a:ext uri="{FF2B5EF4-FFF2-40B4-BE49-F238E27FC236}">
                  <a16:creationId xmlns:a16="http://schemas.microsoft.com/office/drawing/2014/main" id="{C0CC0B00-E76B-A631-42E9-59317E307BAA}"/>
                </a:ext>
              </a:extLst>
            </p:cNvPr>
            <p:cNvGrpSpPr/>
            <p:nvPr/>
          </p:nvGrpSpPr>
          <p:grpSpPr>
            <a:xfrm>
              <a:off x="457200" y="1420927"/>
              <a:ext cx="3048000" cy="459960"/>
              <a:chOff x="457200" y="1420927"/>
              <a:chExt cx="3048000" cy="459960"/>
            </a:xfrm>
          </p:grpSpPr>
          <p:sp>
            <p:nvSpPr>
              <p:cNvPr id="19" name="Rectangle: Rounded Corners 18">
                <a:extLst>
                  <a:ext uri="{FF2B5EF4-FFF2-40B4-BE49-F238E27FC236}">
                    <a16:creationId xmlns:a16="http://schemas.microsoft.com/office/drawing/2014/main" id="{062C4D94-A119-D1A3-AA56-F2C659D756E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F671749-B777-3E23-207A-043541CE04E7}"/>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Scaling</a:t>
                </a:r>
              </a:p>
            </p:txBody>
          </p:sp>
        </p:grpSp>
      </p:grpSp>
      <p:cxnSp>
        <p:nvCxnSpPr>
          <p:cNvPr id="22" name="Straight Arrow Connector 21">
            <a:extLst>
              <a:ext uri="{FF2B5EF4-FFF2-40B4-BE49-F238E27FC236}">
                <a16:creationId xmlns:a16="http://schemas.microsoft.com/office/drawing/2014/main" id="{491FF6CE-30FF-85E1-558C-4E3E34EA10ED}"/>
              </a:ext>
            </a:extLst>
          </p:cNvPr>
          <p:cNvCxnSpPr>
            <a:cxnSpLocks/>
            <a:stCxn id="11" idx="2"/>
          </p:cNvCxnSpPr>
          <p:nvPr/>
        </p:nvCxnSpPr>
        <p:spPr>
          <a:xfrm>
            <a:off x="243022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2153F48A-6747-1448-FCBD-624401A71D5D}"/>
              </a:ext>
            </a:extLst>
          </p:cNvPr>
          <p:cNvCxnSpPr/>
          <p:nvPr/>
        </p:nvCxnSpPr>
        <p:spPr>
          <a:xfrm flipV="1">
            <a:off x="748811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93613487"/>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3D77-A1F7-ADBE-D5B8-A0576367A2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30126B-CA69-4B86-413D-73C0979A1B7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542EE687-6589-9BFB-F41E-82499506D1C4}"/>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MODEL DEVELOPMENT</a:t>
            </a:r>
          </a:p>
        </p:txBody>
      </p:sp>
      <p:graphicFrame>
        <p:nvGraphicFramePr>
          <p:cNvPr id="6" name="Table 5">
            <a:extLst>
              <a:ext uri="{FF2B5EF4-FFF2-40B4-BE49-F238E27FC236}">
                <a16:creationId xmlns:a16="http://schemas.microsoft.com/office/drawing/2014/main" id="{EEA63B2A-61B0-6159-63E1-05596561595D}"/>
              </a:ext>
            </a:extLst>
          </p:cNvPr>
          <p:cNvGraphicFramePr>
            <a:graphicFrameLocks noGrp="1"/>
          </p:cNvGraphicFramePr>
          <p:nvPr>
            <p:extLst>
              <p:ext uri="{D42A27DB-BD31-4B8C-83A1-F6EECF244321}">
                <p14:modId xmlns:p14="http://schemas.microsoft.com/office/powerpoint/2010/main" val="805895135"/>
              </p:ext>
            </p:extLst>
          </p:nvPr>
        </p:nvGraphicFramePr>
        <p:xfrm>
          <a:off x="671220" y="1115176"/>
          <a:ext cx="9697491" cy="2829390"/>
        </p:xfrm>
        <a:graphic>
          <a:graphicData uri="http://schemas.openxmlformats.org/drawingml/2006/table">
            <a:tbl>
              <a:tblPr/>
              <a:tblGrid>
                <a:gridCol w="2529504">
                  <a:extLst>
                    <a:ext uri="{9D8B030D-6E8A-4147-A177-3AD203B41FA5}">
                      <a16:colId xmlns:a16="http://schemas.microsoft.com/office/drawing/2014/main" val="1744024469"/>
                    </a:ext>
                  </a:extLst>
                </a:gridCol>
                <a:gridCol w="7167987">
                  <a:extLst>
                    <a:ext uri="{9D8B030D-6E8A-4147-A177-3AD203B41FA5}">
                      <a16:colId xmlns:a16="http://schemas.microsoft.com/office/drawing/2014/main" val="1041675604"/>
                    </a:ext>
                  </a:extLst>
                </a:gridCol>
              </a:tblGrid>
              <a:tr h="337911">
                <a:tc>
                  <a:txBody>
                    <a:bodyPr/>
                    <a:lstStyle/>
                    <a:p>
                      <a:pPr algn="ctr">
                        <a:buNone/>
                      </a:pPr>
                      <a:r>
                        <a:rPr lang="en-IN" sz="1800" b="1"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Purpose</a:t>
                      </a:r>
                    </a:p>
                  </a:txBody>
                  <a:tcPr anchor="ctr">
                    <a:solidFill>
                      <a:srgbClr val="FF9900"/>
                    </a:solidFill>
                  </a:tcPr>
                </a:tc>
                <a:extLst>
                  <a:ext uri="{0D108BD9-81ED-4DB2-BD59-A6C34878D82A}">
                    <a16:rowId xmlns:a16="http://schemas.microsoft.com/office/drawing/2014/main" val="3766348262"/>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CNN</a:t>
                      </a:r>
                    </a:p>
                  </a:txBody>
                  <a:tcPr anchor="ctr"/>
                </a:tc>
                <a:tc>
                  <a:txBody>
                    <a:bodyPr/>
                    <a:lstStyle/>
                    <a:p>
                      <a:pPr algn="just">
                        <a:lnSpc>
                          <a:spcPct val="150000"/>
                        </a:lnSpc>
                        <a:buNone/>
                      </a:pPr>
                      <a:r>
                        <a:rPr lang="en-IN" sz="1800">
                          <a:latin typeface="Times New Roman" panose="02020603050405020304" pitchFamily="18" charset="0"/>
                          <a:cs typeface="Times New Roman" panose="02020603050405020304" pitchFamily="18" charset="0"/>
                        </a:rPr>
                        <a:t>Automatically extracts local feature patterns using convolution operations.</a:t>
                      </a:r>
                    </a:p>
                  </a:txBody>
                  <a:tcPr anchor="ctr"/>
                </a:tc>
                <a:extLst>
                  <a:ext uri="{0D108BD9-81ED-4DB2-BD59-A6C34878D82A}">
                    <a16:rowId xmlns:a16="http://schemas.microsoft.com/office/drawing/2014/main" val="3197387204"/>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ANN</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Learns nonlinear relationships among selected network traffic features.</a:t>
                      </a:r>
                    </a:p>
                  </a:txBody>
                  <a:tcPr anchor="ctr"/>
                </a:tc>
                <a:extLst>
                  <a:ext uri="{0D108BD9-81ED-4DB2-BD59-A6C34878D82A}">
                    <a16:rowId xmlns:a16="http://schemas.microsoft.com/office/drawing/2014/main" val="248264367"/>
                  </a:ext>
                </a:extLst>
              </a:tr>
              <a:tr h="844777">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Random Forest</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Uses an ensemble of decision trees to improve classification robustness and reduce overfitting.</a:t>
                      </a:r>
                    </a:p>
                  </a:txBody>
                  <a:tcPr anchor="ctr"/>
                </a:tc>
                <a:extLst>
                  <a:ext uri="{0D108BD9-81ED-4DB2-BD59-A6C34878D82A}">
                    <a16:rowId xmlns:a16="http://schemas.microsoft.com/office/drawing/2014/main" val="85462822"/>
                  </a:ext>
                </a:extLst>
              </a:tr>
            </a:tbl>
          </a:graphicData>
        </a:graphic>
      </p:graphicFrame>
      <p:grpSp>
        <p:nvGrpSpPr>
          <p:cNvPr id="7" name="Group 6">
            <a:extLst>
              <a:ext uri="{FF2B5EF4-FFF2-40B4-BE49-F238E27FC236}">
                <a16:creationId xmlns:a16="http://schemas.microsoft.com/office/drawing/2014/main" id="{BB8D4679-F0AC-8AC1-9DAD-E1AB088D2DA9}"/>
              </a:ext>
            </a:extLst>
          </p:cNvPr>
          <p:cNvGrpSpPr/>
          <p:nvPr/>
        </p:nvGrpSpPr>
        <p:grpSpPr>
          <a:xfrm>
            <a:off x="4962264" y="4149080"/>
            <a:ext cx="5544616" cy="2286846"/>
            <a:chOff x="457200" y="1420927"/>
            <a:chExt cx="3060700" cy="2457808"/>
          </a:xfrm>
        </p:grpSpPr>
        <p:sp>
          <p:nvSpPr>
            <p:cNvPr id="21" name="Rectangle: Rounded Corners 20">
              <a:extLst>
                <a:ext uri="{FF2B5EF4-FFF2-40B4-BE49-F238E27FC236}">
                  <a16:creationId xmlns:a16="http://schemas.microsoft.com/office/drawing/2014/main" id="{9432A6B4-2C33-4400-FE31-C3DEDA2DDF9B}"/>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preprocessed dataset.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selected features.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evaluation metrics.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10-Fold Cross Validation.</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This ensures a fair comparison between all three models.</a:t>
              </a:r>
            </a:p>
          </p:txBody>
        </p:sp>
        <p:grpSp>
          <p:nvGrpSpPr>
            <p:cNvPr id="23" name="Group 22">
              <a:extLst>
                <a:ext uri="{FF2B5EF4-FFF2-40B4-BE49-F238E27FC236}">
                  <a16:creationId xmlns:a16="http://schemas.microsoft.com/office/drawing/2014/main" id="{207CD571-D832-D874-170E-529C7FF8C065}"/>
                </a:ext>
              </a:extLst>
            </p:cNvPr>
            <p:cNvGrpSpPr/>
            <p:nvPr/>
          </p:nvGrpSpPr>
          <p:grpSpPr>
            <a:xfrm>
              <a:off x="457200" y="1420927"/>
              <a:ext cx="3048000" cy="459960"/>
              <a:chOff x="457200" y="1420927"/>
              <a:chExt cx="3048000" cy="459960"/>
            </a:xfrm>
          </p:grpSpPr>
          <p:sp>
            <p:nvSpPr>
              <p:cNvPr id="24" name="Rectangle: Rounded Corners 23">
                <a:extLst>
                  <a:ext uri="{FF2B5EF4-FFF2-40B4-BE49-F238E27FC236}">
                    <a16:creationId xmlns:a16="http://schemas.microsoft.com/office/drawing/2014/main" id="{4C93BE8D-E14D-4B7B-40E3-7D00E187EB5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9B923B50-EC54-FA5A-D5B6-3BA64386E3C2}"/>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Common Training Strategy</a:t>
                </a:r>
              </a:p>
            </p:txBody>
          </p:sp>
        </p:grpSp>
      </p:grpSp>
    </p:spTree>
    <p:extLst>
      <p:ext uri="{BB962C8B-B14F-4D97-AF65-F5344CB8AC3E}">
        <p14:creationId xmlns:p14="http://schemas.microsoft.com/office/powerpoint/2010/main" val="157919488"/>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73D9-20E4-0301-556E-C88DA7ED64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0BCE2C-7CB1-DF75-394C-C4B19B188C9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1BEBE428-292A-AFC3-598C-3BB4BDADDCDE}"/>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CNN ARCHITECTURE</a:t>
            </a:r>
          </a:p>
        </p:txBody>
      </p:sp>
      <p:pic>
        <p:nvPicPr>
          <p:cNvPr id="5" name="Picture 4">
            <a:extLst>
              <a:ext uri="{FF2B5EF4-FFF2-40B4-BE49-F238E27FC236}">
                <a16:creationId xmlns:a16="http://schemas.microsoft.com/office/drawing/2014/main" id="{8A50D77C-2997-87CF-392E-D0D0CCBC6265}"/>
              </a:ext>
            </a:extLst>
          </p:cNvPr>
          <p:cNvPicPr>
            <a:picLocks noChangeAspect="1"/>
          </p:cNvPicPr>
          <p:nvPr/>
        </p:nvPicPr>
        <p:blipFill>
          <a:blip r:embed="rId3"/>
          <a:srcRect t="22752" b="27490"/>
          <a:stretch>
            <a:fillRect/>
          </a:stretch>
        </p:blipFill>
        <p:spPr>
          <a:xfrm>
            <a:off x="-1" y="1106040"/>
            <a:ext cx="10799763" cy="3024336"/>
          </a:xfrm>
          <a:prstGeom prst="rect">
            <a:avLst/>
          </a:prstGeom>
        </p:spPr>
      </p:pic>
      <p:grpSp>
        <p:nvGrpSpPr>
          <p:cNvPr id="8" name="Group 7">
            <a:extLst>
              <a:ext uri="{FF2B5EF4-FFF2-40B4-BE49-F238E27FC236}">
                <a16:creationId xmlns:a16="http://schemas.microsoft.com/office/drawing/2014/main" id="{68DDDFB7-55A3-5E9E-03EC-3D8486C7C64C}"/>
              </a:ext>
            </a:extLst>
          </p:cNvPr>
          <p:cNvGrpSpPr/>
          <p:nvPr/>
        </p:nvGrpSpPr>
        <p:grpSpPr>
          <a:xfrm>
            <a:off x="4962264" y="4149080"/>
            <a:ext cx="5544616" cy="2286846"/>
            <a:chOff x="457200" y="1420927"/>
            <a:chExt cx="3060700" cy="2457808"/>
          </a:xfrm>
        </p:grpSpPr>
        <p:sp>
          <p:nvSpPr>
            <p:cNvPr id="9" name="Rectangle: Rounded Corners 8">
              <a:extLst>
                <a:ext uri="{FF2B5EF4-FFF2-40B4-BE49-F238E27FC236}">
                  <a16:creationId xmlns:a16="http://schemas.microsoft.com/office/drawing/2014/main" id="{727C6FAA-3A9E-F0F2-57D3-9119F3D6BA7A}"/>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Conv1D: Extracts local patterns from sequential feature vectors.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Flatten: Converts feature maps into a one-dimensional vector.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Dense Layers: Learn higher-level feature representations.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Sigmoid Layer: Produces the probability of Attack or Benign.</a:t>
              </a:r>
            </a:p>
          </p:txBody>
        </p:sp>
        <p:grpSp>
          <p:nvGrpSpPr>
            <p:cNvPr id="10" name="Group 9">
              <a:extLst>
                <a:ext uri="{FF2B5EF4-FFF2-40B4-BE49-F238E27FC236}">
                  <a16:creationId xmlns:a16="http://schemas.microsoft.com/office/drawing/2014/main" id="{ECAD8B2E-0A08-0056-3341-88D91175BF44}"/>
                </a:ext>
              </a:extLst>
            </p:cNvPr>
            <p:cNvGrpSpPr/>
            <p:nvPr/>
          </p:nvGrpSpPr>
          <p:grpSpPr>
            <a:xfrm>
              <a:off x="457200" y="1420927"/>
              <a:ext cx="3048000" cy="459960"/>
              <a:chOff x="457200" y="1420927"/>
              <a:chExt cx="3048000" cy="459960"/>
            </a:xfrm>
          </p:grpSpPr>
          <p:sp>
            <p:nvSpPr>
              <p:cNvPr id="11" name="Rectangle: Rounded Corners 10">
                <a:extLst>
                  <a:ext uri="{FF2B5EF4-FFF2-40B4-BE49-F238E27FC236}">
                    <a16:creationId xmlns:a16="http://schemas.microsoft.com/office/drawing/2014/main" id="{C96CE973-73E7-EEB3-87B7-59CA069771A5}"/>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9F43DC5-1D53-4B44-B405-11E422D443BD}"/>
                  </a:ext>
                </a:extLst>
              </p:cNvPr>
              <p:cNvSpPr txBox="1"/>
              <p:nvPr/>
            </p:nvSpPr>
            <p:spPr>
              <a:xfrm>
                <a:off x="571500" y="1446570"/>
                <a:ext cx="2819400" cy="402573"/>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Components</a:t>
                </a:r>
              </a:p>
            </p:txBody>
          </p:sp>
        </p:grpSp>
      </p:grpSp>
    </p:spTree>
    <p:extLst>
      <p:ext uri="{BB962C8B-B14F-4D97-AF65-F5344CB8AC3E}">
        <p14:creationId xmlns:p14="http://schemas.microsoft.com/office/powerpoint/2010/main" val="427807428"/>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350A-6CE3-52A8-BAE7-1990EBB2D5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C71A3-15C3-3CF7-ED59-4579FB4B414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E14DCD19-7181-F3B6-C3D1-52ECAC4141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STRATEGY</a:t>
            </a:r>
          </a:p>
        </p:txBody>
      </p:sp>
      <p:pic>
        <p:nvPicPr>
          <p:cNvPr id="48" name="Picture 47">
            <a:extLst>
              <a:ext uri="{FF2B5EF4-FFF2-40B4-BE49-F238E27FC236}">
                <a16:creationId xmlns:a16="http://schemas.microsoft.com/office/drawing/2014/main" id="{B5CEE7B7-2DDE-E4A9-3F85-FF5473BA8860}"/>
              </a:ext>
            </a:extLst>
          </p:cNvPr>
          <p:cNvPicPr>
            <a:picLocks noChangeAspect="1"/>
          </p:cNvPicPr>
          <p:nvPr/>
        </p:nvPicPr>
        <p:blipFill>
          <a:blip r:embed="rId3"/>
          <a:srcRect l="17336" r="17322"/>
          <a:stretch>
            <a:fillRect/>
          </a:stretch>
        </p:blipFill>
        <p:spPr>
          <a:xfrm>
            <a:off x="143297" y="1246616"/>
            <a:ext cx="5716303" cy="4923523"/>
          </a:xfrm>
          <a:prstGeom prst="rect">
            <a:avLst/>
          </a:prstGeom>
        </p:spPr>
      </p:pic>
    </p:spTree>
    <p:extLst>
      <p:ext uri="{BB962C8B-B14F-4D97-AF65-F5344CB8AC3E}">
        <p14:creationId xmlns:p14="http://schemas.microsoft.com/office/powerpoint/2010/main" val="246454107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39AECF0F-3D7B-71B7-56C3-500F6DC29C8D}"/>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PERFORMANCE</a:t>
            </a:r>
          </a:p>
        </p:txBody>
      </p:sp>
      <p:pic>
        <p:nvPicPr>
          <p:cNvPr id="7" name="Picture 6">
            <a:extLst>
              <a:ext uri="{FF2B5EF4-FFF2-40B4-BE49-F238E27FC236}">
                <a16:creationId xmlns:a16="http://schemas.microsoft.com/office/drawing/2014/main" id="{633370E6-8B2C-A224-32F7-741AF2622A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1236" y="1148536"/>
            <a:ext cx="3657608" cy="2286005"/>
          </a:xfrm>
          <a:prstGeom prst="rect">
            <a:avLst/>
          </a:prstGeom>
        </p:spPr>
      </p:pic>
      <p:pic>
        <p:nvPicPr>
          <p:cNvPr id="9" name="Picture 8">
            <a:extLst>
              <a:ext uri="{FF2B5EF4-FFF2-40B4-BE49-F238E27FC236}">
                <a16:creationId xmlns:a16="http://schemas.microsoft.com/office/drawing/2014/main" id="{21F62E5A-A920-51DC-8A3A-C53EBBEF78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0986" y="3813987"/>
            <a:ext cx="3657600" cy="2286000"/>
          </a:xfrm>
          <a:prstGeom prst="rect">
            <a:avLst/>
          </a:prstGeom>
        </p:spPr>
      </p:pic>
      <p:sp>
        <p:nvSpPr>
          <p:cNvPr id="10" name="TextBox 9">
            <a:extLst>
              <a:ext uri="{FF2B5EF4-FFF2-40B4-BE49-F238E27FC236}">
                <a16:creationId xmlns:a16="http://schemas.microsoft.com/office/drawing/2014/main" id="{6FA4FAB1-120D-2405-6837-F84201DF3CAE}"/>
              </a:ext>
            </a:extLst>
          </p:cNvPr>
          <p:cNvSpPr txBox="1"/>
          <p:nvPr/>
        </p:nvSpPr>
        <p:spPr>
          <a:xfrm>
            <a:off x="2466128" y="3528057"/>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pic>
        <p:nvPicPr>
          <p:cNvPr id="12" name="Picture 11">
            <a:extLst>
              <a:ext uri="{FF2B5EF4-FFF2-40B4-BE49-F238E27FC236}">
                <a16:creationId xmlns:a16="http://schemas.microsoft.com/office/drawing/2014/main" id="{07685DC4-A9AE-EDE8-12FE-C1616142E1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7953" y="1143000"/>
            <a:ext cx="3657600" cy="2286000"/>
          </a:xfrm>
          <a:prstGeom prst="rect">
            <a:avLst/>
          </a:prstGeom>
        </p:spPr>
      </p:pic>
      <p:pic>
        <p:nvPicPr>
          <p:cNvPr id="14" name="Picture 13">
            <a:extLst>
              <a:ext uri="{FF2B5EF4-FFF2-40B4-BE49-F238E27FC236}">
                <a16:creationId xmlns:a16="http://schemas.microsoft.com/office/drawing/2014/main" id="{872E882B-7D7A-C4AD-EB7B-E7C043471F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47953" y="3813987"/>
            <a:ext cx="3657600" cy="2286000"/>
          </a:xfrm>
          <a:prstGeom prst="rect">
            <a:avLst/>
          </a:prstGeom>
        </p:spPr>
      </p:pic>
      <p:sp>
        <p:nvSpPr>
          <p:cNvPr id="15" name="TextBox 14">
            <a:extLst>
              <a:ext uri="{FF2B5EF4-FFF2-40B4-BE49-F238E27FC236}">
                <a16:creationId xmlns:a16="http://schemas.microsoft.com/office/drawing/2014/main" id="{FAC7A719-4EFD-7AB5-C8D3-5FE9C74F2E18}"/>
              </a:ext>
            </a:extLst>
          </p:cNvPr>
          <p:cNvSpPr txBox="1"/>
          <p:nvPr/>
        </p:nvSpPr>
        <p:spPr>
          <a:xfrm>
            <a:off x="6328581" y="3490822"/>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Tree>
    <p:extLst>
      <p:ext uri="{BB962C8B-B14F-4D97-AF65-F5344CB8AC3E}">
        <p14:creationId xmlns:p14="http://schemas.microsoft.com/office/powerpoint/2010/main" val="15735515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49B7-5615-B62B-F4C4-323E7E419E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0C4E73-2C6F-9376-56F6-588B2C70D5B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D9117653-D2E6-06DC-DC77-4952F04459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CONFUSION MATRIX</a:t>
            </a:r>
          </a:p>
        </p:txBody>
      </p:sp>
      <p:sp>
        <p:nvSpPr>
          <p:cNvPr id="10" name="TextBox 9">
            <a:extLst>
              <a:ext uri="{FF2B5EF4-FFF2-40B4-BE49-F238E27FC236}">
                <a16:creationId xmlns:a16="http://schemas.microsoft.com/office/drawing/2014/main" id="{25F56786-BE61-3388-47BF-132CDCA25CBA}"/>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D5BA934E-C16E-8F55-2751-4B851422CD01}"/>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pic>
        <p:nvPicPr>
          <p:cNvPr id="5" name="Picture 4">
            <a:extLst>
              <a:ext uri="{FF2B5EF4-FFF2-40B4-BE49-F238E27FC236}">
                <a16:creationId xmlns:a16="http://schemas.microsoft.com/office/drawing/2014/main" id="{DE8A868E-16B2-8E5B-9C0A-3D189E56A5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8042" y="2121924"/>
            <a:ext cx="3360000" cy="2520000"/>
          </a:xfrm>
          <a:prstGeom prst="rect">
            <a:avLst/>
          </a:prstGeom>
        </p:spPr>
      </p:pic>
      <p:pic>
        <p:nvPicPr>
          <p:cNvPr id="8" name="Picture 7">
            <a:extLst>
              <a:ext uri="{FF2B5EF4-FFF2-40B4-BE49-F238E27FC236}">
                <a16:creationId xmlns:a16="http://schemas.microsoft.com/office/drawing/2014/main" id="{69ED3DFC-4EB1-F928-E5B9-9682AD0DD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328" y="2121924"/>
            <a:ext cx="3360000" cy="2520000"/>
          </a:xfrm>
          <a:prstGeom prst="rect">
            <a:avLst/>
          </a:prstGeom>
        </p:spPr>
      </p:pic>
      <p:pic>
        <p:nvPicPr>
          <p:cNvPr id="13" name="Picture 12">
            <a:extLst>
              <a:ext uri="{FF2B5EF4-FFF2-40B4-BE49-F238E27FC236}">
                <a16:creationId xmlns:a16="http://schemas.microsoft.com/office/drawing/2014/main" id="{A6A99A8D-8C2E-FA99-7F92-A3E7E7B302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41899" y="2121924"/>
            <a:ext cx="2520000" cy="2520000"/>
          </a:xfrm>
          <a:prstGeom prst="rect">
            <a:avLst/>
          </a:prstGeom>
        </p:spPr>
      </p:pic>
      <p:sp>
        <p:nvSpPr>
          <p:cNvPr id="16" name="TextBox 15">
            <a:extLst>
              <a:ext uri="{FF2B5EF4-FFF2-40B4-BE49-F238E27FC236}">
                <a16:creationId xmlns:a16="http://schemas.microsoft.com/office/drawing/2014/main" id="{AA9AC4B1-36D5-8889-3512-91E1D6A7A30A}"/>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spTree>
    <p:extLst>
      <p:ext uri="{BB962C8B-B14F-4D97-AF65-F5344CB8AC3E}">
        <p14:creationId xmlns:p14="http://schemas.microsoft.com/office/powerpoint/2010/main" val="345981637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9D52-FC25-DFC7-8C01-2D839248CD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280E31-ED41-22B3-1A6B-CA904F880380}"/>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CE7942F1-8D19-1B0D-84E3-B575467573DB}"/>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ROC COMPARISION</a:t>
            </a:r>
          </a:p>
        </p:txBody>
      </p:sp>
      <p:sp>
        <p:nvSpPr>
          <p:cNvPr id="10" name="TextBox 9">
            <a:extLst>
              <a:ext uri="{FF2B5EF4-FFF2-40B4-BE49-F238E27FC236}">
                <a16:creationId xmlns:a16="http://schemas.microsoft.com/office/drawing/2014/main" id="{E887F832-5F00-FA25-5E5D-4AA34A0AB921}"/>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697042AE-4987-73D6-4237-D069B584E94E}"/>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
        <p:nvSpPr>
          <p:cNvPr id="16" name="TextBox 15">
            <a:extLst>
              <a:ext uri="{FF2B5EF4-FFF2-40B4-BE49-F238E27FC236}">
                <a16:creationId xmlns:a16="http://schemas.microsoft.com/office/drawing/2014/main" id="{2FB9695E-86E1-E2C0-09BA-F5A90B26591F}"/>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pic>
        <p:nvPicPr>
          <p:cNvPr id="6" name="Picture 5">
            <a:extLst>
              <a:ext uri="{FF2B5EF4-FFF2-40B4-BE49-F238E27FC236}">
                <a16:creationId xmlns:a16="http://schemas.microsoft.com/office/drawing/2014/main" id="{9B433B19-7701-D2FA-9D0A-5CEC08884A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0055" y="1365879"/>
            <a:ext cx="3240000" cy="3240000"/>
          </a:xfrm>
          <a:prstGeom prst="rect">
            <a:avLst/>
          </a:prstGeom>
        </p:spPr>
      </p:pic>
      <p:pic>
        <p:nvPicPr>
          <p:cNvPr id="9" name="Picture 8">
            <a:extLst>
              <a:ext uri="{FF2B5EF4-FFF2-40B4-BE49-F238E27FC236}">
                <a16:creationId xmlns:a16="http://schemas.microsoft.com/office/drawing/2014/main" id="{5EE4839F-79D8-9A16-2ABA-F88ACA7580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3610" y="1365879"/>
            <a:ext cx="3240000" cy="3240000"/>
          </a:xfrm>
          <a:prstGeom prst="rect">
            <a:avLst/>
          </a:prstGeom>
        </p:spPr>
      </p:pic>
      <p:pic>
        <p:nvPicPr>
          <p:cNvPr id="12" name="Picture 11">
            <a:extLst>
              <a:ext uri="{FF2B5EF4-FFF2-40B4-BE49-F238E27FC236}">
                <a16:creationId xmlns:a16="http://schemas.microsoft.com/office/drawing/2014/main" id="{F74D5248-2A9A-2DE8-D1D5-3616CAE9F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65" y="1365879"/>
            <a:ext cx="3240000" cy="3240000"/>
          </a:xfrm>
          <a:prstGeom prst="rect">
            <a:avLst/>
          </a:prstGeom>
        </p:spPr>
      </p:pic>
      <p:graphicFrame>
        <p:nvGraphicFramePr>
          <p:cNvPr id="14" name="Table 13">
            <a:extLst>
              <a:ext uri="{FF2B5EF4-FFF2-40B4-BE49-F238E27FC236}">
                <a16:creationId xmlns:a16="http://schemas.microsoft.com/office/drawing/2014/main" id="{3B0A35FD-26FC-ECCD-10C3-1A4C33083F2C}"/>
              </a:ext>
            </a:extLst>
          </p:cNvPr>
          <p:cNvGraphicFramePr>
            <a:graphicFrameLocks noGrp="1"/>
          </p:cNvGraphicFramePr>
          <p:nvPr>
            <p:extLst>
              <p:ext uri="{D42A27DB-BD31-4B8C-83A1-F6EECF244321}">
                <p14:modId xmlns:p14="http://schemas.microsoft.com/office/powerpoint/2010/main" val="2838786848"/>
              </p:ext>
            </p:extLst>
          </p:nvPr>
        </p:nvGraphicFramePr>
        <p:xfrm>
          <a:off x="8812222" y="5048308"/>
          <a:ext cx="1944216" cy="1358571"/>
        </p:xfrm>
        <a:graphic>
          <a:graphicData uri="http://schemas.openxmlformats.org/drawingml/2006/table">
            <a:tbl>
              <a:tblPr/>
              <a:tblGrid>
                <a:gridCol w="1020047">
                  <a:extLst>
                    <a:ext uri="{9D8B030D-6E8A-4147-A177-3AD203B41FA5}">
                      <a16:colId xmlns:a16="http://schemas.microsoft.com/office/drawing/2014/main" val="1621406867"/>
                    </a:ext>
                  </a:extLst>
                </a:gridCol>
                <a:gridCol w="924169">
                  <a:extLst>
                    <a:ext uri="{9D8B030D-6E8A-4147-A177-3AD203B41FA5}">
                      <a16:colId xmlns:a16="http://schemas.microsoft.com/office/drawing/2014/main" val="1716999749"/>
                    </a:ext>
                  </a:extLst>
                </a:gridCol>
              </a:tblGrid>
              <a:tr h="351257">
                <a:tc>
                  <a:txBody>
                    <a:bodyPr/>
                    <a:lstStyle/>
                    <a:p>
                      <a:pPr algn="ctr">
                        <a:buNone/>
                      </a:pPr>
                      <a:r>
                        <a:rPr lang="en-IN" sz="1400"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400" dirty="0">
                          <a:latin typeface="Times New Roman" panose="02020603050405020304" pitchFamily="18" charset="0"/>
                          <a:cs typeface="Times New Roman" panose="02020603050405020304" pitchFamily="18" charset="0"/>
                        </a:rPr>
                        <a:t>AUC</a:t>
                      </a:r>
                    </a:p>
                  </a:txBody>
                  <a:tcPr anchor="ctr">
                    <a:solidFill>
                      <a:srgbClr val="FF9900"/>
                    </a:solidFill>
                  </a:tcPr>
                </a:tc>
                <a:extLst>
                  <a:ext uri="{0D108BD9-81ED-4DB2-BD59-A6C34878D82A}">
                    <a16:rowId xmlns:a16="http://schemas.microsoft.com/office/drawing/2014/main" val="4202028939"/>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CNN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99.56</a:t>
                      </a:r>
                    </a:p>
                  </a:txBody>
                  <a:tcPr anchor="ctr"/>
                </a:tc>
                <a:extLst>
                  <a:ext uri="{0D108BD9-81ED-4DB2-BD59-A6C34878D82A}">
                    <a16:rowId xmlns:a16="http://schemas.microsoft.com/office/drawing/2014/main" val="1381224824"/>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ANN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2313691513"/>
                  </a:ext>
                </a:extLst>
              </a:tr>
              <a:tr h="231991">
                <a:tc>
                  <a:txBody>
                    <a:bodyPr/>
                    <a:lstStyle/>
                    <a:p>
                      <a:pPr algn="ctr">
                        <a:buNone/>
                      </a:pPr>
                      <a:r>
                        <a:rPr lang="en-IN" sz="1400" dirty="0">
                          <a:latin typeface="Times New Roman" panose="02020603050405020304" pitchFamily="18" charset="0"/>
                          <a:cs typeface="Times New Roman" panose="02020603050405020304" pitchFamily="18" charset="0"/>
                        </a:rPr>
                        <a:t>RF</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1383656537"/>
                  </a:ext>
                </a:extLst>
              </a:tr>
            </a:tbl>
          </a:graphicData>
        </a:graphic>
      </p:graphicFrame>
    </p:spTree>
    <p:extLst>
      <p:ext uri="{BB962C8B-B14F-4D97-AF65-F5344CB8AC3E}">
        <p14:creationId xmlns:p14="http://schemas.microsoft.com/office/powerpoint/2010/main" val="188164406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479FE-ACA5-3B88-170E-03D0396706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80B8E9-B4F5-3EE4-8D73-E7168A0CB1C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4B0D8454-0CBF-DE94-9099-6B1FD074BC40}"/>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PERFORMANCE METRICS COMPARISON</a:t>
            </a:r>
          </a:p>
        </p:txBody>
      </p:sp>
      <p:graphicFrame>
        <p:nvGraphicFramePr>
          <p:cNvPr id="2" name="Table 1">
            <a:extLst>
              <a:ext uri="{FF2B5EF4-FFF2-40B4-BE49-F238E27FC236}">
                <a16:creationId xmlns:a16="http://schemas.microsoft.com/office/drawing/2014/main" id="{42FCA3DB-7747-DDB3-C26A-BC0019FDDA48}"/>
              </a:ext>
            </a:extLst>
          </p:cNvPr>
          <p:cNvGraphicFramePr>
            <a:graphicFrameLocks noGrp="1"/>
          </p:cNvGraphicFramePr>
          <p:nvPr>
            <p:extLst>
              <p:ext uri="{D42A27DB-BD31-4B8C-83A1-F6EECF244321}">
                <p14:modId xmlns:p14="http://schemas.microsoft.com/office/powerpoint/2010/main" val="464552100"/>
              </p:ext>
            </p:extLst>
          </p:nvPr>
        </p:nvGraphicFramePr>
        <p:xfrm>
          <a:off x="2591569" y="1556792"/>
          <a:ext cx="6480720" cy="3816421"/>
        </p:xfrm>
        <a:graphic>
          <a:graphicData uri="http://schemas.openxmlformats.org/drawingml/2006/table">
            <a:tbl>
              <a:tblPr/>
              <a:tblGrid>
                <a:gridCol w="2282739">
                  <a:extLst>
                    <a:ext uri="{9D8B030D-6E8A-4147-A177-3AD203B41FA5}">
                      <a16:colId xmlns:a16="http://schemas.microsoft.com/office/drawing/2014/main" val="1139440004"/>
                    </a:ext>
                  </a:extLst>
                </a:gridCol>
                <a:gridCol w="1399327">
                  <a:extLst>
                    <a:ext uri="{9D8B030D-6E8A-4147-A177-3AD203B41FA5}">
                      <a16:colId xmlns:a16="http://schemas.microsoft.com/office/drawing/2014/main" val="3997304365"/>
                    </a:ext>
                  </a:extLst>
                </a:gridCol>
                <a:gridCol w="1399327">
                  <a:extLst>
                    <a:ext uri="{9D8B030D-6E8A-4147-A177-3AD203B41FA5}">
                      <a16:colId xmlns:a16="http://schemas.microsoft.com/office/drawing/2014/main" val="1275325772"/>
                    </a:ext>
                  </a:extLst>
                </a:gridCol>
                <a:gridCol w="1399327">
                  <a:extLst>
                    <a:ext uri="{9D8B030D-6E8A-4147-A177-3AD203B41FA5}">
                      <a16:colId xmlns:a16="http://schemas.microsoft.com/office/drawing/2014/main" val="1548659956"/>
                    </a:ext>
                  </a:extLst>
                </a:gridCol>
              </a:tblGrid>
              <a:tr h="545203">
                <a:tc>
                  <a:txBody>
                    <a:bodyPr/>
                    <a:lstStyle/>
                    <a:p>
                      <a:pPr algn="ctr">
                        <a:buNone/>
                      </a:pPr>
                      <a:r>
                        <a:rPr lang="en-IN" sz="1800" b="1" dirty="0">
                          <a:latin typeface="Times New Roman" panose="02020603050405020304" pitchFamily="18" charset="0"/>
                          <a:cs typeface="Times New Roman" panose="02020603050405020304" pitchFamily="18" charset="0"/>
                        </a:rPr>
                        <a:t>Metric</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CNN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ANN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RF</a:t>
                      </a:r>
                    </a:p>
                  </a:txBody>
                  <a:tcPr anchor="ctr">
                    <a:solidFill>
                      <a:srgbClr val="FF9900"/>
                    </a:solidFill>
                  </a:tcPr>
                </a:tc>
                <a:extLst>
                  <a:ext uri="{0D108BD9-81ED-4DB2-BD59-A6C34878D82A}">
                    <a16:rowId xmlns:a16="http://schemas.microsoft.com/office/drawing/2014/main" val="3948019514"/>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Accuracy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98.85</a:t>
                      </a:r>
                    </a:p>
                  </a:txBody>
                  <a:tcPr anchor="ctr">
                    <a:solidFill>
                      <a:srgbClr val="92D050"/>
                    </a:solidFill>
                  </a:tcPr>
                </a:tc>
                <a:extLst>
                  <a:ext uri="{0D108BD9-81ED-4DB2-BD59-A6C34878D82A}">
                    <a16:rowId xmlns:a16="http://schemas.microsoft.com/office/drawing/2014/main" val="1535214549"/>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Precision</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99.49</a:t>
                      </a:r>
                    </a:p>
                  </a:txBody>
                  <a:tcPr anchor="ctr">
                    <a:solidFill>
                      <a:srgbClr val="92D050"/>
                    </a:solidFill>
                  </a:tcPr>
                </a:tc>
                <a:tc>
                  <a:txBody>
                    <a:bodyPr/>
                    <a:lstStyle/>
                    <a:p>
                      <a:pPr algn="ctr">
                        <a:buNone/>
                      </a:pPr>
                      <a:r>
                        <a:rPr lang="en-IN" sz="1800">
                          <a:latin typeface="Times New Roman" panose="02020603050405020304" pitchFamily="18" charset="0"/>
                          <a:cs typeface="Times New Roman" panose="02020603050405020304" pitchFamily="18" charset="0"/>
                        </a:rPr>
                        <a:t>99.43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25503247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Recall</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99.30</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99.23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99.39</a:t>
                      </a:r>
                    </a:p>
                  </a:txBody>
                  <a:tcPr anchor="ctr">
                    <a:solidFill>
                      <a:srgbClr val="92D050"/>
                    </a:solidFill>
                  </a:tcPr>
                </a:tc>
                <a:extLst>
                  <a:ext uri="{0D108BD9-81ED-4DB2-BD59-A6C34878D82A}">
                    <a16:rowId xmlns:a16="http://schemas.microsoft.com/office/drawing/2014/main" val="26201786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F1</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99.41</a:t>
                      </a:r>
                    </a:p>
                  </a:txBody>
                  <a:tcPr anchor="ctr">
                    <a:solidFill>
                      <a:srgbClr val="92D050"/>
                    </a:solidFill>
                  </a:tcPr>
                </a:tc>
                <a:extLst>
                  <a:ext uri="{0D108BD9-81ED-4DB2-BD59-A6C34878D82A}">
                    <a16:rowId xmlns:a16="http://schemas.microsoft.com/office/drawing/2014/main" val="26423785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AUC</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99.56</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373579730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Specificity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75.94</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78.61</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76.42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177198457"/>
                  </a:ext>
                </a:extLst>
              </a:tr>
            </a:tbl>
          </a:graphicData>
        </a:graphic>
      </p:graphicFrame>
    </p:spTree>
    <p:extLst>
      <p:ext uri="{BB962C8B-B14F-4D97-AF65-F5344CB8AC3E}">
        <p14:creationId xmlns:p14="http://schemas.microsoft.com/office/powerpoint/2010/main" val="220390057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DCA7-1F45-67B5-79B1-A08FF2AE2E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6CC2A1-6F63-6B74-8FA9-555A470FC83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6" name="TextBox 5">
            <a:extLst>
              <a:ext uri="{FF2B5EF4-FFF2-40B4-BE49-F238E27FC236}">
                <a16:creationId xmlns:a16="http://schemas.microsoft.com/office/drawing/2014/main" id="{046D9AD5-5C4A-E782-00CB-F0B21589B49C}"/>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 – SNE Visualisation</a:t>
            </a:r>
          </a:p>
        </p:txBody>
      </p:sp>
      <p:pic>
        <p:nvPicPr>
          <p:cNvPr id="8" name="Picture 7">
            <a:extLst>
              <a:ext uri="{FF2B5EF4-FFF2-40B4-BE49-F238E27FC236}">
                <a16:creationId xmlns:a16="http://schemas.microsoft.com/office/drawing/2014/main" id="{252A525E-F295-6B4B-FA32-6DA0D2B1CB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7513" y="1340768"/>
            <a:ext cx="5760000" cy="4320000"/>
          </a:xfrm>
          <a:prstGeom prst="rect">
            <a:avLst/>
          </a:prstGeom>
        </p:spPr>
      </p:pic>
    </p:spTree>
    <p:extLst>
      <p:ext uri="{BB962C8B-B14F-4D97-AF65-F5344CB8AC3E}">
        <p14:creationId xmlns:p14="http://schemas.microsoft.com/office/powerpoint/2010/main" val="73623228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FCAA-C52A-8522-812A-C20B4E902E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A5850B-399F-B5D8-BEFC-1FABFE862B9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CONCLUSION</a:t>
            </a:r>
          </a:p>
        </p:txBody>
      </p:sp>
      <p:grpSp>
        <p:nvGrpSpPr>
          <p:cNvPr id="2" name="Group 1">
            <a:extLst>
              <a:ext uri="{FF2B5EF4-FFF2-40B4-BE49-F238E27FC236}">
                <a16:creationId xmlns:a16="http://schemas.microsoft.com/office/drawing/2014/main" id="{96E11A5C-A4DC-95B8-ECCA-34179B0FBBAE}"/>
              </a:ext>
            </a:extLst>
          </p:cNvPr>
          <p:cNvGrpSpPr/>
          <p:nvPr/>
        </p:nvGrpSpPr>
        <p:grpSpPr>
          <a:xfrm>
            <a:off x="1019263" y="980728"/>
            <a:ext cx="2664296" cy="2141190"/>
            <a:chOff x="457200" y="1420927"/>
            <a:chExt cx="3060700" cy="2457808"/>
          </a:xfrm>
        </p:grpSpPr>
        <p:sp>
          <p:nvSpPr>
            <p:cNvPr id="4" name="Rectangle: Rounded Corners 3">
              <a:extLst>
                <a:ext uri="{FF2B5EF4-FFF2-40B4-BE49-F238E27FC236}">
                  <a16:creationId xmlns:a16="http://schemas.microsoft.com/office/drawing/2014/main" id="{A6287DE3-5128-7D48-7B1F-789E0693E24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Excellent Feature Selection.</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AUC</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Stable learning</a:t>
              </a:r>
            </a:p>
          </p:txBody>
        </p:sp>
        <p:grpSp>
          <p:nvGrpSpPr>
            <p:cNvPr id="5" name="Group 4">
              <a:extLst>
                <a:ext uri="{FF2B5EF4-FFF2-40B4-BE49-F238E27FC236}">
                  <a16:creationId xmlns:a16="http://schemas.microsoft.com/office/drawing/2014/main" id="{18817321-B86A-EBBD-F7B5-DF445DB21CB0}"/>
                </a:ext>
              </a:extLst>
            </p:cNvPr>
            <p:cNvGrpSpPr/>
            <p:nvPr/>
          </p:nvGrpSpPr>
          <p:grpSpPr>
            <a:xfrm>
              <a:off x="457200" y="1420927"/>
              <a:ext cx="3048000" cy="459960"/>
              <a:chOff x="457200" y="1420927"/>
              <a:chExt cx="3048000" cy="459960"/>
            </a:xfrm>
          </p:grpSpPr>
          <p:sp>
            <p:nvSpPr>
              <p:cNvPr id="7" name="Rectangle: Rounded Corners 6">
                <a:extLst>
                  <a:ext uri="{FF2B5EF4-FFF2-40B4-BE49-F238E27FC236}">
                    <a16:creationId xmlns:a16="http://schemas.microsoft.com/office/drawing/2014/main" id="{DCCA23F9-8F8B-E2FB-D7CA-7A8D24A0D671}"/>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57243F9-337D-E3EE-D233-F5E400580EB5}"/>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CNN</a:t>
                </a:r>
              </a:p>
            </p:txBody>
          </p:sp>
        </p:grpSp>
      </p:grpSp>
      <p:grpSp>
        <p:nvGrpSpPr>
          <p:cNvPr id="10" name="Group 9">
            <a:extLst>
              <a:ext uri="{FF2B5EF4-FFF2-40B4-BE49-F238E27FC236}">
                <a16:creationId xmlns:a16="http://schemas.microsoft.com/office/drawing/2014/main" id="{AB2ACC48-D6FC-50E6-313D-852A7A811797}"/>
              </a:ext>
            </a:extLst>
          </p:cNvPr>
          <p:cNvGrpSpPr/>
          <p:nvPr/>
        </p:nvGrpSpPr>
        <p:grpSpPr>
          <a:xfrm>
            <a:off x="4043599" y="980728"/>
            <a:ext cx="2952328" cy="2141190"/>
            <a:chOff x="457200" y="1420927"/>
            <a:chExt cx="3060700" cy="2457808"/>
          </a:xfrm>
        </p:grpSpPr>
        <p:sp>
          <p:nvSpPr>
            <p:cNvPr id="11" name="Rectangle: Rounded Corners 10">
              <a:extLst>
                <a:ext uri="{FF2B5EF4-FFF2-40B4-BE49-F238E27FC236}">
                  <a16:creationId xmlns:a16="http://schemas.microsoft.com/office/drawing/2014/main" id="{A9341C80-C19F-2FA5-FF9F-EFD5FB043DA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Simple Architecture</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 Specificity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Low Computational Complexity.</a:t>
              </a:r>
            </a:p>
          </p:txBody>
        </p:sp>
        <p:grpSp>
          <p:nvGrpSpPr>
            <p:cNvPr id="12" name="Group 11">
              <a:extLst>
                <a:ext uri="{FF2B5EF4-FFF2-40B4-BE49-F238E27FC236}">
                  <a16:creationId xmlns:a16="http://schemas.microsoft.com/office/drawing/2014/main" id="{AC868291-AF3B-79F9-6E74-4E20747F66BD}"/>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2D8EDED-9F5A-BA31-E175-E6AF47947A9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660931A-2342-656F-9D46-743A2C8F7187}"/>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ANN</a:t>
                </a:r>
              </a:p>
            </p:txBody>
          </p:sp>
        </p:grpSp>
      </p:grpSp>
      <p:grpSp>
        <p:nvGrpSpPr>
          <p:cNvPr id="15" name="Group 14">
            <a:extLst>
              <a:ext uri="{FF2B5EF4-FFF2-40B4-BE49-F238E27FC236}">
                <a16:creationId xmlns:a16="http://schemas.microsoft.com/office/drawing/2014/main" id="{7A15C5DB-ED0E-F14B-56BD-15B1782A19F5}"/>
              </a:ext>
            </a:extLst>
          </p:cNvPr>
          <p:cNvGrpSpPr/>
          <p:nvPr/>
        </p:nvGrpSpPr>
        <p:grpSpPr>
          <a:xfrm>
            <a:off x="7344097" y="980728"/>
            <a:ext cx="2952328" cy="2141190"/>
            <a:chOff x="457200" y="1420927"/>
            <a:chExt cx="3060700" cy="2457808"/>
          </a:xfrm>
        </p:grpSpPr>
        <p:sp>
          <p:nvSpPr>
            <p:cNvPr id="16" name="Rectangle: Rounded Corners 15">
              <a:extLst>
                <a:ext uri="{FF2B5EF4-FFF2-40B4-BE49-F238E27FC236}">
                  <a16:creationId xmlns:a16="http://schemas.microsoft.com/office/drawing/2014/main" id="{17226375-8B43-91DB-F149-AAEFF20361F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Accuracy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Recall</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Best Overall Performance.</a:t>
              </a:r>
            </a:p>
          </p:txBody>
        </p:sp>
        <p:grpSp>
          <p:nvGrpSpPr>
            <p:cNvPr id="17" name="Group 16">
              <a:extLst>
                <a:ext uri="{FF2B5EF4-FFF2-40B4-BE49-F238E27FC236}">
                  <a16:creationId xmlns:a16="http://schemas.microsoft.com/office/drawing/2014/main" id="{DAEC3F96-7138-E346-1FFD-65F82C462AEC}"/>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F1832406-7F80-4F82-437C-E3E2738E6E0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17F67C9-F48E-6C21-E639-2F071B937D78}"/>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Random Forest</a:t>
                </a:r>
              </a:p>
            </p:txBody>
          </p:sp>
        </p:grpSp>
      </p:grpSp>
      <p:sp>
        <p:nvSpPr>
          <p:cNvPr id="23" name="Rectangle: Rounded Corners 22">
            <a:extLst>
              <a:ext uri="{FF2B5EF4-FFF2-40B4-BE49-F238E27FC236}">
                <a16:creationId xmlns:a16="http://schemas.microsoft.com/office/drawing/2014/main" id="{C1687FAE-2413-DA9E-48BF-06E27E3270F8}"/>
              </a:ext>
            </a:extLst>
          </p:cNvPr>
          <p:cNvSpPr/>
          <p:nvPr/>
        </p:nvSpPr>
        <p:spPr>
          <a:xfrm>
            <a:off x="1871489" y="3939244"/>
            <a:ext cx="7488832" cy="731129"/>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81586399-8E9E-84CC-351C-9C04C3FFFB95}"/>
              </a:ext>
            </a:extLst>
          </p:cNvPr>
          <p:cNvSpPr txBox="1"/>
          <p:nvPr/>
        </p:nvSpPr>
        <p:spPr>
          <a:xfrm>
            <a:off x="1815546" y="3981315"/>
            <a:ext cx="760071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Random Forest performed best on structured tabular IoT traffic, whereas CNN demonstrated that deep learning can also achieve competitive performance.</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5010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22CF0561-C9DB-8C21-DCFD-5FBCF1F2E0A8}"/>
              </a:ext>
            </a:extLst>
          </p:cNvPr>
          <p:cNvSpPr txBox="1"/>
          <p:nvPr/>
        </p:nvSpPr>
        <p:spPr>
          <a:xfrm>
            <a:off x="0" y="764704"/>
            <a:ext cx="10584457" cy="5599097"/>
          </a:xfrm>
          <a:prstGeom prst="rect">
            <a:avLst/>
          </a:prstGeom>
          <a:noFill/>
        </p:spPr>
        <p:txBody>
          <a:bodyPr wrap="square" rtlCol="0">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[1] M. Bhavsar, K. Roy, J. Kelly, and O. Olusola, "Anomaly-Based Intrusion Detection System for IoT Application," Journal of Reliable Intelligent Environments, Springer, 2025.</a:t>
            </a:r>
          </a:p>
          <a:p>
            <a:pPr algn="just">
              <a:lnSpc>
                <a:spcPct val="150000"/>
              </a:lnSpc>
            </a:pPr>
            <a:r>
              <a:rPr lang="en-IN" sz="1200" dirty="0">
                <a:latin typeface="Times New Roman" panose="02020603050405020304" pitchFamily="18" charset="0"/>
                <a:cs typeface="Times New Roman" panose="02020603050405020304" pitchFamily="18" charset="0"/>
              </a:rPr>
              <a:t>[2] S. </a:t>
            </a:r>
            <a:r>
              <a:rPr lang="en-IN" sz="1200" dirty="0" err="1">
                <a:latin typeface="Times New Roman" panose="02020603050405020304" pitchFamily="18" charset="0"/>
                <a:cs typeface="Times New Roman" panose="02020603050405020304" pitchFamily="18" charset="0"/>
              </a:rPr>
              <a:t>Almahaqeri</a:t>
            </a:r>
            <a:r>
              <a:rPr lang="en-IN" sz="1200" dirty="0">
                <a:latin typeface="Times New Roman" panose="02020603050405020304" pitchFamily="18" charset="0"/>
                <a:cs typeface="Times New Roman" panose="02020603050405020304" pitchFamily="18" charset="0"/>
              </a:rPr>
              <a:t>, M. H. </a:t>
            </a:r>
            <a:r>
              <a:rPr lang="en-IN" sz="1200" dirty="0" err="1">
                <a:latin typeface="Times New Roman" panose="02020603050405020304" pitchFamily="18" charset="0"/>
                <a:cs typeface="Times New Roman" panose="02020603050405020304" pitchFamily="18" charset="0"/>
              </a:rPr>
              <a:t>Almourish</a:t>
            </a:r>
            <a:r>
              <a:rPr lang="en-IN" sz="1200" dirty="0">
                <a:latin typeface="Times New Roman" panose="02020603050405020304" pitchFamily="18" charset="0"/>
                <a:cs typeface="Times New Roman" panose="02020603050405020304" pitchFamily="18" charset="0"/>
              </a:rPr>
              <a:t>, A. A. Nasser, A. S. A. </a:t>
            </a:r>
            <a:r>
              <a:rPr lang="en-IN" sz="1200" dirty="0" err="1">
                <a:latin typeface="Times New Roman" panose="02020603050405020304" pitchFamily="18" charset="0"/>
                <a:cs typeface="Times New Roman" panose="02020603050405020304" pitchFamily="18" charset="0"/>
              </a:rPr>
              <a:t>Alghawli</a:t>
            </a:r>
            <a:r>
              <a:rPr lang="en-IN" sz="1200" dirty="0">
                <a:latin typeface="Times New Roman" panose="02020603050405020304" pitchFamily="18" charset="0"/>
                <a:cs typeface="Times New Roman" panose="02020603050405020304" pitchFamily="18" charset="0"/>
              </a:rPr>
              <a:t>, A. A. K. Elsayed, and A. N. </a:t>
            </a:r>
            <a:r>
              <a:rPr lang="en-IN" sz="1200" dirty="0" err="1">
                <a:latin typeface="Times New Roman" panose="02020603050405020304" pitchFamily="18" charset="0"/>
                <a:cs typeface="Times New Roman" panose="02020603050405020304" pitchFamily="18" charset="0"/>
              </a:rPr>
              <a:t>Alhejoj</a:t>
            </a:r>
            <a:r>
              <a:rPr lang="en-IN" sz="1200" dirty="0">
                <a:latin typeface="Times New Roman" panose="02020603050405020304" pitchFamily="18" charset="0"/>
                <a:cs typeface="Times New Roman" panose="02020603050405020304" pitchFamily="18" charset="0"/>
              </a:rPr>
              <a:t>, "A Multi-Class Classification Model on CICIoT2023 Using Kolmogorov–Arnold Networks and Tree Ensembles," Scientific Reports, vol. 16, art. no. 47399, Apr.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10.1038/s41598-026-47399-5.</a:t>
            </a:r>
          </a:p>
          <a:p>
            <a:pPr algn="just">
              <a:lnSpc>
                <a:spcPct val="150000"/>
              </a:lnSpc>
            </a:pPr>
            <a:r>
              <a:rPr lang="en-IN" sz="1200" dirty="0">
                <a:latin typeface="Times New Roman" panose="02020603050405020304" pitchFamily="18" charset="0"/>
                <a:cs typeface="Times New Roman" panose="02020603050405020304" pitchFamily="18" charset="0"/>
              </a:rPr>
              <a:t>[3] D. Akgun, S. </a:t>
            </a:r>
            <a:r>
              <a:rPr lang="en-IN" sz="1200" dirty="0" err="1">
                <a:latin typeface="Times New Roman" panose="02020603050405020304" pitchFamily="18" charset="0"/>
                <a:cs typeface="Times New Roman" panose="02020603050405020304" pitchFamily="18" charset="0"/>
              </a:rPr>
              <a:t>Hizal</a:t>
            </a:r>
            <a:r>
              <a:rPr lang="en-IN" sz="1200" dirty="0">
                <a:latin typeface="Times New Roman" panose="02020603050405020304" pitchFamily="18" charset="0"/>
                <a:cs typeface="Times New Roman" panose="02020603050405020304" pitchFamily="18" charset="0"/>
              </a:rPr>
              <a:t>, and U. Cavusoglu, "A New DDoS Attacks Intrusion Detection Model Based on Deep Learning for Cybersecurity," Computers &amp; Security, 2025.</a:t>
            </a:r>
          </a:p>
          <a:p>
            <a:pPr algn="just">
              <a:lnSpc>
                <a:spcPct val="150000"/>
              </a:lnSpc>
            </a:pPr>
            <a:r>
              <a:rPr lang="en-IN" sz="1200" dirty="0">
                <a:latin typeface="Times New Roman" panose="02020603050405020304" pitchFamily="18" charset="0"/>
                <a:cs typeface="Times New Roman" panose="02020603050405020304" pitchFamily="18" charset="0"/>
              </a:rPr>
              <a:t>[4] X. Gao, C. Shan, C. Hu, Z. Niu, and Z. Liu, "An Adaptive Ensemble Machine Learning Model for Intrusion Detection," IEEE Access, vol. 7, pp. 82512–82521, 2019,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10.1109/ACCESS.2019.2923640.</a:t>
            </a:r>
          </a:p>
          <a:p>
            <a:pPr algn="just">
              <a:lnSpc>
                <a:spcPct val="150000"/>
              </a:lnSpc>
            </a:pPr>
            <a:r>
              <a:rPr lang="en-IN" sz="1200" dirty="0">
                <a:latin typeface="Times New Roman" panose="02020603050405020304" pitchFamily="18" charset="0"/>
                <a:cs typeface="Times New Roman" panose="02020603050405020304" pitchFamily="18" charset="0"/>
              </a:rPr>
              <a:t>[5] N. G. Pardeshi and D. V. Patil, "Binary and Multiclass Classification Intrusion Detection System Using Benchmark NSL-KDD and Machine Learning Models," in Proceedings of the International Conference on Data Science and Network Security (ICDSNS), 2024, pp. 1–6.</a:t>
            </a:r>
          </a:p>
          <a:p>
            <a:pPr algn="just">
              <a:lnSpc>
                <a:spcPct val="150000"/>
              </a:lnSpc>
            </a:pPr>
            <a:r>
              <a:rPr lang="en-IN" sz="1200" dirty="0">
                <a:latin typeface="Times New Roman" panose="02020603050405020304" pitchFamily="18" charset="0"/>
                <a:cs typeface="Times New Roman" panose="02020603050405020304" pitchFamily="18" charset="0"/>
              </a:rPr>
              <a:t>[6] A. Hinojosa and N. E. Majd, "Edge Computing Network Intrusion Detection System in IoT Using Deep Learning," in Proceedings of the IEEE International Conference on Computer Science and Information Systems, 2024, pp. 1–6.</a:t>
            </a:r>
          </a:p>
          <a:p>
            <a:pPr algn="just">
              <a:lnSpc>
                <a:spcPct val="150000"/>
              </a:lnSpc>
            </a:pPr>
            <a:r>
              <a:rPr lang="en-IN" sz="1200" dirty="0">
                <a:latin typeface="Times New Roman" panose="02020603050405020304" pitchFamily="18" charset="0"/>
                <a:cs typeface="Times New Roman" panose="02020603050405020304" pitchFamily="18" charset="0"/>
              </a:rPr>
              <a:t>[7] A. </a:t>
            </a:r>
            <a:r>
              <a:rPr lang="en-IN" sz="1200" dirty="0" err="1">
                <a:latin typeface="Times New Roman" panose="02020603050405020304" pitchFamily="18" charset="0"/>
                <a:cs typeface="Times New Roman" panose="02020603050405020304" pitchFamily="18" charset="0"/>
              </a:rPr>
              <a:t>Berguiga</a:t>
            </a:r>
            <a:r>
              <a:rPr lang="en-IN" sz="1200" dirty="0">
                <a:latin typeface="Times New Roman" panose="02020603050405020304" pitchFamily="18" charset="0"/>
                <a:cs typeface="Times New Roman" panose="02020603050405020304" pitchFamily="18" charset="0"/>
              </a:rPr>
              <a:t>, A. </a:t>
            </a:r>
            <a:r>
              <a:rPr lang="en-IN" sz="1200" dirty="0" err="1">
                <a:latin typeface="Times New Roman" panose="02020603050405020304" pitchFamily="18" charset="0"/>
                <a:cs typeface="Times New Roman" panose="02020603050405020304" pitchFamily="18" charset="0"/>
              </a:rPr>
              <a:t>Harchay</a:t>
            </a:r>
            <a:r>
              <a:rPr lang="en-IN" sz="1200" dirty="0">
                <a:latin typeface="Times New Roman" panose="02020603050405020304" pitchFamily="18" charset="0"/>
                <a:cs typeface="Times New Roman" panose="02020603050405020304" pitchFamily="18" charset="0"/>
              </a:rPr>
              <a:t>, and A. </a:t>
            </a:r>
            <a:r>
              <a:rPr lang="en-IN" sz="1200" dirty="0" err="1">
                <a:latin typeface="Times New Roman" panose="02020603050405020304" pitchFamily="18" charset="0"/>
                <a:cs typeface="Times New Roman" panose="02020603050405020304" pitchFamily="18" charset="0"/>
              </a:rPr>
              <a:t>Massaoudi</a:t>
            </a:r>
            <a:r>
              <a:rPr lang="en-IN" sz="1200" dirty="0">
                <a:latin typeface="Times New Roman" panose="02020603050405020304" pitchFamily="18" charset="0"/>
                <a:cs typeface="Times New Roman" panose="02020603050405020304" pitchFamily="18" charset="0"/>
              </a:rPr>
              <a:t>, "HIDS-IoMT: A Deep Learning-Based Intelligent Intrusion Detection System for the Internet of Medical Things," IEEE Access, vol. 13, pp. 32145–32158, 2025,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10.1109/ACCESS.2025.3543127.</a:t>
            </a:r>
          </a:p>
          <a:p>
            <a:pPr algn="just">
              <a:lnSpc>
                <a:spcPct val="150000"/>
              </a:lnSpc>
            </a:pPr>
            <a:r>
              <a:rPr lang="en-IN" sz="1200" dirty="0">
                <a:latin typeface="Times New Roman" panose="02020603050405020304" pitchFamily="18" charset="0"/>
                <a:cs typeface="Times New Roman" panose="02020603050405020304" pitchFamily="18" charset="0"/>
              </a:rPr>
              <a:t>[8] N. Hassouneh and S. Al-</a:t>
            </a:r>
            <a:r>
              <a:rPr lang="en-IN" sz="1200" dirty="0" err="1">
                <a:latin typeface="Times New Roman" panose="02020603050405020304" pitchFamily="18" charset="0"/>
                <a:cs typeface="Times New Roman" panose="02020603050405020304" pitchFamily="18" charset="0"/>
              </a:rPr>
              <a:t>Sharaeh</a:t>
            </a:r>
            <a:r>
              <a:rPr lang="en-IN" sz="1200" dirty="0">
                <a:latin typeface="Times New Roman" panose="02020603050405020304" pitchFamily="18" charset="0"/>
                <a:cs typeface="Times New Roman" panose="02020603050405020304" pitchFamily="18" charset="0"/>
              </a:rPr>
              <a:t>, "Intrusion Detection in IoT Networks Using LSTM Deep Learning Models with the UNSW-NB15 Dataset," in Proceedings of the IEEE International Conference on Platform Technology and Service, 2024, pp. 1–6.</a:t>
            </a:r>
          </a:p>
          <a:p>
            <a:pPr algn="just">
              <a:lnSpc>
                <a:spcPct val="150000"/>
              </a:lnSpc>
            </a:pPr>
            <a:r>
              <a:rPr lang="en-IN" sz="1200" dirty="0">
                <a:latin typeface="Times New Roman" panose="02020603050405020304" pitchFamily="18" charset="0"/>
                <a:cs typeface="Times New Roman" panose="02020603050405020304" pitchFamily="18" charset="0"/>
              </a:rPr>
              <a:t>[9] A. </a:t>
            </a:r>
            <a:r>
              <a:rPr lang="en-IN" sz="1200" dirty="0" err="1">
                <a:latin typeface="Times New Roman" panose="02020603050405020304" pitchFamily="18" charset="0"/>
                <a:cs typeface="Times New Roman" panose="02020603050405020304" pitchFamily="18" charset="0"/>
              </a:rPr>
              <a:t>Alsarhan</a:t>
            </a:r>
            <a:r>
              <a:rPr lang="en-IN" sz="1200" dirty="0">
                <a:latin typeface="Times New Roman" panose="02020603050405020304" pitchFamily="18" charset="0"/>
                <a:cs typeface="Times New Roman" panose="02020603050405020304" pitchFamily="18" charset="0"/>
              </a:rPr>
              <a:t>, M. </a:t>
            </a:r>
            <a:r>
              <a:rPr lang="en-IN" sz="1200" dirty="0" err="1">
                <a:latin typeface="Times New Roman" panose="02020603050405020304" pitchFamily="18" charset="0"/>
                <a:cs typeface="Times New Roman" panose="02020603050405020304" pitchFamily="18" charset="0"/>
              </a:rPr>
              <a:t>Barhoush</a:t>
            </a:r>
            <a:r>
              <a:rPr lang="en-IN" sz="1200" dirty="0">
                <a:latin typeface="Times New Roman" panose="02020603050405020304" pitchFamily="18" charset="0"/>
                <a:cs typeface="Times New Roman" panose="02020603050405020304" pitchFamily="18" charset="0"/>
              </a:rPr>
              <a:t>, B. </a:t>
            </a:r>
            <a:r>
              <a:rPr lang="en-IN" sz="1200" dirty="0" err="1">
                <a:latin typeface="Times New Roman" panose="02020603050405020304" pitchFamily="18" charset="0"/>
                <a:cs typeface="Times New Roman" panose="02020603050405020304" pitchFamily="18" charset="0"/>
              </a:rPr>
              <a:t>Khassawneh</a:t>
            </a:r>
            <a:r>
              <a:rPr lang="en-IN" sz="1200" dirty="0">
                <a:latin typeface="Times New Roman" panose="02020603050405020304" pitchFamily="18" charset="0"/>
                <a:cs typeface="Times New Roman" panose="02020603050405020304" pitchFamily="18" charset="0"/>
              </a:rPr>
              <a:t>, M. Al-Essa, M. </a:t>
            </a:r>
            <a:r>
              <a:rPr lang="en-IN" sz="1200" dirty="0" err="1">
                <a:latin typeface="Times New Roman" panose="02020603050405020304" pitchFamily="18" charset="0"/>
                <a:cs typeface="Times New Roman" panose="02020603050405020304" pitchFamily="18" charset="0"/>
              </a:rPr>
              <a:t>Aljaidi</a:t>
            </a:r>
            <a:r>
              <a:rPr lang="en-IN" sz="1200" dirty="0">
                <a:latin typeface="Times New Roman" panose="02020603050405020304" pitchFamily="18" charset="0"/>
                <a:cs typeface="Times New Roman" panose="02020603050405020304" pitchFamily="18" charset="0"/>
              </a:rPr>
              <a:t>, and Q. Al-</a:t>
            </a:r>
            <a:r>
              <a:rPr lang="en-IN" sz="1200" dirty="0" err="1">
                <a:latin typeface="Times New Roman" panose="02020603050405020304" pitchFamily="18" charset="0"/>
                <a:cs typeface="Times New Roman" panose="02020603050405020304" pitchFamily="18" charset="0"/>
              </a:rPr>
              <a:t>Na'amneh</a:t>
            </a:r>
            <a:r>
              <a:rPr lang="en-IN" sz="1200" dirty="0">
                <a:latin typeface="Times New Roman" panose="02020603050405020304" pitchFamily="18" charset="0"/>
                <a:cs typeface="Times New Roman" panose="02020603050405020304" pitchFamily="18" charset="0"/>
              </a:rPr>
              <a:t>, "Deep Learning Utilization for DDoS Attack Detection with Federated Learning: A Case Study on the CICDDoS2019 Dataset," Engineering, Technology &amp; Applied Science Research, vol. 16, no. 1, pp. 31203–31208, Feb.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10.48084/etasr.14119.</a:t>
            </a:r>
          </a:p>
          <a:p>
            <a:pPr algn="just">
              <a:lnSpc>
                <a:spcPct val="150000"/>
              </a:lnSpc>
            </a:pPr>
            <a:r>
              <a:rPr lang="en-IN" sz="1200" dirty="0">
                <a:latin typeface="Times New Roman" panose="02020603050405020304" pitchFamily="18" charset="0"/>
                <a:cs typeface="Times New Roman" panose="02020603050405020304" pitchFamily="18" charset="0"/>
              </a:rPr>
              <a:t>[10] Amali, A. A. </a:t>
            </a:r>
            <a:r>
              <a:rPr lang="en-IN" sz="1200" dirty="0" err="1">
                <a:latin typeface="Times New Roman" panose="02020603050405020304" pitchFamily="18" charset="0"/>
                <a:cs typeface="Times New Roman" panose="02020603050405020304" pitchFamily="18" charset="0"/>
              </a:rPr>
              <a:t>Sulaeman</a:t>
            </a:r>
            <a:r>
              <a:rPr lang="en-IN" sz="1200" dirty="0">
                <a:latin typeface="Times New Roman" panose="02020603050405020304" pitchFamily="18" charset="0"/>
                <a:cs typeface="Times New Roman" panose="02020603050405020304" pitchFamily="18" charset="0"/>
              </a:rPr>
              <a:t>, A. M. Rifa'i, S. Raharjo, and E. Utami, "Detecting DDoS Attacks Through Decision Tree Analysis: An EDA Approach with the CIC DDoS 2019 Dataset," in Proceedings of the International Conference on Information Technology and Computer Science, 2024, pp. 1–6.</a:t>
            </a:r>
          </a:p>
        </p:txBody>
      </p:sp>
    </p:spTree>
    <p:extLst>
      <p:ext uri="{BB962C8B-B14F-4D97-AF65-F5344CB8AC3E}">
        <p14:creationId xmlns:p14="http://schemas.microsoft.com/office/powerpoint/2010/main" val="21263529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539" y="1982450"/>
            <a:ext cx="7148684"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dirty="0">
                <a:solidFill>
                  <a:srgbClr val="D47D26"/>
                </a:solidFill>
                <a:latin typeface="Times New Roman" panose="02020603050405020304" pitchFamily="18" charset="0"/>
                <a:cs typeface="Times New Roman" panose="02020603050405020304" pitchFamily="18" charset="0"/>
              </a:rPr>
              <a:t>THANK</a:t>
            </a:r>
            <a:r>
              <a:rPr lang="en-US" sz="8800" dirty="0">
                <a:latin typeface="Times New Roman" panose="02020603050405020304" pitchFamily="18" charset="0"/>
                <a:cs typeface="Times New Roman" panose="02020603050405020304" pitchFamily="18" charset="0"/>
              </a:rPr>
              <a:t> </a:t>
            </a:r>
            <a:r>
              <a:rPr lang="en-US" sz="4800" b="1" dirty="0">
                <a:solidFill>
                  <a:srgbClr val="D47D26"/>
                </a:solidFill>
                <a:latin typeface="Times New Roman" panose="02020603050405020304" pitchFamily="18" charset="0"/>
                <a:cs typeface="Times New Roman" panose="02020603050405020304" pitchFamily="18" charset="0"/>
              </a:rPr>
              <a:t>YOU</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84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21351</TotalTime>
  <Words>1829</Words>
  <Application>Microsoft Office PowerPoint</Application>
  <PresentationFormat>Custom</PresentationFormat>
  <Paragraphs>273</Paragraphs>
  <Slides>22</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Sabon LT Std</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lastModifiedBy>Erramuri Dhanush RajKumar</cp:lastModifiedBy>
  <cp:revision>893</cp:revision>
  <dcterms:created xsi:type="dcterms:W3CDTF">2007-08-14T09:37:21Z</dcterms:created>
  <dcterms:modified xsi:type="dcterms:W3CDTF">2026-09-23T22:29:53Z</dcterms:modified>
</cp:coreProperties>
</file>