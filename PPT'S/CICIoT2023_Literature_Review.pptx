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60120" y="32004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C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buNone/>
            </a:pPr>
            <a:r>
              <a:rPr lang="en-US" sz="1200" b="1" spc="150" kern="0" dirty="0">
                <a:solidFill>
                  <a:srgbClr val="6B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2179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Papers Using the CICIoT2023 Dataset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A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studies built exclusively on CICIoT2023 (UNB / Canadian Institute for Cybersecurity)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25603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D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2B2118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548640" y="2002536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34D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46.7M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5328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37560" y="1874520"/>
            <a:ext cx="25603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D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2B2118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337560" y="2002536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34D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 / 7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3337560" y="25328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Attacks / Classes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26480" y="1874520"/>
            <a:ext cx="25603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D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2B2118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126480" y="2002536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34D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105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6126480" y="25328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IoT Devices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915400" y="1874520"/>
            <a:ext cx="25603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D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2B2118">
                <a:alpha val="1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915400" y="2002536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34D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~47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25328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Features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200400"/>
            <a:ext cx="1106424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D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2B2118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13232" y="3291840"/>
            <a:ext cx="329184" cy="329184"/>
          </a:xfrm>
          <a:prstGeom prst="ellipse">
            <a:avLst/>
          </a:prstGeom>
          <a:solidFill>
            <a:srgbClr val="1F2A4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3232" y="32644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1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234440" y="32369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CICIoT2023: A Real-Time Dataset and Benchmark for Large-Scale Attacks in IoT Environment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3493008"/>
            <a:ext cx="10149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Neto et al., 2023 — Sensors (the original dataset paper)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8640" y="3785616"/>
            <a:ext cx="1106424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D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2B2118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13232" y="3877056"/>
            <a:ext cx="329184" cy="329184"/>
          </a:xfrm>
          <a:prstGeom prst="ellipse">
            <a:avLst/>
          </a:prstGeom>
          <a:solidFill>
            <a:srgbClr val="1F2A4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13232" y="38496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2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234440" y="3822192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IIDS: Design of Intelligent Intrusion Detection System for IoT Applications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1234440" y="4078224"/>
            <a:ext cx="10149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Narayan et al., 2023 — arXiv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48640" y="4370832"/>
            <a:ext cx="1106424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D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2B2118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13232" y="4462272"/>
            <a:ext cx="329184" cy="329184"/>
          </a:xfrm>
          <a:prstGeom prst="ellipse">
            <a:avLst/>
          </a:prstGeom>
          <a:solidFill>
            <a:srgbClr val="1F2A4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13232" y="44348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3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234440" y="4407408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Two-Step Data Clustering for Improved Intrusion Detection System Using CICIoT2023 Dataset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1234440" y="4663440"/>
            <a:ext cx="10149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Gheni &amp; Al-Yaseen, 2024 — e-Prime (Elsevier)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48640" y="4956048"/>
            <a:ext cx="1106424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D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2B2118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13232" y="5047488"/>
            <a:ext cx="329184" cy="329184"/>
          </a:xfrm>
          <a:prstGeom prst="ellipse">
            <a:avLst/>
          </a:prstGeom>
          <a:solidFill>
            <a:srgbClr val="1F2A44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13232" y="50200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4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1234440" y="4992624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Deep Learning Variants for Cyber-Attacks Detection and Multi-Class Classification in IoT Networks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1234440" y="5248656"/>
            <a:ext cx="10149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Abbas et al., 2024 — PeerJ Computer Science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48640" y="5541264"/>
            <a:ext cx="1106424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D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2B2118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13232" y="5632704"/>
            <a:ext cx="329184" cy="329184"/>
          </a:xfrm>
          <a:prstGeom prst="ellipse">
            <a:avLst/>
          </a:prstGeom>
          <a:solidFill>
            <a:srgbClr val="1F2A44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713232" y="56052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5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1234440" y="5577840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Optimizing Intrusion Detection for DoS, DDoS, and Mirai Attacks Subtypes Using Hierarchical Feature Selection and CatBoost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1234440" y="5833872"/>
            <a:ext cx="10149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Hajjouz &amp; Avksentieva, 2024 — Data and Metadata</a:t>
            </a:r>
            <a:endParaRPr lang="en-US" sz="950" dirty="0"/>
          </a:p>
        </p:txBody>
      </p:sp>
      <p:pic>
        <p:nvPicPr>
          <p:cNvPr id="42" name="Image 0" descr="/home/claude/build/mahe_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01168"/>
            <a:ext cx="457200" cy="508406"/>
          </a:xfrm>
          <a:prstGeom prst="rect">
            <a:avLst/>
          </a:prstGeom>
        </p:spPr>
      </p:pic>
      <p:sp>
        <p:nvSpPr>
          <p:cNvPr id="43" name="Shape 40"/>
          <p:cNvSpPr/>
          <p:nvPr/>
        </p:nvSpPr>
        <p:spPr>
          <a:xfrm>
            <a:off x="0" y="1645920"/>
            <a:ext cx="12191695" cy="32004"/>
          </a:xfrm>
          <a:prstGeom prst="rect">
            <a:avLst/>
          </a:prstGeom>
          <a:solidFill>
            <a:srgbClr val="CC6600"/>
          </a:solidFill>
          <a:ln/>
        </p:spPr>
      </p:sp>
      <p:sp>
        <p:nvSpPr>
          <p:cNvPr id="44" name="Shape 4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CC6600"/>
          </a:solidFill>
          <a:ln/>
        </p:spPr>
      </p:sp>
      <p:sp>
        <p:nvSpPr>
          <p:cNvPr id="45" name="Text 42"/>
          <p:cNvSpPr txBox="1"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Manipal School of Information Sciences, MAHE, Manipal</a:t>
            </a: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11368735" y="656539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60120" y="32004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C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buNone/>
            </a:pPr>
            <a:r>
              <a:rPr lang="en-US" sz="1200" b="1" spc="150" kern="0" dirty="0">
                <a:solidFill>
                  <a:srgbClr val="6B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2179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Paper 1 — Foundational Dataset Study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1F2A4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0195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CICIoT2023: A Real-Time Dataset and Benchmark for Large-Scale Attacks in IoT Environment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95728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9C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Neto, Dadkhah, Ferreira, Zohourian, Lu, Ghorbani — Sensors, 2023 (the original dataset paper)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D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2B2118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13232" y="2926080"/>
            <a:ext cx="5065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A34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&amp; FEATURES USED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3200400"/>
            <a:ext cx="50657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dataset: 46,686,579 records from 105 real IoT devices; 33 attacks across 7 categories (DDoS, DoS, Recon, Web-based, Brute Force, Spoofing, Mirai). ~47 flow-level features extracted per record using the DPKT package.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17920" y="283464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D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2B2118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382512" y="2926080"/>
            <a:ext cx="5065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A34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6382512" y="3200400"/>
            <a:ext cx="50657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and benign traffic combined and shuffled into one dataset (PySpark). Features aggregated over packet windows of 10 or 100. Split 80% train / 20% test, normalized using StandardScaler before training.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425196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D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2B2118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13232" y="4343400"/>
            <a:ext cx="5065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A34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713232" y="4617720"/>
            <a:ext cx="50657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5 supervised models: Logistic Regression, Perceptron, AdaBoost, Random Forest, and a Deep Neural Network (DNN). Evaluated at 3 levels of granularity: binary (2-class), grouped (8-class), and individual-attack (34-class) classification.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425196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D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2B2118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382512" y="4343400"/>
            <a:ext cx="5065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A34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6382512" y="4617720"/>
            <a:ext cx="50657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Binary: all 5 models exceeded 98% accuracy (Perceptron's F1 fell to 81%, weaker on the minority/benign class). 8-class: Random Forest &amp; DNN stayed strong (F1 ≈ 70%); LR, Perceptron, AdaBoost degraded sharply. 34-class: RF &amp; DNN held accuracy with only ~1% F1 drop; the other 3 models fell below 80% accuracy and 50% F1.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566928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FFF4E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56692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 of CICIoT2023:  </a:t>
            </a:r>
            <a:pPr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paper introduced CICIoT2023 itself and established Random Forest and DNN as the strongest baselines — the reference point every later study (including papers 2 and 3) compares against.</a:t>
            </a:r>
            <a:endParaRPr lang="en-US" sz="1000" dirty="0"/>
          </a:p>
        </p:txBody>
      </p:sp>
      <p:pic>
        <p:nvPicPr>
          <p:cNvPr id="21" name="Image 0" descr="/home/claude/build/mahe_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01168"/>
            <a:ext cx="457200" cy="508406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0" y="1645920"/>
            <a:ext cx="12191695" cy="32004"/>
          </a:xfrm>
          <a:prstGeom prst="rect">
            <a:avLst/>
          </a:prstGeom>
          <a:solidFill>
            <a:srgbClr val="CC6600"/>
          </a:solidFill>
          <a:ln/>
        </p:spPr>
      </p:sp>
      <p:sp>
        <p:nvSpPr>
          <p:cNvPr id="23" name="Shape 2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CC6600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Manipal School of Information Sciences, MAHE, Manipal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1368735" y="656539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60120" y="32004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C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buNone/>
            </a:pPr>
            <a:r>
              <a:rPr lang="en-US" sz="1200" b="1" spc="150" kern="0" dirty="0">
                <a:solidFill>
                  <a:srgbClr val="6B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2179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Paper 2 — Feature Selection &amp; Class Balancing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1F2A4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0195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IIDS: Design of Intelligent Intrusion Detection System for IoT Applications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95728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9C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Narayan, Odelu, Turlapaty, Mookherji, Prasath, Das — arXiv, 2023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D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2B2118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13232" y="2926080"/>
            <a:ext cx="5065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A34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&amp; FEATURES USED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3200400"/>
            <a:ext cx="50657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dataset: 46,686,579 records, 105 devices, 33 attack classes + 1 benign class, 46 original features. Best configuration used only 6 of these 46 features.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17920" y="283464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D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2B2118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382512" y="2926080"/>
            <a:ext cx="5065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A34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6382512" y="3200400"/>
            <a:ext cx="50657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normalization to unit variance; 80/20 train-test split. Class balancing (oversampling techniques) applied only to the training set, after the split, to avoid data leakage.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425196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D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2B2118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13232" y="4343400"/>
            <a:ext cx="5065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A34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713232" y="4617720"/>
            <a:ext cx="50657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Three-stage framework: (1) Feature selection — CfsSubsetEval (CFS) narrowed 46 features to 6; a second method (RF-RFE ∩ mRMR) selected 11. (2) Class balancing — Random Oversampling (ROS) and Balanced Random Forest Classifier sampling (BRFC). (3) Random Forest classification across 34-, 8-, and 2-class setups.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425196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D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2B2118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382512" y="4343400"/>
            <a:ext cx="5065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A34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6382512" y="4617720"/>
            <a:ext cx="50657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configuration (CFS + BRFC, just 6 features) improved over the 46-feature baseline by +3.72% precision, +3.75% recall, +4.69% F1-score (34-class). For “unsaturated” minority classes (baseline F1 &lt; 0.99), the average F1 gain was +7.9% — e.g. DictionaryBruteForce F1 rose from 5.6% to 48.3%.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566928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FFF4E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56692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 of CICIoT2023:  </a:t>
            </a:r>
            <a:pPr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Exploited CICIoT2023's severe class imbalance (up to 5751:1) as the core test case — proved that smart feature selection + class balancing lifts minority-attack detection using 87% fewer features than the baseline.</a:t>
            </a:r>
            <a:endParaRPr lang="en-US" sz="1000" dirty="0"/>
          </a:p>
        </p:txBody>
      </p:sp>
      <p:pic>
        <p:nvPicPr>
          <p:cNvPr id="21" name="Image 0" descr="/home/claude/build/mahe_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01168"/>
            <a:ext cx="457200" cy="508406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0" y="1645920"/>
            <a:ext cx="12191695" cy="32004"/>
          </a:xfrm>
          <a:prstGeom prst="rect">
            <a:avLst/>
          </a:prstGeom>
          <a:solidFill>
            <a:srgbClr val="CC6600"/>
          </a:solidFill>
          <a:ln/>
        </p:spPr>
      </p:sp>
      <p:sp>
        <p:nvSpPr>
          <p:cNvPr id="23" name="Shape 2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CC6600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Manipal School of Information Sciences, MAHE, Manipal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1368735" y="656539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60120" y="32004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C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buNone/>
            </a:pPr>
            <a:r>
              <a:rPr lang="en-US" sz="1200" b="1" spc="150" kern="0" dirty="0">
                <a:solidFill>
                  <a:srgbClr val="6B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2179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Paper 3 — Dimensionality Reduction via Clustering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1F2A4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0195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Two-Step Data Clustering for Improved Intrusion Detection System Using CICIoT2023 Dataset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95728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9C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Gheni &amp; Al-Yaseen — e-Prime, Advances in Electrical Engineering, Electronics and Energy (Elsevier), 2024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D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2B2118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13232" y="2926080"/>
            <a:ext cx="5065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A34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&amp; FEATURES USED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3200400"/>
            <a:ext cx="50657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 232,885-record subset of CICIoT2023, with 47 features, covering 33 sub-attacks across 7 categories (DoS, DDoS, Web-based, Recon, Spoofing, Brute Force, Mirai).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17920" y="283464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D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2B2118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382512" y="2926080"/>
            <a:ext cx="5065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A34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6382512" y="3200400"/>
            <a:ext cx="50657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labels numerically encoded (0–7). Z-score normalization applied to rescale all feature values using the mean and standard deviation.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425196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D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2B2118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13232" y="4343400"/>
            <a:ext cx="5065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A34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713232" y="4617720"/>
            <a:ext cx="50657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Gain used to score all 46 non-target features; only features above the mean IG (0.262) were kept, reducing to 15 features (16 with target). A novel two-step clustering method (Gaining-Sharing Knowledge, GSK, optimization) then reduced dataset size. Classification via MLP (3 hidden layers: 100/50/10 neurons) and an AutoEncoder (AE).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425196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D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2B2118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382512" y="4343400"/>
            <a:ext cx="5065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A34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6382512" y="4617720"/>
            <a:ext cx="50657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reduced from 232,885×47 to 87,438×16 (−62.45% size). Binary classification: MLP reached 99.26% accuracy (0.02 s test time); AE reached 98.76%. 8-class classification: MLP 97.46%; AE 83.81%. This outperformed 4 prior CICIoT2023 studies, which reported 93.13–96.52% accuracy.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566928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FFF4E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56692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 of CICIoT2023:  </a:t>
            </a:r>
            <a:pPr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CICIoT2023's high dimensionality and volume as the specific problem to solve — proved that clustering-based size reduction can raise accuracy above prior work while cutting test time by roughly 50× versus the AutoEncoder approach.</a:t>
            </a:r>
            <a:endParaRPr lang="en-US" sz="1000" dirty="0"/>
          </a:p>
        </p:txBody>
      </p:sp>
      <p:pic>
        <p:nvPicPr>
          <p:cNvPr id="21" name="Image 0" descr="/home/claude/build/mahe_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01168"/>
            <a:ext cx="457200" cy="508406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0" y="1645920"/>
            <a:ext cx="12191695" cy="32004"/>
          </a:xfrm>
          <a:prstGeom prst="rect">
            <a:avLst/>
          </a:prstGeom>
          <a:solidFill>
            <a:srgbClr val="CC6600"/>
          </a:solidFill>
          <a:ln/>
        </p:spPr>
      </p:sp>
      <p:sp>
        <p:nvSpPr>
          <p:cNvPr id="23" name="Shape 2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CC6600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Manipal School of Information Sciences, MAHE, Manipal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1368735" y="656539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60120" y="32004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C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buNone/>
            </a:pPr>
            <a:r>
              <a:rPr lang="en-US" sz="1200" b="1" spc="150" kern="0" dirty="0">
                <a:solidFill>
                  <a:srgbClr val="6B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2179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Paper 4 — Deep Learning Architecture Comparison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1F2A4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0195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Evaluating Deep Learning Variants for Cyber-Attacks Detection and Multi-Class Classification in IoT Networks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95728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9C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Abbas, Bouazzi, Ojo, Al Hejaili, Sampedro, Almadhor, Gregus — PeerJ Computer Science, 2024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D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2B2118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13232" y="2926080"/>
            <a:ext cx="5065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A34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&amp; FEATURES USED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3200400"/>
            <a:ext cx="50657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dataset: CICIoT2023, 47 features, 33 attack types used for assessment. Features aggregated over packet windows of 100 (high-volume attacks) or 10 (lower-volume attacks), matching the original paper's technique.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17920" y="283464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D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2B2118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382512" y="2926080"/>
            <a:ext cx="5065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A34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6382512" y="3200400"/>
            <a:ext cx="50657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data converted with Label Encoding. RobustScaler used for feature scaling (median + interquartile range — more resistant to outliers than StandardScaler). Split 80% train / 20% test.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425196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D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2B2118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13232" y="4343400"/>
            <a:ext cx="5065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A34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713232" y="4617720"/>
            <a:ext cx="50657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9 deep learning variants across 3 families, each with increasing depth: DNN1/2/3, CNN1/2/3 (convolutional + Leaky ReLU + max-pooling), and RNN1/2/3 (sequential, retains hidden state across time steps). All trained with the Adam optimizer.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425196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D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2B2118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382512" y="4343400"/>
            <a:ext cx="5065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A34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6382512" y="4617720"/>
            <a:ext cx="50657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DNN family: best was DNN3 at 88.64% accuracy, 88.51% F1. CNN family: best was CNN3 at 96.37% accuracy, 95.51% F1. RNN family: best was RNN1 at 96.52% accuracy, 95.73% F1 — the strongest of all 9 models tested, outperforming the compared baseline on precision, recall, and F1-score.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566928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FFF4E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56692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 of CICIoT2023:  </a:t>
            </a:r>
            <a:pPr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CICIoT2023's window-aggregated flow structure to test architecture choice in isolation — showed that sequence-aware models (RNN) suit this data better than static DNNs, without needing any extra feature engineering.</a:t>
            </a:r>
            <a:endParaRPr lang="en-US" sz="1000" dirty="0"/>
          </a:p>
        </p:txBody>
      </p:sp>
      <p:pic>
        <p:nvPicPr>
          <p:cNvPr id="21" name="Image 0" descr="/home/claude/build/mahe_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01168"/>
            <a:ext cx="457200" cy="508406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0" y="1645920"/>
            <a:ext cx="12191695" cy="32004"/>
          </a:xfrm>
          <a:prstGeom prst="rect">
            <a:avLst/>
          </a:prstGeom>
          <a:solidFill>
            <a:srgbClr val="CC6600"/>
          </a:solidFill>
          <a:ln/>
        </p:spPr>
      </p:sp>
      <p:sp>
        <p:nvSpPr>
          <p:cNvPr id="23" name="Shape 2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CC6600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Manipal School of Information Sciences, MAHE, Manipal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1368735" y="656539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60120" y="32004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C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buNone/>
            </a:pPr>
            <a:r>
              <a:rPr lang="en-US" sz="1200" b="1" spc="150" kern="0" dirty="0">
                <a:solidFill>
                  <a:srgbClr val="6B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2179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Paper 5 — Attack-Subtype Detection at Near-Perfect Accuracy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1F2A4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0195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Optimizing Intrusion Detection for DoS, DDoS, and Mirai Attacks Subtypes Using Hierarchical Feature Selection and CatBoost on the CICIoT2023 Dataset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95728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9C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Hajjouz &amp; Avksentieva — Data and Metadata (Scopus-indexed), 2024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D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2B2118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13232" y="2926080"/>
            <a:ext cx="5065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A34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&amp; FEATURES USED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3200400"/>
            <a:ext cx="50657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to DoS, DDoS, and Mirai subtypes + benign: 20 classes, 45,807,617 network flows, 47 raw features. Reduced to 23 features after selection.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17920" y="283464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D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2B2118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382512" y="2926080"/>
            <a:ext cx="5065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A34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6382512" y="3200400"/>
            <a:ext cx="50657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Infinite/negative values replaced with each column's median. 5 zero-variance features removed (IRC, SMTP, SSH, Telnet, cwr_flag_number). Spearman correlation + hierarchical clustering (dendrogram) selected 23 representative features. Stratified 70/30 train-test split; class weights computed to offset imbalance (e.g. rare DDoS-SlowLoris weighted 1908.56× vs. common DDoS-ICMP_Flood at 6.21×).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425196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D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2B2118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13232" y="4343400"/>
            <a:ext cx="5065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A34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713232" y="4617720"/>
            <a:ext cx="50657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 gradient-boosted trees (1,320 iterations, learning rate 0.03, depth 8, GPU-accelerated), validated with Stratified 6-Fold cross-validation for robustness across common and rare attack subtypes.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425196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D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2B2118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382512" y="4343400"/>
            <a:ext cx="5065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A34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6382512" y="4617720"/>
            <a:ext cx="50657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precision, recall, and F1-score all reached 99.96%, with ROC AUC ≈ 1.00 and a prediction time of just 7.16×10⁻⁷ seconds per flow. Outperformed 6 prior CICIoT2023 studies compared directly (ranging 60%–97.64% accuracy), including papers reviewed here.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566928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FFF4E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56692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 of CICIoT2023:  </a:t>
            </a:r>
            <a:pPr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Proved that narrowing scope to one attack family (DoS/DDoS/Mirai) combined with rigorous feature selection and class-weighted boosting can push accuracy to near-perfect while keeping inference fast enough for real-time deployment.</a:t>
            </a:r>
            <a:endParaRPr lang="en-US" sz="1000" dirty="0"/>
          </a:p>
        </p:txBody>
      </p:sp>
      <p:pic>
        <p:nvPicPr>
          <p:cNvPr id="21" name="Image 0" descr="/home/claude/build/mahe_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01168"/>
            <a:ext cx="457200" cy="508406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0" y="1645920"/>
            <a:ext cx="12191695" cy="32004"/>
          </a:xfrm>
          <a:prstGeom prst="rect">
            <a:avLst/>
          </a:prstGeom>
          <a:solidFill>
            <a:srgbClr val="CC6600"/>
          </a:solidFill>
          <a:ln/>
        </p:spPr>
      </p:sp>
      <p:sp>
        <p:nvSpPr>
          <p:cNvPr id="23" name="Shape 2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CC6600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Manipal School of Information Sciences, MAHE, Manipal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1368735" y="656539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60120" y="32004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C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buNone/>
            </a:pPr>
            <a:r>
              <a:rPr lang="en-US" sz="1200" b="1" spc="150" kern="0" dirty="0">
                <a:solidFill>
                  <a:srgbClr val="6B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62179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Summary: How Each Paper Used CICIoT2023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384048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7830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520440" y="17830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Used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257800" y="178308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Technique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641080" y="178308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Reported Result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167128"/>
            <a:ext cx="1106424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EDE3D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167128"/>
            <a:ext cx="2560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Neto et al. (2023)</a:t>
            </a:r>
            <a:endParaRPr lang="en-US" sz="9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dataset paper</a:t>
            </a:r>
            <a:endParaRPr lang="en-US" sz="93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2167128"/>
            <a:ext cx="1463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~47 (all)</a:t>
            </a:r>
            <a:endParaRPr lang="en-US" sz="930" dirty="0"/>
          </a:p>
        </p:txBody>
      </p:sp>
      <p:sp>
        <p:nvSpPr>
          <p:cNvPr id="12" name="Text 10"/>
          <p:cNvSpPr txBox="1"/>
          <p:nvPr/>
        </p:nvSpPr>
        <p:spPr>
          <a:xfrm>
            <a:off x="5257800" y="2167128"/>
            <a:ext cx="3108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5-model ML/DL benchmark</a:t>
            </a:r>
            <a:endParaRPr lang="en-US" sz="9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(LR, Perceptron, AdaBoost, RF, DNN)</a:t>
            </a:r>
            <a:endParaRPr lang="en-US" sz="930" dirty="0"/>
          </a:p>
        </p:txBody>
      </p:sp>
      <p:sp>
        <p:nvSpPr>
          <p:cNvPr id="13" name="Text 11"/>
          <p:cNvSpPr txBox="1"/>
          <p:nvPr/>
        </p:nvSpPr>
        <p:spPr>
          <a:xfrm>
            <a:off x="8641080" y="2167128"/>
            <a:ext cx="2834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/ DNN: &gt;98% binary accuracy;</a:t>
            </a:r>
            <a:endParaRPr lang="en-US" sz="9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~70% F1 at 8-class level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548640" y="2752344"/>
            <a:ext cx="1106424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EDE3D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2752344"/>
            <a:ext cx="2560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Narayan et al. (2023)</a:t>
            </a:r>
            <a:endParaRPr lang="en-US" sz="9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IIDS</a:t>
            </a:r>
            <a:endParaRPr lang="en-US" sz="930" dirty="0"/>
          </a:p>
        </p:txBody>
      </p:sp>
      <p:sp>
        <p:nvSpPr>
          <p:cNvPr id="16" name="Text 14"/>
          <p:cNvSpPr txBox="1"/>
          <p:nvPr/>
        </p:nvSpPr>
        <p:spPr>
          <a:xfrm>
            <a:off x="3520440" y="2752344"/>
            <a:ext cx="1463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of 46</a:t>
            </a:r>
            <a:endParaRPr lang="en-US" sz="930" dirty="0"/>
          </a:p>
        </p:txBody>
      </p:sp>
      <p:sp>
        <p:nvSpPr>
          <p:cNvPr id="17" name="Text 15"/>
          <p:cNvSpPr txBox="1"/>
          <p:nvPr/>
        </p:nvSpPr>
        <p:spPr>
          <a:xfrm>
            <a:off x="5257800" y="2752344"/>
            <a:ext cx="3108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CFS feature selection +</a:t>
            </a:r>
            <a:endParaRPr lang="en-US" sz="9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BRFC class balancing + Random Forest</a:t>
            </a:r>
            <a:endParaRPr lang="en-US" sz="930" dirty="0"/>
          </a:p>
        </p:txBody>
      </p:sp>
      <p:sp>
        <p:nvSpPr>
          <p:cNvPr id="18" name="Text 16"/>
          <p:cNvSpPr txBox="1"/>
          <p:nvPr/>
        </p:nvSpPr>
        <p:spPr>
          <a:xfrm>
            <a:off x="8641080" y="2752344"/>
            <a:ext cx="2834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+4.69% F1 vs. baseline;</a:t>
            </a:r>
            <a:endParaRPr lang="en-US" sz="9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+7.9% F1 on minority classes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548640" y="3337560"/>
            <a:ext cx="1106424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EDE3D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3337560"/>
            <a:ext cx="2560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Gheni &amp; Al-Yaseen (2024)</a:t>
            </a:r>
            <a:endParaRPr lang="en-US" sz="9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Two-step clustering</a:t>
            </a:r>
            <a:endParaRPr lang="en-US" sz="930" dirty="0"/>
          </a:p>
        </p:txBody>
      </p:sp>
      <p:sp>
        <p:nvSpPr>
          <p:cNvPr id="21" name="Text 19"/>
          <p:cNvSpPr txBox="1"/>
          <p:nvPr/>
        </p:nvSpPr>
        <p:spPr>
          <a:xfrm>
            <a:off x="3520440" y="3337560"/>
            <a:ext cx="1463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of 47</a:t>
            </a:r>
            <a:endParaRPr lang="en-US" sz="930" dirty="0"/>
          </a:p>
        </p:txBody>
      </p:sp>
      <p:sp>
        <p:nvSpPr>
          <p:cNvPr id="22" name="Text 20"/>
          <p:cNvSpPr txBox="1"/>
          <p:nvPr/>
        </p:nvSpPr>
        <p:spPr>
          <a:xfrm>
            <a:off x="5257800" y="3337560"/>
            <a:ext cx="3108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Gain selection +</a:t>
            </a:r>
            <a:endParaRPr lang="en-US" sz="9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GSK clustering + MLP / AutoEncoder</a:t>
            </a:r>
            <a:endParaRPr lang="en-US" sz="930" dirty="0"/>
          </a:p>
        </p:txBody>
      </p:sp>
      <p:sp>
        <p:nvSpPr>
          <p:cNvPr id="23" name="Text 21"/>
          <p:cNvSpPr txBox="1"/>
          <p:nvPr/>
        </p:nvSpPr>
        <p:spPr>
          <a:xfrm>
            <a:off x="8641080" y="3337560"/>
            <a:ext cx="2834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99.26% binary accuracy;</a:t>
            </a:r>
            <a:endParaRPr lang="en-US" sz="9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62.45% dataset size reduction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548640" y="3922776"/>
            <a:ext cx="1106424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EDE3D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" y="3922776"/>
            <a:ext cx="2560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Abbas et al. (2024)</a:t>
            </a:r>
            <a:endParaRPr lang="en-US" sz="9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 variant comparison</a:t>
            </a:r>
            <a:endParaRPr lang="en-US" sz="930" dirty="0"/>
          </a:p>
        </p:txBody>
      </p:sp>
      <p:sp>
        <p:nvSpPr>
          <p:cNvPr id="26" name="Text 24"/>
          <p:cNvSpPr txBox="1"/>
          <p:nvPr/>
        </p:nvSpPr>
        <p:spPr>
          <a:xfrm>
            <a:off x="3520440" y="3922776"/>
            <a:ext cx="1463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(all)</a:t>
            </a:r>
            <a:endParaRPr lang="en-US" sz="930" dirty="0"/>
          </a:p>
        </p:txBody>
      </p:sp>
      <p:sp>
        <p:nvSpPr>
          <p:cNvPr id="27" name="Text 25"/>
          <p:cNvSpPr txBox="1"/>
          <p:nvPr/>
        </p:nvSpPr>
        <p:spPr>
          <a:xfrm>
            <a:off x="5257800" y="3922776"/>
            <a:ext cx="3108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DL variants compared</a:t>
            </a:r>
            <a:endParaRPr lang="en-US" sz="9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(DNN, CNN, RNN families)</a:t>
            </a:r>
            <a:endParaRPr lang="en-US" sz="930" dirty="0"/>
          </a:p>
        </p:txBody>
      </p:sp>
      <p:sp>
        <p:nvSpPr>
          <p:cNvPr id="28" name="Text 26"/>
          <p:cNvSpPr txBox="1"/>
          <p:nvPr/>
        </p:nvSpPr>
        <p:spPr>
          <a:xfrm>
            <a:off x="8641080" y="3922776"/>
            <a:ext cx="2834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best: 96.52% accuracy,</a:t>
            </a:r>
            <a:endParaRPr lang="en-US" sz="9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95.73% F1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548640" y="4507992"/>
            <a:ext cx="1106424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EDE3D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85800" y="4507992"/>
            <a:ext cx="2560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Hajjouz &amp; Avksentieva (2024)</a:t>
            </a:r>
            <a:endParaRPr lang="en-US" sz="9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 + hierarchical FS</a:t>
            </a:r>
            <a:endParaRPr lang="en-US" sz="930" dirty="0"/>
          </a:p>
        </p:txBody>
      </p:sp>
      <p:sp>
        <p:nvSpPr>
          <p:cNvPr id="31" name="Text 29"/>
          <p:cNvSpPr txBox="1"/>
          <p:nvPr/>
        </p:nvSpPr>
        <p:spPr>
          <a:xfrm>
            <a:off x="3520440" y="4507992"/>
            <a:ext cx="1463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of 47</a:t>
            </a:r>
            <a:endParaRPr lang="en-US" sz="930" dirty="0"/>
          </a:p>
        </p:txBody>
      </p:sp>
      <p:sp>
        <p:nvSpPr>
          <p:cNvPr id="32" name="Text 30"/>
          <p:cNvSpPr txBox="1"/>
          <p:nvPr/>
        </p:nvSpPr>
        <p:spPr>
          <a:xfrm>
            <a:off x="5257800" y="4507992"/>
            <a:ext cx="3108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Spearman/hierarchical feature selection +</a:t>
            </a:r>
            <a:endParaRPr lang="en-US" sz="9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class-weighted CatBoost</a:t>
            </a:r>
            <a:endParaRPr lang="en-US" sz="930" dirty="0"/>
          </a:p>
        </p:txBody>
      </p:sp>
      <p:sp>
        <p:nvSpPr>
          <p:cNvPr id="33" name="Text 31"/>
          <p:cNvSpPr txBox="1"/>
          <p:nvPr/>
        </p:nvSpPr>
        <p:spPr>
          <a:xfrm>
            <a:off x="8641080" y="4507992"/>
            <a:ext cx="2834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99.96% accuracy/precision/recall/F1;</a:t>
            </a:r>
            <a:endParaRPr lang="en-US" sz="9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7.16×10⁻⁷s per-flow prediction</a:t>
            </a:r>
            <a:endParaRPr lang="en-US" sz="930" dirty="0"/>
          </a:p>
        </p:txBody>
      </p:sp>
      <p:sp>
        <p:nvSpPr>
          <p:cNvPr id="34" name="Shape 32"/>
          <p:cNvSpPr/>
          <p:nvPr/>
        </p:nvSpPr>
        <p:spPr>
          <a:xfrm>
            <a:off x="548640" y="5276088"/>
            <a:ext cx="11064240" cy="621792"/>
          </a:xfrm>
          <a:prstGeom prst="roundRect">
            <a:avLst>
              <a:gd name="adj" fmla="val 13235"/>
            </a:avLst>
          </a:prstGeom>
          <a:solidFill>
            <a:srgbClr val="1F2A44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22960" y="5276088"/>
            <a:ext cx="10515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i="1" dirty="0">
                <a:solidFill>
                  <a:srgbClr val="CC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thread:  </a:t>
            </a:r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F3E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five papers, feature selection, preprocessing, and architecture choice — not just larger models or more data — were the key drivers of improved performance on CICIoT2023.</a:t>
            </a:r>
            <a:endParaRPr lang="en-US" sz="1100" dirty="0"/>
          </a:p>
        </p:txBody>
      </p:sp>
      <p:pic>
        <p:nvPicPr>
          <p:cNvPr id="36" name="Image 0" descr="/home/claude/build/mahe_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01168"/>
            <a:ext cx="457200" cy="508406"/>
          </a:xfrm>
          <a:prstGeom prst="rect">
            <a:avLst/>
          </a:prstGeom>
        </p:spPr>
      </p:pic>
      <p:sp>
        <p:nvSpPr>
          <p:cNvPr id="37" name="Shape 34"/>
          <p:cNvSpPr/>
          <p:nvPr/>
        </p:nvSpPr>
        <p:spPr>
          <a:xfrm>
            <a:off x="0" y="1645920"/>
            <a:ext cx="12191695" cy="32004"/>
          </a:xfrm>
          <a:prstGeom prst="rect">
            <a:avLst/>
          </a:prstGeom>
          <a:solidFill>
            <a:srgbClr val="CC6600"/>
          </a:solidFill>
          <a:ln/>
        </p:spPr>
      </p:sp>
      <p:sp>
        <p:nvSpPr>
          <p:cNvPr id="38" name="Shape 3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CC6600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Manipal School of Information Sciences, MAHE, Manipal</a:t>
            </a:r>
            <a:endParaRPr lang="en-US" sz="1100" dirty="0"/>
          </a:p>
        </p:txBody>
      </p:sp>
      <p:sp>
        <p:nvSpPr>
          <p:cNvPr id="40" name="Text 37"/>
          <p:cNvSpPr txBox="1"/>
          <p:nvPr/>
        </p:nvSpPr>
        <p:spPr>
          <a:xfrm>
            <a:off x="11368735" y="656539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2026-09-16T12:30:29Z</dcterms:created>
  <dcterms:modified xsi:type="dcterms:W3CDTF">2026-09-16T12:30:29Z</dcterms:modified>
</cp:coreProperties>
</file>