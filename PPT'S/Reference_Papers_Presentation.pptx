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2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4400" b="1">
                <a:solidFill>
                  <a:srgbClr val="FFFFFF"/>
                </a:solidFill>
                <a:latin typeface="Georgia"/>
              </a:rPr>
              <a:t>IoT &amp; Network Intrusion Detection</a:t>
            </a:r>
          </a:p>
          <a:p>
            <a:pPr algn="ctr">
              <a:spcAft>
                <a:spcPts val="4000"/>
              </a:spcAft>
            </a:pPr>
            <a:r>
              <a:rPr sz="2000" b="0">
                <a:solidFill>
                  <a:srgbClr val="D2691E"/>
                </a:solidFill>
                <a:latin typeface="Arial"/>
              </a:rPr>
              <a:t>A Multi-Dataset Comparative Analysis of 8 Benchmark Datasets and Reference Papers</a:t>
            </a:r>
          </a:p>
          <a:p>
            <a:pPr algn="ctr"/>
            <a:r>
              <a:rPr sz="1300" b="0">
                <a:solidFill>
                  <a:srgbClr val="F5F5F7"/>
                </a:solidFill>
                <a:latin typeface="Arial"/>
              </a:rPr>
              <a:t>Evaluating Bot-IoT, UNSW-NB15, ToN-IoT, CICIoT2023, IoTID20, NSL-KDD, CSE-CIC-IDS2018, &amp; CIC-IDS2017</a:t>
            </a:r>
            <a:br/>
            <a:r>
              <a:rPr sz="1300" b="0">
                <a:solidFill>
                  <a:srgbClr val="F5F5F7"/>
                </a:solidFill>
                <a:latin typeface="Arial"/>
              </a:rPr>
              <a:t>Generated by Gemini Notebook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600" b="1">
                <a:solidFill>
                  <a:srgbClr val="1D1D1F"/>
                </a:solidFill>
                <a:latin typeface="Georgia"/>
              </a:rPr>
              <a:t>8 Intrusion Detection Datasets Span Traditional Networks and Modern IoT Topologies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4415" cy="31750"/>
          </a:xfrm>
          <a:prstGeom prst="rect">
            <a:avLst/>
          </a:prstGeom>
          <a:solidFill>
            <a:srgbClr val="D2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0">
                <a:solidFill>
                  <a:srgbClr val="515154"/>
                </a:solidFill>
                <a:latin typeface="Arial"/>
              </a:rPr>
              <a:t>Evaluating Machine Learning for IoT Intrusion Detection | Reference Papers Review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9441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743200"/>
                <a:gridCol w="2743200"/>
                <a:gridCol w="1584655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Dataset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Creator &amp; Year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Traffic Environment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Key Attack Classes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Features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D2691E"/>
                          </a:solidFill>
                          <a:latin typeface="Arial"/>
                        </a:rPr>
                        <a:t>Bot-IoT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F"/>
                          </a:solidFill>
                          <a:latin typeface="Arial"/>
                        </a:rPr>
                        <a:t>UNSW Canberra (2018)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F"/>
                          </a:solidFill>
                          <a:latin typeface="Arial"/>
                        </a:rPr>
                        <a:t>Simulated IoT &amp; Smart Home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F"/>
                          </a:solidFill>
                          <a:latin typeface="Arial"/>
                        </a:rPr>
                        <a:t>DDoS, DoS, Theft, Reconnaissance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D1D1F"/>
                          </a:solidFill>
                          <a:latin typeface="Arial"/>
                        </a:rPr>
                        <a:t>46 (or 43)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D2691E"/>
                          </a:solidFill>
                          <a:latin typeface="Arial"/>
                        </a:rPr>
                        <a:t>UNSW-NB15</a:t>
                      </a:r>
                    </a:p>
                  </a:txBody>
                  <a:tcPr>
                    <a:solidFill>
                      <a:srgbClr val="EAEA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F"/>
                          </a:solidFill>
                          <a:latin typeface="Arial"/>
                        </a:rPr>
                        <a:t>UNSW Canberra (2015)</a:t>
                      </a:r>
                    </a:p>
                  </a:txBody>
                  <a:tcPr>
                    <a:solidFill>
                      <a:srgbClr val="EAEA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F"/>
                          </a:solidFill>
                          <a:latin typeface="Arial"/>
                        </a:rPr>
                        <a:t>Cyber Range Hybrid Network</a:t>
                      </a:r>
                    </a:p>
                  </a:txBody>
                  <a:tcPr>
                    <a:solidFill>
                      <a:srgbClr val="EAEA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F"/>
                          </a:solidFill>
                          <a:latin typeface="Arial"/>
                        </a:rPr>
                        <a:t>Exploits, DoS, Worms, Fuzzers, Generic</a:t>
                      </a:r>
                    </a:p>
                  </a:txBody>
                  <a:tcPr>
                    <a:solidFill>
                      <a:srgbClr val="EA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D1D1F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>
                    <a:solidFill>
                      <a:srgbClr val="EAEAE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D2691E"/>
                          </a:solidFill>
                          <a:latin typeface="Arial"/>
                        </a:rPr>
                        <a:t>ToN-IoT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F"/>
                          </a:solidFill>
                          <a:latin typeface="Arial"/>
                        </a:rPr>
                        <a:t>UNSW Canberra (2019)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F"/>
                          </a:solidFill>
                          <a:latin typeface="Arial"/>
                        </a:rPr>
                        <a:t>Large-scale IoT &amp; Telemetry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F"/>
                          </a:solidFill>
                          <a:latin typeface="Arial"/>
                        </a:rPr>
                        <a:t>Backdoor, MITM, Ransomware, XSS, 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D1D1F"/>
                          </a:solidFill>
                          <a:latin typeface="Arial"/>
                        </a:rPr>
                        <a:t>43 (NetFlow)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D2691E"/>
                          </a:solidFill>
                          <a:latin typeface="Arial"/>
                        </a:rPr>
                        <a:t>CICIoT2023</a:t>
                      </a:r>
                    </a:p>
                  </a:txBody>
                  <a:tcPr>
                    <a:solidFill>
                      <a:srgbClr val="EAEA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F"/>
                          </a:solidFill>
                          <a:latin typeface="Arial"/>
                        </a:rPr>
                        <a:t>Neto et al. / UNB (2023)</a:t>
                      </a:r>
                    </a:p>
                  </a:txBody>
                  <a:tcPr>
                    <a:solidFill>
                      <a:srgbClr val="EAEA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F"/>
                          </a:solidFill>
                          <a:latin typeface="Arial"/>
                        </a:rPr>
                        <a:t>105 Smart Home IoT Devices</a:t>
                      </a:r>
                    </a:p>
                  </a:txBody>
                  <a:tcPr>
                    <a:solidFill>
                      <a:srgbClr val="EAEA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F"/>
                          </a:solidFill>
                          <a:latin typeface="Arial"/>
                        </a:rPr>
                        <a:t>DDoS, DoS, Mirai, BruteForce, Spoofing</a:t>
                      </a:r>
                    </a:p>
                  </a:txBody>
                  <a:tcPr>
                    <a:solidFill>
                      <a:srgbClr val="EA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D1D1F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>
                    <a:solidFill>
                      <a:srgbClr val="EAEAE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D2691E"/>
                          </a:solidFill>
                          <a:latin typeface="Arial"/>
                        </a:rPr>
                        <a:t>IoTID20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F"/>
                          </a:solidFill>
                          <a:latin typeface="Arial"/>
                        </a:rPr>
                        <a:t>Ullah &amp; Mahmoud (2020)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F"/>
                          </a:solidFill>
                          <a:latin typeface="Arial"/>
                        </a:rPr>
                        <a:t>Smart Home Testbed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F"/>
                          </a:solidFill>
                          <a:latin typeface="Arial"/>
                        </a:rPr>
                        <a:t>Mirai, DoS, Scan, MITM ARP Spoofing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D1D1F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D2691E"/>
                          </a:solidFill>
                          <a:latin typeface="Arial"/>
                        </a:rPr>
                        <a:t>NSL-KDD</a:t>
                      </a:r>
                    </a:p>
                  </a:txBody>
                  <a:tcPr>
                    <a:solidFill>
                      <a:srgbClr val="EAEA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F"/>
                          </a:solidFill>
                          <a:latin typeface="Arial"/>
                        </a:rPr>
                        <a:t>Tavallaee et al. (2009)</a:t>
                      </a:r>
                    </a:p>
                  </a:txBody>
                  <a:tcPr>
                    <a:solidFill>
                      <a:srgbClr val="EAEA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F"/>
                          </a:solidFill>
                          <a:latin typeface="Arial"/>
                        </a:rPr>
                        <a:t>Refined Enterprise Benchmark</a:t>
                      </a:r>
                    </a:p>
                  </a:txBody>
                  <a:tcPr>
                    <a:solidFill>
                      <a:srgbClr val="EAEA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F"/>
                          </a:solidFill>
                          <a:latin typeface="Arial"/>
                        </a:rPr>
                        <a:t>DoS, Probe, U2R, R2L</a:t>
                      </a:r>
                    </a:p>
                  </a:txBody>
                  <a:tcPr>
                    <a:solidFill>
                      <a:srgbClr val="EA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D1D1F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>
                    <a:solidFill>
                      <a:srgbClr val="EAEAE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D2691E"/>
                          </a:solidFill>
                          <a:latin typeface="Arial"/>
                        </a:rPr>
                        <a:t>CSE-CIC-IDS2018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F"/>
                          </a:solidFill>
                          <a:latin typeface="Arial"/>
                        </a:rPr>
                        <a:t>CIC / UNB (2018)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F"/>
                          </a:solidFill>
                          <a:latin typeface="Arial"/>
                        </a:rPr>
                        <a:t>Large Enterprise LAN (PCAP)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F"/>
                          </a:solidFill>
                          <a:latin typeface="Arial"/>
                        </a:rPr>
                        <a:t>Bruteforce, Bot, DDoS, Infiltration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D1D1F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D2691E"/>
                          </a:solidFill>
                          <a:latin typeface="Arial"/>
                        </a:rPr>
                        <a:t>CIC-IDS2017</a:t>
                      </a:r>
                    </a:p>
                  </a:txBody>
                  <a:tcPr>
                    <a:solidFill>
                      <a:srgbClr val="EAEA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F"/>
                          </a:solidFill>
                          <a:latin typeface="Arial"/>
                        </a:rPr>
                        <a:t>Sharafaldin et al. (2017)</a:t>
                      </a:r>
                    </a:p>
                  </a:txBody>
                  <a:tcPr>
                    <a:solidFill>
                      <a:srgbClr val="EAEA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F"/>
                          </a:solidFill>
                          <a:latin typeface="Arial"/>
                        </a:rPr>
                        <a:t>Enterprise Network Profiles</a:t>
                      </a:r>
                    </a:p>
                  </a:txBody>
                  <a:tcPr>
                    <a:solidFill>
                      <a:srgbClr val="EAEA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F"/>
                          </a:solidFill>
                          <a:latin typeface="Arial"/>
                        </a:rPr>
                        <a:t>DoS, PortScan, Bot, Web Attacks, Web</a:t>
                      </a:r>
                    </a:p>
                  </a:txBody>
                  <a:tcPr>
                    <a:solidFill>
                      <a:srgbClr val="EA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D1D1F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>
                    <a:solidFill>
                      <a:srgbClr val="EAEA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600" b="1">
                <a:solidFill>
                  <a:srgbClr val="1D1D1F"/>
                </a:solidFill>
                <a:latin typeface="Georgia"/>
              </a:rPr>
              <a:t>UNSW Canberra Datasets Bridge Network Traffic and Real-world Telemetry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4415" cy="31750"/>
          </a:xfrm>
          <a:prstGeom prst="rect">
            <a:avLst/>
          </a:prstGeom>
          <a:solidFill>
            <a:srgbClr val="D2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0">
                <a:solidFill>
                  <a:srgbClr val="515154"/>
                </a:solidFill>
                <a:latin typeface="Arial"/>
              </a:rPr>
              <a:t>Evaluating Machine Learning for IoT Intrusion Detection | Reference Papers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515154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74320"/>
          <a:lstStyle/>
          <a:p>
            <a:pPr algn="ctr"/>
            <a:r>
              <a:rPr sz="1800" b="1">
                <a:solidFill>
                  <a:srgbClr val="D2691E"/>
                </a:solidFill>
                <a:latin typeface="Georgia"/>
              </a:rPr>
              <a:t>Bot-IoT: Dedicated Botnet Intrusion Forensics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1D1D1F"/>
                </a:solidFill>
                <a:latin typeface="Arial"/>
              </a:rPr>
              <a:t>• Origin: Developed in 2018 at Cyber Range Lab of UNSW Canberra using Ostinato (traffic generation) and Node-Red (IoT simulation).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1D1D1F"/>
                </a:solidFill>
                <a:latin typeface="Arial"/>
              </a:rPr>
              <a:t>• Scope: Full dataset includes 72+ million records; most researchers use 5% or 10-Best subsets (e.g. 3.6 million records).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1D1D1F"/>
                </a:solidFill>
                <a:latin typeface="Arial"/>
              </a:rPr>
              <a:t>• Models &amp; Accuracies: Supervised classifiers achieve exceptional results. Random Forest (RF) registers 99.99% accuracy; Artificial Neural Networks (ANN) achieve 99.91% on correlation-selected features.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1D1D1F"/>
                </a:solidFill>
                <a:latin typeface="Arial"/>
              </a:rPr>
              <a:t>• IDS Suitability: Works directly on binary/multiclass network attacks, offering specialized detection for modern IoT botnet threats.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515154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74320"/>
          <a:lstStyle/>
          <a:p>
            <a:pPr algn="ctr"/>
            <a:r>
              <a:rPr sz="1800" b="1">
                <a:solidFill>
                  <a:srgbClr val="1D1D1F"/>
                </a:solidFill>
                <a:latin typeface="Georgia"/>
              </a:rPr>
              <a:t>ToN-IoT: Large-scale Telemetry &amp; Heterogeneous Data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1D1D1F"/>
                </a:solidFill>
                <a:latin typeface="Arial"/>
              </a:rPr>
              <a:t>• Origin: Collected at UNSW Canberra IoT Lab in 2019, incorporating network traffic and OS/application telemetry.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1D1D1F"/>
                </a:solidFill>
                <a:latin typeface="Arial"/>
              </a:rPr>
              <a:t>• Telemetry Scope: Contains specialized subsets logging operational states of edge devices (Fridge, GPS, Modbus, Thermostat, Weather, Garage Door).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1D1D1F"/>
                </a:solidFill>
                <a:latin typeface="Arial"/>
              </a:rPr>
              <a:t>• Models &amp; Accuracies: Binary algorithms applied to Windows 10 Processed subset achieve 98.75% with hybrid models. NF-ToN-IoT-v2 NetFlow dataset yields 99.99% binary accuracy using tree-based BAOA.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1D1D1F"/>
                </a:solidFill>
                <a:latin typeface="Arial"/>
              </a:rPr>
              <a:t>• IDS Suitability: Directly evaluates multi-source IDS, helping models cross-correlate device behavior with raw network anomalies.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600" b="1">
                <a:solidFill>
                  <a:srgbClr val="1D1D1F"/>
                </a:solidFill>
                <a:latin typeface="Georgia"/>
              </a:rPr>
              <a:t>Standard Benchmarks Transitioned from Enterprise Lanes to Cyber Range Hybrids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4415" cy="31750"/>
          </a:xfrm>
          <a:prstGeom prst="rect">
            <a:avLst/>
          </a:prstGeom>
          <a:solidFill>
            <a:srgbClr val="D2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0">
                <a:solidFill>
                  <a:srgbClr val="515154"/>
                </a:solidFill>
                <a:latin typeface="Arial"/>
              </a:rPr>
              <a:t>Evaluating Machine Learning for IoT Intrusion Detection | Reference Papers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515154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74320"/>
          <a:lstStyle/>
          <a:p>
            <a:pPr algn="ctr"/>
            <a:r>
              <a:rPr sz="1800" b="1">
                <a:solidFill>
                  <a:srgbClr val="515154"/>
                </a:solidFill>
                <a:latin typeface="Georgia"/>
              </a:rPr>
              <a:t>NSL-KDD: Refined Traditional Benchmark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1D1D1F"/>
                </a:solidFill>
                <a:latin typeface="Arial"/>
              </a:rPr>
              <a:t>• Concept: Designed by Tavallaee et al. (2009) to correct KDD Cup 99's redundancy, bias, and unrealistic attack distributions.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1D1D1F"/>
                </a:solidFill>
                <a:latin typeface="Arial"/>
              </a:rPr>
              <a:t>• Scope: 41 features with 4 attack families (DoS, Probe, U2R, R2L). Includes 125,192 training and 22,544 testing records.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1D1D1F"/>
                </a:solidFill>
                <a:latin typeface="Arial"/>
              </a:rPr>
              <a:t>• Accuracies: KNN achieves the highest standard accuracy of 98.55% in multi-class frameworks. Exhaustive Feature Selection (EFS) combined with LS-SVM yields 99.32% accuracy.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1D1D1F"/>
                </a:solidFill>
                <a:latin typeface="Arial"/>
              </a:rPr>
              <a:t>• IDS Direct: Serves as an academic baseline to validate classifier generalization, though lacks modern IoT telemetry.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515154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74320"/>
          <a:lstStyle/>
          <a:p>
            <a:pPr algn="ctr"/>
            <a:r>
              <a:rPr sz="1800" b="1">
                <a:solidFill>
                  <a:srgbClr val="D2691E"/>
                </a:solidFill>
                <a:latin typeface="Georgia"/>
              </a:rPr>
              <a:t>UNSW-NB15: Cyber Range Hybrid Traffic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1D1D1F"/>
                </a:solidFill>
                <a:latin typeface="Arial"/>
              </a:rPr>
              <a:t>• Concept: Created in 2015 by Cyber Security Lab at UNSW Canberra using IXIA PerfectStorm to capture real modern user profiles.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1D1D1F"/>
                </a:solidFill>
                <a:latin typeface="Arial"/>
              </a:rPr>
              <a:t>• Scope: Contains 100 GB of raw PCAPs containing 49 features and 9 attack categories (including Fuzzers, Exploits, Generic, Recon).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1D1D1F"/>
                </a:solidFill>
                <a:latin typeface="Arial"/>
              </a:rPr>
              <a:t>• Accuracies: Exhaustive Feature Selection (EFS) paired with LS-SVM achieves 93.27% accuracy, outperforming deep neural networks (87.00%) and CNNID (86.00%).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1D1D1F"/>
                </a:solidFill>
                <a:latin typeface="Arial"/>
              </a:rPr>
              <a:t>• IDS Direct: Used to validate next-generation NIDS by evaluating temporal, content, and basic connection features together.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600" b="1">
                <a:solidFill>
                  <a:srgbClr val="1D1D1F"/>
                </a:solidFill>
                <a:latin typeface="Georgia"/>
              </a:rPr>
              <a:t>Canadian Institute for Cybersecurity Datasets Capture Massive Enterprise LAN Flows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4415" cy="31750"/>
          </a:xfrm>
          <a:prstGeom prst="rect">
            <a:avLst/>
          </a:prstGeom>
          <a:solidFill>
            <a:srgbClr val="D2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0">
                <a:solidFill>
                  <a:srgbClr val="515154"/>
                </a:solidFill>
                <a:latin typeface="Arial"/>
              </a:rPr>
              <a:t>Evaluating Machine Learning for IoT Intrusion Detection | Reference Papers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515154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74320"/>
          <a:lstStyle/>
          <a:p>
            <a:pPr algn="ctr"/>
            <a:r>
              <a:rPr sz="1800" b="1">
                <a:solidFill>
                  <a:srgbClr val="1D1D1F"/>
                </a:solidFill>
                <a:latin typeface="Georgia"/>
              </a:rPr>
              <a:t>CIC-IDS2017: Multi-Day User Profiling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1D1D1F"/>
                </a:solidFill>
                <a:latin typeface="Arial"/>
              </a:rPr>
              <a:t>• Concept: Generated by Sharafaldin et al. (2017) over a 5-day cycle using actual user behaviors (B-Profile/Alpha profile) on protocols like HTTPS, FTP, SSH, and HTTP.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1D1D1F"/>
                </a:solidFill>
                <a:latin typeface="Arial"/>
              </a:rPr>
              <a:t>• Scope: Incorporates 2,830,540 flow records across 8 separate CSV files with 84 extracted features.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1D1D1F"/>
                </a:solidFill>
                <a:latin typeface="Arial"/>
              </a:rPr>
              <a:t>• Accuracies: GWO-PSO-RF model achieves 99.88% accuracy. Salp Swarm Algorithm optimized LSTM (SSA-LSTMIDS) yields 99.80% testing accuracy with 30 filters.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1D1D1F"/>
                </a:solidFill>
                <a:latin typeface="Arial"/>
              </a:rPr>
              <a:t>• IDS Direct: Serves as a standard baseline for assessing generalizability of modern signature-based and anomaly-based systems.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515154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74320"/>
          <a:lstStyle/>
          <a:p>
            <a:pPr algn="ctr"/>
            <a:r>
              <a:rPr sz="1800" b="1">
                <a:solidFill>
                  <a:srgbClr val="D2691E"/>
                </a:solidFill>
                <a:latin typeface="Georgia"/>
              </a:rPr>
              <a:t>CSE-CIC-IDS2018: High-Volume Network Attack Flow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1D1D1F"/>
                </a:solidFill>
                <a:latin typeface="Arial"/>
              </a:rPr>
              <a:t>• Concept: Elaborated by the Canadian Institute for Cybersecurity, simulating realistic background network traffic of thousands of nodes.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1D1D1F"/>
                </a:solidFill>
                <a:latin typeface="Arial"/>
              </a:rPr>
              <a:t>• Scope: Exceeds 16 million network flows collected over 10 days, categorized into 6 major attack scenarios.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1D1D1F"/>
                </a:solidFill>
                <a:latin typeface="Arial"/>
              </a:rPr>
              <a:t>• Accuracies: Explainable feature-selected TabNet-IDS achieves 95.58% accuracy. Standardized NF-CSE-CIC-IDS2018-v2 version yields 99.52% multi-class accuracy.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1D1D1F"/>
                </a:solidFill>
                <a:latin typeface="Arial"/>
              </a:rPr>
              <a:t>• IDS Direct: Directly utilized to evaluate the scalability and high-throughput capabilities of next-generation enterprise firewalls.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600" b="1">
                <a:solidFill>
                  <a:srgbClr val="1D1D1F"/>
                </a:solidFill>
                <a:latin typeface="Georgia"/>
              </a:rPr>
              <a:t>CICIoT2023 &amp; IoTID20 Model Smart Home Environments and Physical Devices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4415" cy="31750"/>
          </a:xfrm>
          <a:prstGeom prst="rect">
            <a:avLst/>
          </a:prstGeom>
          <a:solidFill>
            <a:srgbClr val="D2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0">
                <a:solidFill>
                  <a:srgbClr val="515154"/>
                </a:solidFill>
                <a:latin typeface="Arial"/>
              </a:rPr>
              <a:t>Evaluating Machine Learning for IoT Intrusion Detection | Reference Papers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515154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74320"/>
          <a:lstStyle/>
          <a:p>
            <a:pPr algn="ctr"/>
            <a:r>
              <a:rPr sz="1800" b="1">
                <a:solidFill>
                  <a:srgbClr val="D2691E"/>
                </a:solidFill>
                <a:latin typeface="Georgia"/>
              </a:rPr>
              <a:t>CICIoT2023: Widescale Smart Home IoT Lab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1D1D1F"/>
                </a:solidFill>
                <a:latin typeface="Arial"/>
              </a:rPr>
              <a:t>• Concept: Built by Neto et al. (2023) on a real physical IoT environment consisting of 105 devices (cameras, sensors, microcontrollers, Zigbee/Z-Wave hubs).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1D1D1F"/>
                </a:solidFill>
                <a:latin typeface="Arial"/>
              </a:rPr>
              <a:t>• Scope: Includes 47 features and covers 33 attack types categorized into 7 main families (DDoS, DoS, Recon, Web, BruteForce, Spoofing, Mirai).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1D1D1F"/>
                </a:solidFill>
                <a:latin typeface="Arial"/>
              </a:rPr>
              <a:t>• Accuracies: Proposed hybrid CNN/LSTM/MLP algorithms achieve up to 99.995% binary accuracy and 99.96% multi-class accuracy. Multi-class LSTM achieves 98.66%.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1D1D1F"/>
                </a:solidFill>
                <a:latin typeface="Arial"/>
              </a:rPr>
              <a:t>• IDS Direct: Represents the current state-of-the-art benchmark to assess IoT-targeted network layer defenses.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515154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74320"/>
          <a:lstStyle/>
          <a:p>
            <a:pPr algn="ctr"/>
            <a:r>
              <a:rPr sz="1800" b="1">
                <a:solidFill>
                  <a:srgbClr val="1D1D1F"/>
                </a:solidFill>
                <a:latin typeface="Georgia"/>
              </a:rPr>
              <a:t>IoTID20: Smart Property Mapping and Threat Detection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1D1D1F"/>
                </a:solidFill>
                <a:latin typeface="Arial"/>
              </a:rPr>
              <a:t>• Concept: Developed in 2020 by Ullah &amp; Mahmoud by splitting physical devices in a smart home lab into attacking and victim nodes (Wi-Fi camera, laptops, smartphones).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1D1D1F"/>
                </a:solidFill>
                <a:latin typeface="Arial"/>
              </a:rPr>
              <a:t>• Scope: Includes 86 features (80 network/flow-based) mapping normal traffic and Mirai, DoS, Scan, and MITM ARP Spoofing attacks.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1D1D1F"/>
                </a:solidFill>
                <a:latin typeface="Arial"/>
              </a:rPr>
              <a:t>• Accuracies: Ensemble Blending algorithms achieve 100% accuracy on IoTID20. CorChi feature selection combined with Decision Trees registers 99.80% accuracy.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1D1D1F"/>
                </a:solidFill>
                <a:latin typeface="Arial"/>
              </a:rPr>
              <a:t>• IDS Direct: Serves as a flow-based network benchmark specifically tailored for smart home appliance monitoring.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600" b="1">
                <a:solidFill>
                  <a:srgbClr val="1D1D1F"/>
                </a:solidFill>
                <a:latin typeface="Georgia"/>
              </a:rPr>
              <a:t>Tree-Based Classifiers Consistently Outperform Traditional Deep Learning on IoT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4415" cy="31750"/>
          </a:xfrm>
          <a:prstGeom prst="rect">
            <a:avLst/>
          </a:prstGeom>
          <a:solidFill>
            <a:srgbClr val="D2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0">
                <a:solidFill>
                  <a:srgbClr val="515154"/>
                </a:solidFill>
                <a:latin typeface="Arial"/>
              </a:rPr>
              <a:t>Evaluating Machine Learning for IoT Intrusion Detection | Reference Papers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3727" y="1645920"/>
            <a:ext cx="34747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15154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spcAft>
                <a:spcPts val="1200"/>
              </a:spcAft>
            </a:pPr>
            <a:r>
              <a:rPr sz="1600" b="1">
                <a:solidFill>
                  <a:srgbClr val="1D1D1F"/>
                </a:solidFill>
                <a:latin typeface="Georgia"/>
              </a:rPr>
              <a:t>Tree-Based Classifiers</a:t>
            </a:r>
          </a:p>
          <a:p>
            <a:pPr algn="ctr">
              <a:spcAft>
                <a:spcPts val="1800"/>
              </a:spcAft>
            </a:pPr>
            <a:r>
              <a:rPr sz="2200" b="1">
                <a:solidFill>
                  <a:srgbClr val="515154"/>
                </a:solidFill>
                <a:latin typeface="Arial"/>
              </a:rPr>
              <a:t>99.99% Accuracy</a:t>
            </a:r>
          </a:p>
          <a:p>
            <a:pPr algn="l"/>
            <a:r>
              <a:rPr sz="1100" b="0">
                <a:solidFill>
                  <a:srgbClr val="1D1D1F"/>
                </a:solidFill>
                <a:latin typeface="Arial"/>
              </a:rPr>
              <a:t>RF, DT, Extra Trees, and XGBoost systematically yield the highest and most robust classification accuracies across Bot-IoT, ToN-IoT, and NSL-KDD. They are highly overfit-resistant on imbalanced metadata.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487" y="1645920"/>
            <a:ext cx="34747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691E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spcAft>
                <a:spcPts val="1200"/>
              </a:spcAft>
            </a:pPr>
            <a:r>
              <a:rPr sz="1600" b="1">
                <a:solidFill>
                  <a:srgbClr val="1D1D1F"/>
                </a:solidFill>
                <a:latin typeface="Georgia"/>
              </a:rPr>
              <a:t>Hybrid Metaheuristic LSTM</a:t>
            </a:r>
          </a:p>
          <a:p>
            <a:pPr algn="ctr">
              <a:spcAft>
                <a:spcPts val="1800"/>
              </a:spcAft>
            </a:pPr>
            <a:r>
              <a:rPr sz="2200" b="1">
                <a:solidFill>
                  <a:srgbClr val="D2691E"/>
                </a:solidFill>
                <a:latin typeface="Arial"/>
              </a:rPr>
              <a:t>83% - 99.8% Accuracy</a:t>
            </a:r>
          </a:p>
          <a:p>
            <a:pPr algn="l"/>
            <a:r>
              <a:rPr sz="1100" b="0">
                <a:solidFill>
                  <a:srgbClr val="1D1D1F"/>
                </a:solidFill>
                <a:latin typeface="Arial"/>
              </a:rPr>
              <a:t>Long Short-Term Memory models optimized via metaheuristics (PSO, JAYA, Salp Swarm Algorithm) show strong temporal learning. Performance relies on filter count (30 filters ideal for convergence).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53247" y="1645920"/>
            <a:ext cx="34747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1D1F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spcAft>
                <a:spcPts val="1200"/>
              </a:spcAft>
            </a:pPr>
            <a:r>
              <a:rPr sz="1600" b="1">
                <a:solidFill>
                  <a:srgbClr val="1D1D1F"/>
                </a:solidFill>
                <a:latin typeface="Georgia"/>
              </a:rPr>
              <a:t>Proposed Blending &amp; DCNN</a:t>
            </a:r>
          </a:p>
          <a:p>
            <a:pPr algn="ctr">
              <a:spcAft>
                <a:spcPts val="1800"/>
              </a:spcAft>
            </a:pPr>
            <a:r>
              <a:rPr sz="2200" b="1">
                <a:solidFill>
                  <a:srgbClr val="515154"/>
                </a:solidFill>
                <a:latin typeface="Arial"/>
              </a:rPr>
              <a:t>99.9% - 100% Accuracy</a:t>
            </a:r>
          </a:p>
          <a:p>
            <a:pPr algn="l"/>
            <a:r>
              <a:rPr sz="1100" b="0">
                <a:solidFill>
                  <a:srgbClr val="1D1D1F"/>
                </a:solidFill>
                <a:latin typeface="Arial"/>
              </a:rPr>
              <a:t>Advanced architectures—like the Ensemble Blending framework or deep convolutional nets using Z-score normalization and stratified SMOTE—achieve flawless scores on IoTID20 and CICIoT2023.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600" b="1">
                <a:solidFill>
                  <a:srgbClr val="1D1D1F"/>
                </a:solidFill>
                <a:latin typeface="Georgia"/>
              </a:rPr>
              <a:t>4 Core Engineering Takeaways for Developing Your Intrusion Detection Project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4415" cy="31750"/>
          </a:xfrm>
          <a:prstGeom prst="rect">
            <a:avLst/>
          </a:prstGeom>
          <a:solidFill>
            <a:srgbClr val="D2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0">
                <a:solidFill>
                  <a:srgbClr val="515154"/>
                </a:solidFill>
                <a:latin typeface="Arial"/>
              </a:rPr>
              <a:t>Evaluating Machine Learning for IoT Intrusion Detection | Reference Papers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109441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515154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82880" rIns="182880"/>
          <a:lstStyle/>
          <a:p>
            <a:pPr algn="ctr"/>
            <a:r>
              <a:rPr sz="1300" b="1">
                <a:solidFill>
                  <a:srgbClr val="1D1D1F"/>
                </a:solidFill>
                <a:latin typeface="Georgia"/>
              </a:rPr>
              <a:t>1. Feature Selection Is Crucial: </a:t>
            </a:r>
            <a:r>
              <a:rPr sz="1100" b="0">
                <a:solidFill>
                  <a:srgbClr val="515154"/>
                </a:solidFill>
                <a:latin typeface="Arial"/>
              </a:rPr>
              <a:t>Using optimized subset selector algorithms—such as Binary Arithmetic Optimization Algorithm (BAOA), Pearson correlation coefficient, or CorChi (Chi2 + Corr)—cuts redundant features from 43+ down to 7–14 features without losing classification accuracy.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1109441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2691E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82880" rIns="182880"/>
          <a:lstStyle/>
          <a:p>
            <a:pPr algn="ctr"/>
            <a:r>
              <a:rPr sz="1300" b="1">
                <a:solidFill>
                  <a:srgbClr val="D2691E"/>
                </a:solidFill>
                <a:latin typeface="Georgia"/>
              </a:rPr>
              <a:t>2. Handle Severity Class Imbalance: </a:t>
            </a:r>
            <a:r>
              <a:rPr sz="1100" b="0">
                <a:solidFill>
                  <a:srgbClr val="515154"/>
                </a:solidFill>
                <a:latin typeface="Arial"/>
              </a:rPr>
              <a:t>Raw datasets are severely imbalanced (e.g. Bot-IoT is 99% malicious). Implementing stratified undersampling or hybrid oversampling (SMOTE) is essential to train an unbiased, generalizable classifier.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40480"/>
            <a:ext cx="1109441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1D1D1F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82880" rIns="182880"/>
          <a:lstStyle/>
          <a:p>
            <a:pPr algn="ctr"/>
            <a:r>
              <a:rPr sz="1300" b="1">
                <a:solidFill>
                  <a:srgbClr val="1D1D1F"/>
                </a:solidFill>
                <a:latin typeface="Georgia"/>
              </a:rPr>
              <a:t>3. Standardize on NetFlow Format: </a:t>
            </a:r>
            <a:r>
              <a:rPr sz="1100" b="0">
                <a:solidFill>
                  <a:srgbClr val="515154"/>
                </a:solidFill>
                <a:latin typeface="Arial"/>
              </a:rPr>
              <a:t>Transitioning raw PCAPs to standardised NetFlow (using nprobe/nfdump) like the NetFlow v2 datasets (Sarhan et al., 2021) allows testing your specific NIDS across several distinct physical networks with shared feature columns.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937760"/>
            <a:ext cx="1109441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515154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82880" rIns="182880"/>
          <a:lstStyle/>
          <a:p>
            <a:pPr algn="ctr"/>
            <a:r>
              <a:rPr sz="1300" b="1">
                <a:solidFill>
                  <a:srgbClr val="1D1D1F"/>
                </a:solidFill>
                <a:latin typeface="Georgia"/>
              </a:rPr>
              <a:t>4. Deploy Hybrid Models at the Edge: </a:t>
            </a:r>
            <a:r>
              <a:rPr sz="1100" b="0">
                <a:solidFill>
                  <a:srgbClr val="515154"/>
                </a:solidFill>
                <a:latin typeface="Arial"/>
              </a:rPr>
              <a:t>Decentralised dual-stage ensemble models (e.g. Stage 1 Extra Tree binary filter → Stage 2 Multilayer Perceptron classification) are highly suited for low-power edge nodes to prevent cloud latency bottleneck.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