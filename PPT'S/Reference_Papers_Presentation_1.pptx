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Literature Survey on Intrusion Detection Systems</a:t>
            </a:r>
          </a:p>
          <a:p>
            <a:pPr algn="ctr">
              <a:spcAft>
                <a:spcPts val="3600"/>
              </a:spcAft>
            </a:pPr>
            <a:r>
              <a:rPr sz="1800">
                <a:solidFill>
                  <a:srgbClr val="B45309"/>
                </a:solidFill>
                <a:latin typeface="Calibri"/>
              </a:rPr>
              <a:t>A Multi-Dataset Comparative Analysis of 8 Benchmark Network Security Datasets</a:t>
            </a:r>
          </a:p>
          <a:p>
            <a:pPr algn="ctr"/>
            <a:r>
              <a:rPr sz="1200">
                <a:solidFill>
                  <a:srgbClr val="E5E7EB"/>
                </a:solidFill>
                <a:latin typeface="Calibri"/>
              </a:rPr>
              <a:t>M.E. Computer Science and Engineering | Literature Survey Seminar</a:t>
            </a:r>
            <a:br/>
            <a:r>
              <a:t>Prepared and Structured Programmatically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01. Introduction: </a:t>
            </a:r>
            <a:r>
              <a:rPr sz="1300" b="0">
                <a:solidFill>
                  <a:srgbClr val="1F2937"/>
                </a:solidFill>
                <a:latin typeface="Calibri"/>
              </a:rPr>
              <a:t>NIDS overview &amp; the critical role of benchmark security datasets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02. BOT-IoT Dataset Review: </a:t>
            </a:r>
            <a:r>
              <a:rPr sz="1300" b="0">
                <a:solidFill>
                  <a:srgbClr val="1F2937"/>
                </a:solidFill>
                <a:latin typeface="Calibri"/>
              </a:rPr>
              <a:t>Evaluations of Kerrakchou, Aldaej, and Ashraf reference studies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03. UNSW-NB15 Dataset Review: </a:t>
            </a:r>
            <a:r>
              <a:rPr sz="1300" b="0">
                <a:solidFill>
                  <a:srgbClr val="1F2937"/>
                </a:solidFill>
                <a:latin typeface="Calibri"/>
              </a:rPr>
              <a:t>Evaluations of Hassouneh and Salam Fraihat NetFlow studies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04. ToN-IoT Dataset Review: </a:t>
            </a:r>
            <a:r>
              <a:rPr sz="1300" b="0">
                <a:solidFill>
                  <a:srgbClr val="1F2937"/>
                </a:solidFill>
                <a:latin typeface="Calibri"/>
              </a:rPr>
              <a:t>Evaluations of Iwanowski cross-dataset generalizability study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05. CICIoT2023 Dataset Review: </a:t>
            </a:r>
            <a:r>
              <a:rPr sz="1300" b="0">
                <a:solidFill>
                  <a:srgbClr val="1F2937"/>
                </a:solidFill>
                <a:latin typeface="Calibri"/>
              </a:rPr>
              <a:t>Evaluations of Younisse, Tseng, and Almahaqeri modern IoT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06. CICDDoS2019 Dataset Review: </a:t>
            </a:r>
            <a:r>
              <a:rPr sz="1300" b="0">
                <a:solidFill>
                  <a:srgbClr val="1F2937"/>
                </a:solidFill>
                <a:latin typeface="Calibri"/>
              </a:rPr>
              <a:t>Evaluations of Akgun, Subramanian, and Alsarhan DDoS models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07. NSL-KDD Dataset Review: </a:t>
            </a:r>
            <a:r>
              <a:rPr sz="1300" b="0">
                <a:solidFill>
                  <a:srgbClr val="1F2937"/>
                </a:solidFill>
                <a:latin typeface="Calibri"/>
              </a:rPr>
              <a:t>Evaluations of Vibhute, Dhote, and Pardeshi traditional frameworks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08. CICIDS2017 &amp; CSE-CIC-IDS2018: </a:t>
            </a:r>
            <a:r>
              <a:rPr sz="1300" b="0">
                <a:solidFill>
                  <a:srgbClr val="1F2937"/>
                </a:solidFill>
                <a:latin typeface="Calibri"/>
              </a:rPr>
              <a:t>Evaluations of Okey, Vishwakarma, Shebl, and Dash studies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09. IoTID20 Dataset Review: </a:t>
            </a:r>
            <a:r>
              <a:rPr sz="1300" b="0">
                <a:solidFill>
                  <a:srgbClr val="1F2937"/>
                </a:solidFill>
                <a:latin typeface="Calibri"/>
              </a:rPr>
              <a:t>Evaluations of Kaushik CorChi lightweight Industrial IoT study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• </a:t>
            </a:r>
            <a:r>
              <a:rPr sz="1300" b="1">
                <a:solidFill>
                  <a:srgbClr val="1F2937"/>
                </a:solidFill>
                <a:latin typeface="Calibri"/>
              </a:rPr>
              <a:t>10. Synthesis &amp; Comparative Analysis: </a:t>
            </a:r>
            <a:r>
              <a:rPr sz="1300" b="0">
                <a:solidFill>
                  <a:srgbClr val="1F2937"/>
                </a:solidFill>
                <a:latin typeface="Calibri"/>
              </a:rPr>
              <a:t>Cross-dataset characteristics, ML/DL comparisons, and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Introduction: IDS &amp; The Need for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WHAT IS NETWORK INTRUSION DETECTION?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Defense Mechanism: </a:t>
            </a:r>
            <a:r>
              <a:rPr sz="1200" b="0">
                <a:solidFill>
                  <a:srgbClr val="1F2937"/>
                </a:solidFill>
                <a:latin typeface="Calibri"/>
              </a:rPr>
              <a:t>IDS monitors network traffic for malicious signatures or statistical anomalies that violate safety policies.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Anomalous vs Misuse: </a:t>
            </a:r>
            <a:r>
              <a:rPr sz="1200" b="0">
                <a:solidFill>
                  <a:srgbClr val="1F2937"/>
                </a:solidFill>
                <a:latin typeface="Calibri"/>
              </a:rPr>
              <a:t>Misuse systems match predefined patterns, whereas anomaly-based systems utilize machine learning to model expected behaviors and catch zero-day attacks.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IoT Deployment: </a:t>
            </a:r>
            <a:r>
              <a:rPr sz="1200" b="0">
                <a:solidFill>
                  <a:srgbClr val="1F2937"/>
                </a:solidFill>
                <a:latin typeface="Calibri"/>
              </a:rPr>
              <a:t>Industrial and smart home IoT devices are highly resource-constrained, making lightweight edge IDS deployment essential.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THE ROLE OF BENCHMARK DATASETS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Evaluation Basis: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Provides standardized traffic environments to evaluate classification accuracy, recall, and false alarm rates.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Combating Overfitting: </a:t>
            </a:r>
            <a:r>
              <a:rPr sz="1200" b="0">
                <a:solidFill>
                  <a:srgbClr val="1F2937"/>
                </a:solidFill>
                <a:latin typeface="Calibri"/>
              </a:rPr>
              <a:t>Helps identify if classifiers are learning genuine malicious behaviors or merely memorizing training distributions.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Standard Format (NetFlow): </a:t>
            </a:r>
            <a:r>
              <a:rPr sz="1200" b="0">
                <a:solidFill>
                  <a:srgbClr val="1F2937"/>
                </a:solidFill>
                <a:latin typeface="Calibri"/>
              </a:rPr>
              <a:t>Modern researchers standardize raw packets to NetFlow v2 formats with 43 features to ensure cross-domain compatibility.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01. BOT-IoT Dataset</a:t>
            </a:r>
          </a:p>
          <a:p>
            <a:pPr algn="ctr">
              <a:spcBef>
                <a:spcPts val="1200"/>
              </a:spcBef>
            </a:pPr>
            <a:r>
              <a:t>Literature Survey on Network Intrusion Detection</a:t>
            </a:r>
            <a:r>
              <a:rPr sz="1800">
                <a:solidFill>
                  <a:srgbClr val="B45309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Section Divider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BOT-IoT: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BOT-IoT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Selection of Efficient Machine Learning Algorithm on Bot-IoT Dataset for Intrusion Detection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Imane Kerrakchou et al. | Year: 2021 | Journal/Conf: Indonesian Journal of Electrical Engineering and Computer Science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Identify the most efficient, lightweight classifier suitable for real-time edge IoT gateways.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 5% subset of Bot-IoT (3.6 million records) consisting of 46 raw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IoT Network IDS / Machine Learning Classifiers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Random Forest (RF), Decision Tree (DT), Gradient Boosting (GB), ANN, NB, LR.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Random Forest: 99.99% accuracy | ANN: 99.91% | Decision Tree: 99.88% | Naive Bayes: 98.13%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Formulated a statistical preprocessing pipeline that reduces the input dimensionality to 9 highly correlated features using Pearson Correlation Coefficient (PCC).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Demonstrated that careful statistical feature selection reduces gateway compute cost to near-zero with zero degradation in accuracy.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under a static, offline environment; did not capture real-time streaming traffic dynamics.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I. Kerrakchou et al., "Selection of efficient machine learning algorithm on Bot-IoT dataset for intrusion detection in internet of things networks," Indonesian J. Elec. Eng. &amp; Comp. Sci., vol. 21, no. 3, pp. 1783-1793, 2021.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BOT-IoT: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BOT-IoT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Ensemble Technique of Intrusion Detection for IoT-Edge Platform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Abdulaziz Aldaej, Imdad Ullah, Tariq Ahamed Ahanger, and Mohammed Atiquzzaman | Year: 2024 | Journal/Conf: Scientific Reports (Nature)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Mitigate cloud latency bottlenecks and detect high-throughput attacks directly at the decentralized IoT-Edge layer.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Used Bot-IoT (alongside NSL-KDD and CICIDS2018). Normalized and selected 18 attributes via recursive feature elimination; SMOTE balanced class distribution.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Decentralized IoT-Edge IDS / Hybrid Ensemble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Stage 1: Extra Trees (E-Tree) binary filter. Stage 2: Ensemble (E-Tree + RF + MLP/DNN) for multiclass attack classification.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Overall accuracy: 99.95% | Balanced accuracy: 99.59% (outperforming standalone KNN, RF, and NB)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Proposed a two-stage hybrid ensemble that filters normal traffic at Stage 1 before performing complex attack classification at Stage 2.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Provides extreme robustness against severe class imbalances, catching low-frequency attacks like Data Theft.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 parameters in Stage 2 MLP/DNN increase deployment footprint on tiny, low-power microcontrollers.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A. Aldaej, I. Ullah, T. A. Ahanger, and M. Atiquzzaman, "Ensemble technique of intrusion detection for IoT-edge platform," Sci. Rep., vol. 14, Art. no. 12066, 2024.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BOT-IoT: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BOT-IoT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Making a Real-Time IoT Network Intrusion-Detection System (INIDS) Using a Realistic BoT–IoT Dataset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Jawad Ashraf et al. | Year: 2025 | Journal/Conf: Applied Sciences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Address severe class imbalance and prevent model bias in real-time IoT intrusion detection.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 5% of Bot-IoT (3.6M samples). Used hybrid sampling (SMOTE + undersampling) to create a perfectly balanced subset of 3M records; selected 14 Pearson-correlated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Real-Time IoT NIDS / Balanced Machine Learning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Logistic Regression, SVM, KNN, Decision Tree, Random Forest, Naive Bayes, ANN.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Random Forest: 99.2% accuracy | Naive Bayes: 98.8% | KNN: 97.1% | ANN: 93.1% | LogReg: 92.6%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Systematically validated the impact of feature grouping and hybrid oversampling on preventing majority class bias.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RF proved exceptionally robust and resistant to SMOTE-introduced variance compared to decision trees.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SMOTE-generated synthetic flow vectors can diverge from physical packet interactions.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J. Ashraf, G. M. Raza, B.-S. Kim, A. Wahid, and H.-Y. Kim, "Making a Real-Time IoT Network Intrusion-Detection System (INIDS) Using a Realistic BoT–IoT Dataset with Multiple Machine-Learning Classifiers," INIDS, 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BOT-IoT Dataset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BOT-IoT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PROFILE &amp; CHARACTERISTICS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Purpose: </a:t>
            </a:r>
            <a:r>
              <a:rPr sz="1200" b="0">
                <a:solidFill>
                  <a:srgbClr val="1F2937"/>
                </a:solidFill>
                <a:latin typeface="Calibri"/>
              </a:rPr>
              <a:t>Model realistic botnet attacks (DDoS, DoS, Theft, PortScan) targeting smart home nodes.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Flow Count: </a:t>
            </a:r>
            <a:r>
              <a:rPr sz="1200" b="0">
                <a:solidFill>
                  <a:srgbClr val="1F2937"/>
                </a:solidFill>
                <a:latin typeface="Calibri"/>
              </a:rPr>
              <a:t>72+ million records in raw PCAP, with standard 5% (3.6M) and 10-best subsets widely used.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Imbalance: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Highly imbalanced (Benign represents &lt;1% of the raw dataset), requiring undersampling/SMOTE.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Frequent Models: </a:t>
            </a:r>
            <a:r>
              <a:rPr sz="1200" b="0">
                <a:solidFill>
                  <a:srgbClr val="1F2937"/>
                </a:solidFill>
                <a:latin typeface="Calibri"/>
              </a:rPr>
              <a:t>Random Forest (RF), Extra Trees (ET), and Multi-Layer Perceptrons (MLP).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SUMMARY OF LITERATURE FINDINGS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Peak Accuracy: </a:t>
            </a:r>
            <a:r>
              <a:rPr sz="1200" b="0">
                <a:solidFill>
                  <a:srgbClr val="1F2937"/>
                </a:solidFill>
                <a:latin typeface="Calibri"/>
              </a:rPr>
              <a:t>99.99% achieved by Random Forest using 9 Pearson-correlated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Provides high fidelity labels for specific botnet tools; excellent baseline for tree ensembles.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Extreme class imbalance causes models trained without SMOTE/undersampling to bias toward attacks.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 Extraction: </a:t>
            </a:r>
            <a:r>
              <a:rPr sz="1200" b="0">
                <a:solidFill>
                  <a:srgbClr val="1F2937"/>
                </a:solidFill>
                <a:latin typeface="Calibri"/>
              </a:rPr>
              <a:t>PCC and recursive attribute elimination successfully reduce features from 46 to 9–14 with no accuracy drop.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02. UNSW-NB15 Dataset</a:t>
            </a:r>
          </a:p>
          <a:p>
            <a:pPr algn="ctr">
              <a:spcBef>
                <a:spcPts val="1200"/>
              </a:spcBef>
            </a:pPr>
            <a:r>
              <a:t>Literature Survey on Network Intrusion Detection</a:t>
            </a:r>
            <a:r>
              <a:rPr sz="1800">
                <a:solidFill>
                  <a:srgbClr val="B45309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Section Divider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UNSW-NB15: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UNSW-NB15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Intrusion Detection in IoT Networks Using LSTM Deep Learning Models with the UNSW-NB15 Dataset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Nazek Hassouneh and Dr. Saleh al-sharaeh | Year: 2024 | Journal/Conf: University of Jordan Studies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Verify the capabilities of sequential neural networks in detecting modern, high-complexity attack types.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Trained on UNSW-NB15 dataset (175,341 records, 45 features representing content, time, and basic connection stats). Addressed class imbalance using SMOTE oversampling.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Deep Learning NIDS / Recurrent Neural Networks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LSTM, Bidirectional LSTM (BiLSTM), Gated Recurrent Unit (GRU), and Bidirectional GRU (BiGRU).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Balanced binary classification achieved accuracy up to 98.68% under SMOTE-assisted training.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Conducted a systematic assessment of temporal neural networks under oversampled network environments.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SMOTE oversampling successfully increases the F1-score of minority classes like backdoors and exploits.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Oversampled network files require substantial computational training time and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N. Hassouneh and S. al-sharaeh, "Intrusion Detection in IoT Networks Using LSTM Deep Learning Models with the UNSW-NB15 Dataset," King Abdallah II School of Information Technology,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UNSW-NB15: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UNSW-NB15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Modified Arithmetic Optimization Algorithm for Feature Selection in large-scale NetFlow Networks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Salam Fraihat et al. | Year: 2023 | Journal/Conf: Internet of Things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Unified NetFlow v2 standard feature extraction to ensure cross-domain NIDS generalizability.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Utilized unified NetFlow v2 version of UNSW-NB15 (NF-UNSW-NB15-v2). Preprocessed and evaluated a modified Binary Arithmetic Optimization Algorithm (BAOA) to extract top 7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NetFlow-based NIDS / Feature Selection Optimization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Decision Tree (DT), Random Forest (RF), Extra Trees (ET), and XGBoost (XGB).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XGBoost binary: 99.69% accuracy | Extra Trees binary: 99.98% (on NF-BoT-IoT-v2)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Proven that a unified set of 7 optimized features (focusing on protocols, rates, and bytes) can scale across diverse physical network captures.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Feature dimensionality reduction cuts evaluation time in half with near-zero loss in precision.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Modified BAOA metaheuristic can occasionally stall in local local optima during initial feature selection iterations.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S. Fraihat, S. Makhadmeh, M. Awad, M. A. Al-Betar, and A. Al-Redhaei, "Intrusion detection system for large-scale IoT NetFlow networks using machine learning with modified Arithmetic Optimization Algorithm," Internet of Things, vol. 22, Art. no. 100819, 2023.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UNSW-NB15 Dataset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UNSW-NB15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PROFILE &amp; CHARACTERISTICS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Purpose: </a:t>
            </a:r>
            <a:r>
              <a:rPr sz="1200" b="0">
                <a:solidFill>
                  <a:srgbClr val="1F2937"/>
                </a:solidFill>
                <a:latin typeface="Calibri"/>
              </a:rPr>
              <a:t>Replace obsolete datasets (KDD99) with realistic modern network traffic profiles.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Features: </a:t>
            </a:r>
            <a:r>
              <a:rPr sz="1200" b="0">
                <a:solidFill>
                  <a:srgbClr val="1F2937"/>
                </a:solidFill>
                <a:latin typeface="Calibri"/>
              </a:rPr>
              <a:t>49 features extracted via Argus and Bro-IDS, mapping basic, content, time, and general flow properties.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Attack Classes: </a:t>
            </a:r>
            <a:r>
              <a:rPr sz="1200" b="0">
                <a:solidFill>
                  <a:srgbClr val="1F2937"/>
                </a:solidFill>
                <a:latin typeface="Calibri"/>
              </a:rPr>
              <a:t>9 contemporary attack categories, including Fuzzers, Worms, Backdoors, and Analysis.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Models: </a:t>
            </a:r>
            <a:r>
              <a:rPr sz="1200" b="0">
                <a:solidFill>
                  <a:srgbClr val="1F2937"/>
                </a:solidFill>
                <a:latin typeface="Calibri"/>
              </a:rPr>
              <a:t>Tree Ensembles (XGBoost, Extra Trees), SVM, and Bidirectional LSTM.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SUMMARY OF LITERATURE FINDINGS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Peak Accuracy: </a:t>
            </a:r>
            <a:r>
              <a:rPr sz="1200" b="0">
                <a:solidFill>
                  <a:srgbClr val="1F2937"/>
                </a:solidFill>
                <a:latin typeface="Calibri"/>
              </a:rPr>
              <a:t>99.69% achieved by XGBoost using 7 BAOA-selected NetFlow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Contains realistic modern background traffic with complex, highly nested, non-linear attack distributions.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 similarity between benign traffic and low-frequency attack categories (Worms, Analysis) limits raw classifier recall.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Mitigations: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Hybrid sampling (SMOTE) and correlation-based feature elimination are crucial to decouple overlapping feature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03. ToN-IoT Dataset</a:t>
            </a:r>
          </a:p>
          <a:p>
            <a:pPr algn="ctr">
              <a:spcBef>
                <a:spcPts val="1200"/>
              </a:spcBef>
            </a:pPr>
            <a:r>
              <a:t>Literature Survey on Network Intrusion Detection</a:t>
            </a:r>
            <a:r>
              <a:rPr sz="1800">
                <a:solidFill>
                  <a:srgbClr val="B45309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Section Divider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ToN-IoT: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ToN-IoT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The Choice of Training Data and the Generalizability of Machine Learning Models for NIDS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Marcin Iwanowski, Dominik Olszewski, Waldemar Graniszewski, Jacek Krupski, and Franciszek Pelc | Year: 2025 | Journal/Conf: Applied Sciences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Measure and quantify dataset biases to evaluate if ML classifiers generalize when deployed on unseen physical networks.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NetFlow v2 versions of BoT-IoT, ToN-IoT, UNSW-NB15, and CSE-CIC-IDS2018 (43 shared features). Extracted 24 non-correlated features via Pearson Correlation; mapped overlaps with t-SNE.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Generalizability Evaluator / Cross-Domain NIDS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Extremely Randomized Trees (Extra Trees) combined with t-SNE 2D dimensionality reduction.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Within-Dataset F1-score: 95.5% to 99.2% | Cross-Dataset F1-score: Trained on ToN, tested on BoT = 0.000; Trained on BoT, tested on ToN = 0.050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Empirically proved that ML models suffer from severe dataset-specific biases, leading to complete classification failure when evaluated on different networks.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Identified t-SNE as a vital visualization technique to map high-dimensional feature distribution discrepancies across domains.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Did not propose a concrete domain adaptation algorithm or real-time feature transformation to mitigate cross-dataset drop-off.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M. Iwanowski et al., "The Choice of Training Data and the Generalizability of Machine Learning Models for Network Intrusion Detection Systems," Appl. Sci., vol. 15, no. 15, Art. no. 8466, 2025.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ToN-IoT Dataset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ToN-IoT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PROFILE &amp; CHARACTERISTICS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Purpose: </a:t>
            </a:r>
            <a:r>
              <a:rPr sz="1200" b="0">
                <a:solidFill>
                  <a:srgbClr val="1F2937"/>
                </a:solidFill>
                <a:latin typeface="Calibri"/>
              </a:rPr>
              <a:t>Model heterogeneous data from multiple IoT layers, including OS logs, raw network flows, and sensor telemetry.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Device Telemetry: </a:t>
            </a:r>
            <a:r>
              <a:rPr sz="1200" b="0">
                <a:solidFill>
                  <a:srgbClr val="1F2937"/>
                </a:solidFill>
                <a:latin typeface="Calibri"/>
              </a:rPr>
              <a:t> logs states from 7 edge devices (Fridge, GPS, Garage Door, Sense Motion, Modbus, Thermostat, Weather).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Attack Classes: </a:t>
            </a:r>
            <a:r>
              <a:rPr sz="1200" b="0">
                <a:solidFill>
                  <a:srgbClr val="1F2937"/>
                </a:solidFill>
                <a:latin typeface="Calibri"/>
              </a:rPr>
              <a:t>9 contemporary attack categories, including Backdoor, Injection, Ransomware, Scanning, and XSS.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Models: </a:t>
            </a:r>
            <a:r>
              <a:rPr sz="1200" b="0">
                <a:solidFill>
                  <a:srgbClr val="1F2937"/>
                </a:solidFill>
                <a:latin typeface="Calibri"/>
              </a:rPr>
              <a:t>Extra Trees, Random Forest, XGBoost, and MLP telemetry classifiers.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SUMMARY OF LITERATURE FINDINGS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Peak Accuracy: </a:t>
            </a:r>
            <a:r>
              <a:rPr sz="1200" b="0">
                <a:solidFill>
                  <a:srgbClr val="1F2937"/>
                </a:solidFill>
                <a:latin typeface="Calibri"/>
              </a:rPr>
              <a:t>99.99% achieved under binary classification using 7 BAOA-selected NetFlow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Provides multi-source logs, allowing models to evaluate host logs, raw network flows, and telemetry side-by-side.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Telemetry attributes exhibit high linearity, leading to overfitting when models are evaluated outside their specific physical smart home testbed.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Cross-Dataset: </a:t>
            </a:r>
            <a:r>
              <a:rPr sz="1200" b="0">
                <a:solidFill>
                  <a:srgbClr val="1F2937"/>
                </a:solidFill>
                <a:latin typeface="Calibri"/>
              </a:rPr>
              <a:t>t-SNE mappings prove ToN-IoT features occupy completely separate regions from BoT-IoT, causing cross-dataset F1 scores of 0.00.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04. CICIoT2023 Dataset</a:t>
            </a:r>
          </a:p>
          <a:p>
            <a:pPr algn="ctr">
              <a:spcBef>
                <a:spcPts val="1200"/>
              </a:spcBef>
            </a:pPr>
            <a:r>
              <a:t>Literature Survey on Network Intrusion Detection</a:t>
            </a:r>
            <a:r>
              <a:rPr sz="1800">
                <a:solidFill>
                  <a:srgbClr val="B45309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Section Divider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CICIoT2023: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CICIoT2023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NIDS-CNNLSTM: Network Intrusion Detection Classification Model Based on Deep Learning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R. Younisse, A. Ahmad, and Q. Abu Al-Haija | Year: 2024 | Journal/Conf: Electronics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Build a robust, hybrid deep learning classifier to identify modern, high-volume DDoS and DoS attacks.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 modern physical smart home lab dataset CICIoT2023 (40 features selected via correlation matrix) and validated on ToN_IoT Windows 10 Processed subset (85 features).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Deep Learning NIDS / Spatial-Temporal Network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Proposed hybrid CNN-LSTM (1D-CNN layers extract spatial flow details, LSTM layers extract temporal packet intervals).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CICIoT2023: 99.995% binary accuracy | 99.96% multi-class accuracy (outperforming standalone CNN at 99.90%)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Constructed a sequential CNN-LSTM model utilizing global average pooling instead of fully connected layers to reduce network parameters and prevent overfitting.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Excellent parameter regularization, allowing the model to process high-dimensional tabular flows without overfitting.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The proposed LSTM layers with units=140, dropout=0.2, and recurrent_dropout=0.4 require high training and execution latency.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R. Younisse et al., "NIDS-CNNLSTM: Network Intrusion Detection Classification Model Based on Deep Learning," Electronics, vol. 13, no. 10, Art. no. 1053, 2024.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CICIoT2023: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CICIoT2023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Transformer-Based Intrusion Detection for IoT Networks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S. M. Tseng, Y. Q. Wang, and Y. C. Wang | Year: 2024 | Journal/Conf: Future Internet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 the performance and parallel scalability of self-attention Transformer encoder models on network flow data.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CICIoT2023 dataset (merged 169 CSV files into single training frame). Removed natural language word embeddings and positional encoding since flow features are fixed and numeric.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Transformer-Based NIDS / Parallel Deep Learning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Transformer Encoder (comprising Multi-Head Attention, Layer Normalization, and Feed-Forward Networks).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Proposed Transformer Model: 99.40% multi-class classification accuracy (FLOPs = 84,176)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Proven that standard self-attention mechanisms can be applied directly to numeric network tables by omitting positional encoding and word embeddings.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Parallel sequence processing speeds up training throughput compared to traditional sequential LSTMs.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 computational complexity ($O(n^2 \cdot d)$) restricts deployment to resource-rich gateways.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S. M. Tseng et al., "Multi-class intrusion detection based on transformer for IoT networks using CIC-IoT-2023 dataset," Future Internet, vol. 16, no. 8, Art. no. 284, 2024.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CICIoT2023: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CICIoT2023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A Multi-Class Classification Model on CICIoT2023 Using Kolmogorov–Arnold Networks and Tree Ensembles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Salah Almahaqeri et al. | Year: 2026 | Journal/Conf: Scientific Reports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Address class imbalance and excessive compute costs of training classifiers on the massive 46.6M record CICIoT2023 dataset.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Used stratified undersampling to build Binary (4M), 8-class (5M), and 34-class (5M) subsets. Applied LightGBM-based feature importance to isolate 23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High-Volume IoT NIDS / Tree Ensembles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XGBoost, LightGBM, and CatBoost.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CatBoost 8-class F1-score: 0.9923 | XGBoost 8-class: 0.9912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Developed a stratified undersampling allocation formula that maintains rare security-critical attack classes (minimum 1,000 samples) while filtering majority noise.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Proven that tree-based gradient boosting models provide exceptional multi-class accuracy on balanced subsets with minimal feature spaces.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Undersampling strategies inherently discard vast quantities of normal background traffic, potentially causing false positives in physical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S. Almahaqeri et al., "A Multi-Class Classification Model on CICIoT2023 Using Kolmogorov–Arnold Networks and Tree Ensembles," Sci Rep, vol. 16, Art. no. 1452,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CICIoT2023 Dataset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CICIoT2023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PROFILE &amp; CHARACTERISTICS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Purpose: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 intrusion detectors on wide-scale physical IoT infrastructures (105 physical devices).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Features: </a:t>
            </a:r>
            <a:r>
              <a:rPr sz="1200" b="0">
                <a:solidFill>
                  <a:srgbClr val="1F2937"/>
                </a:solidFill>
                <a:latin typeface="Calibri"/>
              </a:rPr>
              <a:t>47 features representing packet counts, rates, magnitude, and specific TCP protocol flags.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Attack Classes: </a:t>
            </a:r>
            <a:r>
              <a:rPr sz="1200" b="0">
                <a:solidFill>
                  <a:srgbClr val="1F2937"/>
                </a:solidFill>
                <a:latin typeface="Calibri"/>
              </a:rPr>
              <a:t>33 attack types categorized into 7 main families (DDoS, DoS, Recon, Web, BruteForce, Spoofing, Mirai).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Volume: </a:t>
            </a:r>
            <a:r>
              <a:rPr sz="1200" b="0">
                <a:solidFill>
                  <a:srgbClr val="1F2937"/>
                </a:solidFill>
                <a:latin typeface="Calibri"/>
              </a:rPr>
              <a:t>Extremely large (46.6+ million instances), making direct training computationally expensive.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SUMMARY OF LITERATURE FINDINGS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Peak Accuracy: </a:t>
            </a:r>
            <a:r>
              <a:rPr sz="1200" b="0">
                <a:solidFill>
                  <a:srgbClr val="1F2937"/>
                </a:solidFill>
                <a:latin typeface="Calibri"/>
              </a:rPr>
              <a:t>99.995% binary accuracy achieved by hybrid CNN-LSTM network.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Represents the most realistic modern smart home topology in the literature, capturing physical device nuances.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Massive size and extreme class imbalance bias models unless stratified undersampling is applied.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 Pruning: </a:t>
            </a:r>
            <a:r>
              <a:rPr sz="1200" b="0">
                <a:solidFill>
                  <a:srgbClr val="1F2937"/>
                </a:solidFill>
                <a:latin typeface="Calibri"/>
              </a:rPr>
              <a:t>Boolean protocol flags (DNS, HTTP) contain near-zero information gain; statistical descriptors (IAT, Variance) dominate classification decisions.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05. CICDDoS2019 Dataset</a:t>
            </a:r>
          </a:p>
          <a:p>
            <a:pPr algn="ctr">
              <a:spcBef>
                <a:spcPts val="1200"/>
              </a:spcBef>
            </a:pPr>
            <a:r>
              <a:t>Literature Survey on Network Intrusion Detection</a:t>
            </a:r>
            <a:r>
              <a:rPr sz="1800">
                <a:solidFill>
                  <a:srgbClr val="B45309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Section Divider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CICDDoS2019: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CICDDoS2019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A Deep Learning Approach Based on Inception-like Blocks for DDoS Classification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Devrim Akgun, Selman Hizal, and Unal Cavusoglu | Year: 2022 | Journal/Conf: Computers &amp; Security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Construct an inception-based deep convolutional network to identify parallel DDoS flows.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Preprocessed raw CIC-DDoS2019 to eliminate null, zero-variance, and duplicate records. Used Info Gain Attribute Evaluation to isolate a 40-feature subset on a balanced dataset of 660,621 unique samples.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Deep Learning DDoS IDS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Proposed 1D-CNN with inception-like blocks vs. standard CNN, LSTM, and DNN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Multi-class accuracy: 99.30% (best-in-class) | True Positive Rate for benign: 0.999, WebDDoS: 0.977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First to decompose input features into raw byte values, allowing the 1D-CNN to process wide numeric scales without gradient explosions.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Cleans massive duplicates ignored by prior literature, ensuring unbiased and realistic cross-validation.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Excluded LDAP attack class during evaluation due to high structural similarity with DNS.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D. Akgun, S. Hizal, and U. Cavusoglu, "A Deep Learning Approach Based on Inception-like Blocks for DDoS Classification," Computers &amp; Security, vol. 118, Art. no. 102748, 2022.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CICDDoS2019: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CICDDoS2019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DDoS Attack Detection Using Deep Learning and Bayesian Hyperparameter Optimization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M. Subramanian, K. Shanmugavadivel, P. S. Nandhini, and R. Sowmya | Year: 2022 | Journal/Conf: LNCS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Optimize recurrent neural network parameters to capture long-duration transport and application-layer DDoS attacks.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 raw CICDDoS2019 flows containing 86 features across MSSQL, SSDP, TFTP, DNS, LDAP, and NTP attack categories.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Deep Learning NIDS / Temporal Sequential IDS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LSTM and GRU networks optimized using Bayesian Hyperparameter Tuning.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Bayesian-Optimized LSTM: 99.40% accuracy | GRU-IDS: 92.50% accuracy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Utilized a Bayesian search space (tuning learning rate, cell units, and optimizers) to resolve temporal vanishing gradients in NIDS.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Exceptional precision and recall rates when classifying persistent application-layer DDoS traffic.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 computational latency of deep sequential RNNs limits deployment on low-resource IoT edge platforms.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M. Subrmanian et al., "DDoS Attack Detection Using Deep Learning and Bayesian Hyperparameter Optimization," LNCS, vol. 140, pp. 395-402, 2022.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CICDDoS2019: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CICDDoS2019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Deep Learning Utilization for DDoS Attack Detection with Federated Learning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Ayoub Alsarhan and Malek Barhoush | Year: 2026 | Journal/Conf: ETASR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Protect modern smart home endpoints from high-volume DDoS attacks while preserving user data privacy.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Utilized the CICDDoS2019 dataset. Preprocessed to remove zero-variance columns (e.g. Fwd Blk Rate Avg) and normalized features via Min-Max scaling to [0,1].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Federated Deep Learning (FDL) IDS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Proposed Federated Deep Learning (FDL) model evaluated against SVM, Random Forest, and standard RNN.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FDL model outperformed baseline classifiers, achieving high precision and accuracy (~93.0%)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Integrated federated learning with deep anomaly detection, allowing local nodes to share weights instead of raw traffic data.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Secures user privacy, drastically reducing data centralization and interception overhead.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 communication delays during international federated weight consensus epochs.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A. Alsarhan and M. Barhoush, "Deep Learning Utilization for DDoS Attack Detection with Federated Learning: A Case Study on the CICDDoS2019 Dataset," ETASR, vol. 16, no. 1, pp. 31203-31208,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CICDDoS2019 Dataset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CICDDoS2019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PROFILE &amp; CHARACTERISTICS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Purpose: </a:t>
            </a:r>
            <a:r>
              <a:rPr sz="1200" b="0">
                <a:solidFill>
                  <a:srgbClr val="1F2937"/>
                </a:solidFill>
                <a:latin typeface="Calibri"/>
              </a:rPr>
              <a:t>Model diverse reflection-based and exploitation-based DDoS attacks (DNS, MSSQL, LDAP, NTP, SSDP).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Traffic Source: </a:t>
            </a:r>
            <a:r>
              <a:rPr sz="1200" b="0">
                <a:solidFill>
                  <a:srgbClr val="1F2937"/>
                </a:solidFill>
                <a:latin typeface="Calibri"/>
              </a:rPr>
              <a:t>Generated using real-world traffic scripts via CICFlowMeter, capturing actual packet headers.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Size: </a:t>
            </a:r>
            <a:r>
              <a:rPr sz="1200" b="0">
                <a:solidFill>
                  <a:srgbClr val="1F2937"/>
                </a:solidFill>
                <a:latin typeface="Calibri"/>
              </a:rPr>
              <a:t>Massive (exceeds 50M flow traces), requiring extensive random selection or stratified sampling.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Models: </a:t>
            </a:r>
            <a:r>
              <a:rPr sz="1200" b="0">
                <a:solidFill>
                  <a:srgbClr val="1F2937"/>
                </a:solidFill>
                <a:latin typeface="Calibri"/>
              </a:rPr>
              <a:t>Inception 1D-CNN, Bayesian LSTM, and Federated Deep Learning (FDL).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SUMMARY OF LITERATURE FINDINGS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Peak Accuracy: </a:t>
            </a:r>
            <a:r>
              <a:rPr sz="1200" b="0">
                <a:solidFill>
                  <a:srgbClr val="1F2937"/>
                </a:solidFill>
                <a:latin typeface="Calibri"/>
              </a:rPr>
              <a:t>99.40% achieved by Bayesian LSTM; 99.30% achieved by bytes-decomposed Inception CNN.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Provides the most realistic collection of transport-layer protocol exploits and reflection attack signatures.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Original dataset has massive duplicate and NaN rows that falsely inflate validation accuracy if left uncleaned.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 Pruning: </a:t>
            </a:r>
            <a:r>
              <a:rPr sz="1200" b="0">
                <a:solidFill>
                  <a:srgbClr val="1F2937"/>
                </a:solidFill>
                <a:latin typeface="Calibri"/>
              </a:rPr>
              <a:t>Pruning zero-variance columns (e.g. Fwd Blk Rate Avg) and using InfoGain leaves 40 highly informative features.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06. NSL-KDD Dataset</a:t>
            </a:r>
          </a:p>
          <a:p>
            <a:pPr algn="ctr">
              <a:spcBef>
                <a:spcPts val="1200"/>
              </a:spcBef>
            </a:pPr>
            <a:r>
              <a:t>Literature Survey on Network Intrusion Detection</a:t>
            </a:r>
            <a:r>
              <a:rPr sz="1800">
                <a:solidFill>
                  <a:srgbClr val="B45309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Section Divider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NSL-KDD: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NSL-KDD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Network Intrusion Detection Using Random Forest Feature Selection and Machine Learning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Amol D. Vibhute et al. | Year: 2024 | Journal/Conf: Procedia Computer Science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Extract a minimal subset of essential features to enhance classifier execution speeds on traditional LAN networks.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 benchmark NSL-KDD dataset. Cleaned Nan/null entries, applied Min-Max normalization, and used Random Forest feature importance (0.05 threshold) to select the 9 best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Network Intrusion Detection / Shallow Machine Learning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Support Vector Machine (SVM), Logistic Regression, and K-Nearest Neighbors (KNN).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K-Nearest Neighbors (KNN): 98.24% accuracy | Logistic Regression: 88.86% | SVM (linear kernel): 87.58%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Proven that reducing the input dimension to 9 essential features significantly speeds up classification with minimal impact on accuracy.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Highly lightweight framework, suitable for low-memory network devices.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Limited to binary classification (normal vs anomaly); did not evaluate multi-class attack categories.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A. D. Vibhute et al., "Network Intrusion Detection Using Random Forest Feature Selection and Machine Learning," Procedia Comput. Sci., vol. 233, pp. 960-969, 2024.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NSL-KDD: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NSL-KDD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A Comparative Machine Learning Framework for Network Intrusion Detection Using the NSL-KDD Dataset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Sudhanshu Dhote and Dr. Deepak Agrawal | Year: 2026 | Journal/Conf: IJIESIA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Construct an end-to-end framework comparing linear and non-linear classification boundaries for binary network security.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Preprocessed NSL-KDD dataset using StandardScaler and one-hot encoding on protocol, service, and flag features (expanding dimensions to 100). Split train/test at 75:25.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Network-Based Anomaly IDS / Machine Learning Framework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Linear SVM (LSVM), Quadratic SVM (QSVM), KNN, LDA, and Quadratic Discriminant Analysis (QDA).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KNN (k=5): 98.55% accuracy | LSVM: 96.70% | LDA: 96.71% | QSVM: 95.71% | QDA: 68.53%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Developed a structured, modular pipeline separating data cleaning, feature normalization, and comparative statistical validation.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KNN achieved the lowest MAE, MSE, and RMSE, confirming superior prediction stability.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QDA failed significantly (68.53%) due to severe feature collinearity and covariance estimation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S. Dhote and D. Agrawal, "A Comparative Machine Learning Framework for Network Intrusion Detection using the NSL-KDD Dataset," IJIESIA, vol. 1, no. 2, pp. 1-15, 2026.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NSL-KDD: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NSL-KDD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Binary and Multiclass Classification Intrusion Detection System using Benchmark NSL-KDD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N. G. Pardeshi and D. V. Patil | Year: 2023 | Journal/Conf: Procedia (ICAMIDA)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Optimize multi-class attack classification rates on NSL-KDD using feature reduction and grid search.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Standard NSL-KDD dataset (KDDTrain+). Applied SelectKBest (mutual information) and Correlation Feature Selection (CFS) to isolate optimal multi-class attributes.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Network Anomaly IDS / Machine Learning Classifiers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Gaussian NB, KNN, DT, RF, SVM, Gradient Boost, AdaBoost, and LDA.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Random Forest: 90% multiclass accuracy | Gradient Boosting: 90% | DT: 89% | SVM: 88% | KNN: 87%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Integrated a Grid-Search hyperparameter tuning protocol to identify the optimal configuration for all shallow ML models.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First to successfully demonstrate the power of CFS in removing redundant multi-class feature paths.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only shallow ML models; did not explore deep feature extraction algorithms.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N. G. Pardeshi and D. V. Patil, "Binary and Multiclass Classification Intrusion Detection System using Benchmark NSL-KDD and Machine Learning Models," in Proc. ICAMIDA, pp. 214-234, 2023.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NSL-KDD Dataset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NSL-KDD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PROFILE &amp; CHARACTERISTICS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Purpose: </a:t>
            </a:r>
            <a:r>
              <a:rPr sz="1200" b="0">
                <a:solidFill>
                  <a:srgbClr val="1F2937"/>
                </a:solidFill>
                <a:latin typeface="Calibri"/>
              </a:rPr>
              <a:t>Resolve KDD Cup 99's severe duplicate and bias flaws to provide a solid academic baseline.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Features: </a:t>
            </a:r>
            <a:r>
              <a:rPr sz="1200" b="0">
                <a:solidFill>
                  <a:srgbClr val="1F2937"/>
                </a:solidFill>
                <a:latin typeface="Calibri"/>
              </a:rPr>
              <a:t>41 features (32 continuous, 9 nominal) representing duration, service, flags, and host-based traffic rates.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Attack Families: </a:t>
            </a:r>
            <a:r>
              <a:rPr sz="1200" b="0">
                <a:solidFill>
                  <a:srgbClr val="1F2937"/>
                </a:solidFill>
                <a:latin typeface="Calibri"/>
              </a:rPr>
              <a:t>4 categories: Denial of Service (DoS), Probe, User-to-Root (U2R), and Remote-to-Local (R2L).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Models: </a:t>
            </a:r>
            <a:r>
              <a:rPr sz="1200" b="0">
                <a:solidFill>
                  <a:srgbClr val="1F2937"/>
                </a:solidFill>
                <a:latin typeface="Calibri"/>
              </a:rPr>
              <a:t>KNN, LSVM, Random Forest, Decision Tree, and Gradient Boosting.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SUMMARY OF LITERATURE FINDINGS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Peak Accuracy: </a:t>
            </a:r>
            <a:r>
              <a:rPr sz="1200" b="0">
                <a:solidFill>
                  <a:srgbClr val="1F2937"/>
                </a:solidFill>
                <a:latin typeface="Calibri"/>
              </a:rPr>
              <a:t>98.55% achieved by KNN (k=5) in binary classification; 99.30% via EFS + LS-SVM; 90.0% in multi-class tree models.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Extremely clean, balanced, and contains no duplicate records, preventing classifiers from memorizing repetitive patterns.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Lacks modern IoT protocols (MQTT, CoAP) and realistic packet-layer headers, reducing real-world IoT applicability.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Collinearity issues: </a:t>
            </a:r>
            <a:r>
              <a:rPr sz="1200" b="0">
                <a:solidFill>
                  <a:srgbClr val="1F2937"/>
                </a:solidFill>
                <a:latin typeface="Calibri"/>
              </a:rPr>
              <a:t>One-hot encoding protocol/flag variables expands dimensions to 100, which causes covariance failures in models like QDA.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07. CICIDS2017 &amp; CSE-CIC-IDS2018</a:t>
            </a:r>
          </a:p>
          <a:p>
            <a:pPr algn="ctr">
              <a:spcBef>
                <a:spcPts val="1200"/>
              </a:spcBef>
            </a:pPr>
            <a:r>
              <a:t>Literature Survey on Network Intrusion Detection</a:t>
            </a:r>
            <a:r>
              <a:rPr sz="1800">
                <a:solidFill>
                  <a:srgbClr val="B45309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Section Divider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CICIDS2017/18: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CICIDS2017/18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Intrusion Detection on IoT Systems Using Automatic Xplainable Feature Selection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Ogobuchi Daniel Okey, Ekikere Umoren Udo, and João Henrique Kleinschmidt | Year: 2023 | Journal/Conf: PLOS ONE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Propose a tabular-native deep neural net with built-in feature interpretability to protect cloud IoT environments.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 high-complexity datasets: CIC-IDS2017 (83 features, 15 classes), CSE-CIC-IDS2018 (80 features, 16 classes), and CIC-DDoS2019. Automated preprocessing handles data imbalances.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Explainable Deep Learning IDS / Tabular NIDS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Proposed TabNet-IDS model (using a sequential attention masking encoder) optimized via **Optuna**.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CIC-DDoS2019: 98.51% accuracy | CIC-IDS2017: 97.03% | CSE-CIC-IDS2018: 95.58%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Developed a sequential attention-enabled masking algorithm that highlights the global and local contribution weights of each feature during training.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Achieves complete transparency and explainability without requiring third-party frameworks like LIME or SHAP.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TabNet-IDS requires an extremely large search space and computationally expensive Optuna tuning cycles.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O. D. Okey, E. U. Udo, and J. H. Kleinschmidt, "Intrusion Detection on IoT Systems Using Automatic Xplainable Feature Selection," PLOS ONE, vol. 18, no. 6, e0286652, 2023.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CICIDS2017/18: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CICIDS2017/18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A New Two-Phase Intrusion Detection System with Naïve Bayes Machine Learning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Monika Vishwakarma and Nishtha Kesswani | Year: 2023 | Journal/Conf: Decision Analytics Journal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Minimize the False Alarm Rate (FAR) of network detectors by separating classification from outlier detection.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NSL-KDD, UNSW-NB15, and CIC-IDS2017 (object, integer, float, and binary features). Class imbalance solved using class weight distributions.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Two-Phase Hybrid NIDS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Stage 1: Feature Separation + Naive Bayes Classifier Ensemble (majority voting). Stage 2: Unsupervised **Elliptic Envelope** outlier detection.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CIC-IDS2017: 98.59% accuracy | NSL-KDD: 97.00% | UNSW-NB15: 86.90% (with low FAR)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Proposed a two-phase architecture where Stage 2 uses an unsupervised Elliptic Envelope to construct a robust Mahalanobis distance anomaly boundary.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Maintains high accuracy and low false positives even on imbalanced network data.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Multi-stage pipeline increases system complexity and does not work effectively for fine-grained multi-class attacks.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M. Vishwakarma and N. Kesswani, "A new two-phase intrusion detection system with Naïve Bayes machine learning for data classification and elliptic envelop method for anomaly detection," Decis. Analytics J., vol. 7, Art. no. 100233, 2023.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CICIDS2017/18: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CICIDS2017/18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A Robust Deep Learning NIDS on Modern IoT and Healthcare Protocols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Ahmed Shebl et al. | Year: 2024 | Journal/Conf: EURASIP Journal on Information Security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Secure modern IoT and healthcare endpoints (CICIoMT2024) by designing a robust multi-layer deep network.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 CICIoMT2024 (18 attacks, MQTT/CoAP protocols), CICIoT2023, and CICIDS-2017. Standardized features around mean and unit standard deviation; used One-Hot Encoding.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Deep Learning NIDS / Healthcare IoT Security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Proposed Deep Convolutional Neural Network (DCNN) vs. Deep Neural Network (DNN) baselines.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CICIoMT2024 DCNN: 99.98% binary, 99.86% multi-class accuracy | CICIDS-2017 DCNN: 99.96% binary, 99.96% multi-class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Formulated spatial 1D convolutional layers mapped to pool-upsampling blocks that extract high-level flow patterns without losing minority details.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Exceptional multi-class recall on rare, complex application-layer medical exploits (e.g. MQTT Malformed Data).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DCNN spatial representations act as a closed 'black box', lacking model explainability.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A. Shebl et al., "A Robust Deep Learning NIDS on Modern IoT and Healthcare Protocols," EURASIP J. Inf. Secur., vol. 2024, Art. no. 36, 2024.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CICIDS2017/18: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CICIDS2017/18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An Optimized LSTM-Based Deep Learning Model for Anomaly Network Intrusion Detection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Nitu Dash, Sujata Chakravarty, Amiya Kumar Rath, and Nimay Chandra Giri | Year: 2025 | Journal/Conf: Scientific Reports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Optimize recurrent neural net structures to capture long-term temporal network anomalies accurately.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NSL-KDD (20% subset), CICIDS 2017 (103,825 training rows), and Bot-IoT (107,634 training rows). Utilized Z-score normalization.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Metaheuristic Deep Learning NIDS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Long Short-Term Memory (LSTM) network optimized using PSO-LSTM, JAYA-LSTM, and Salp Swarm Algorithm (SSA-LSTM).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On CICIDS 2017 (SSA-LSTM with 30 filters): 99.80% accuracy | NSL-KDD: 97.89% | Bot-IoT: 86.44% accuracy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Developed an optimization framework where the Salp Swarm Algorithm dynamically tunes LSTM units and Conv1D filters to prevent vanishing gradients.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SSA-LSTM consistently outperformed PSO and JAYA in convergence speed and precision.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Testing accuracy on Bot-IoT dropped to 86.44%, showing poor generalization under botnet-dominated tabular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N. Dash et al., "An Optimized LSTM-Based Deep Learning Model for Anomaly Network Intrusion Detection," Sci. Rep., vol. 15, Art. no. 1554, 2025.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CICIDS2017 &amp; CSE-CIC-IDS2018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CICIDS2017/18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PROFILE &amp; CHARACTERISTICS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Purpose: </a:t>
            </a:r>
            <a:r>
              <a:rPr sz="1200" b="0">
                <a:solidFill>
                  <a:srgbClr val="1F2937"/>
                </a:solidFill>
                <a:latin typeface="Calibri"/>
              </a:rPr>
              <a:t>Capture realistic multi-day enterprise LAN behaviors with complex multi-protocol flows.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Features: </a:t>
            </a:r>
            <a:r>
              <a:rPr sz="1200" b="0">
                <a:solidFill>
                  <a:srgbClr val="1F2937"/>
                </a:solidFill>
                <a:latin typeface="Calibri"/>
              </a:rPr>
              <a:t>80–84 continuous flow features mapping packet sizes, rates, inter-arrival times (IAT), and TCP flags.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Attack Classes: </a:t>
            </a:r>
            <a:r>
              <a:rPr sz="1200" b="0">
                <a:solidFill>
                  <a:srgbClr val="1F2937"/>
                </a:solidFill>
                <a:latin typeface="Calibri"/>
              </a:rPr>
              <a:t>DDoS, DoS, PortScan, Infiltration, Bot, and modern Web Attacks.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Models: </a:t>
            </a:r>
            <a:r>
              <a:rPr sz="1200" b="0">
                <a:solidFill>
                  <a:srgbClr val="1F2937"/>
                </a:solidFill>
                <a:latin typeface="Calibri"/>
              </a:rPr>
              <a:t>TabNet-IDS, Deep CNN (DCNN), Two-Phase Ensembles, and SSA-LSTM.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SUMMARY OF LITERATURE FINDINGS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Peak Accuracy: </a:t>
            </a:r>
            <a:r>
              <a:rPr sz="1200" b="0">
                <a:solidFill>
                  <a:srgbClr val="1F2937"/>
                </a:solidFill>
                <a:latin typeface="Calibri"/>
              </a:rPr>
              <a:t>99.96% achieved by DCNN on CICIDS-2017; 99.80% achieved by SSA-LSTM; 95.58% by TabNet on CSE-CIC-IDS2018.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Very high packet volume; captures real background traffic on modern protocols (HTTP/HTTPS, SSH, FTP).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 class imbalance (Infiltration is extremely rare) and large feature space increase model training times.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Explainability: </a:t>
            </a:r>
            <a:r>
              <a:rPr sz="1200" b="0">
                <a:solidFill>
                  <a:srgbClr val="1F2937"/>
                </a:solidFill>
                <a:latin typeface="Calibri"/>
              </a:rPr>
              <a:t>TabNet-IDS features self-attention masking to provide transparent predictions without third-party SHAP/LIME.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08. IoTID20 Dataset</a:t>
            </a:r>
          </a:p>
          <a:p>
            <a:pPr algn="ctr">
              <a:spcBef>
                <a:spcPts val="1200"/>
              </a:spcBef>
            </a:pPr>
            <a:r>
              <a:t>Literature Survey on Network Intrusion Detection</a:t>
            </a:r>
            <a:r>
              <a:rPr sz="1800">
                <a:solidFill>
                  <a:srgbClr val="B45309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D1D5DB"/>
                </a:solidFill>
                <a:latin typeface="Calibri"/>
              </a:rPr>
              <a:t>M.E. Computer Science &amp; Engineering | Literature Survey | Section Divider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IoTID20: Literature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IoTID20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  <a:latin typeface="Calibri"/>
              </a:rPr>
              <a:t>IoT Intrusion Detection Using Machine Learning with a Novel High-Performing Feature Selection Method</a:t>
            </a:r>
          </a:p>
          <a:p>
            <a:pPr>
              <a:spcAft>
                <a:spcPts val="1400"/>
              </a:spcAft>
            </a:pPr>
            <a:r>
              <a:rPr sz="1100" i="1">
                <a:solidFill>
                  <a:srgbClr val="6B7280"/>
                </a:solidFill>
                <a:latin typeface="Calibri"/>
              </a:rPr>
              <a:t>Authors: Sunil Kaushik, Akashdeep Bhardwaj, Ahmad Almogren, Salil Bharany et al. | Year: 2025 | Journal/Conf: Scientific Reports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Objective: </a:t>
            </a:r>
            <a:r>
              <a:rPr sz="1200" b="0">
                <a:solidFill>
                  <a:srgbClr val="1F2937"/>
                </a:solidFill>
                <a:latin typeface="Calibri"/>
              </a:rPr>
              <a:t>Build a lightweight, highly accurate IDS for Industrial IoT by replacing complex, resource-heavy neural networks with simple statistical feature selection.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Dataset Scope: </a:t>
            </a:r>
            <a:r>
              <a:rPr sz="1200" b="0">
                <a:solidFill>
                  <a:srgbClr val="1F2937"/>
                </a:solidFill>
                <a:latin typeface="Calibri"/>
              </a:rPr>
              <a:t>Evaluated on IoTID20 dataset (normal and diverse attacks: Mirai, DoS, Scan, MITM) and benchmarked on NSL-KDD. Preprocessed via standard scaling and normalized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IDS Type: </a:t>
            </a:r>
            <a:r>
              <a:rPr sz="1200" b="0">
                <a:solidFill>
                  <a:srgbClr val="1F2937"/>
                </a:solidFill>
                <a:latin typeface="Calibri"/>
              </a:rPr>
              <a:t>Industrial IoT IDS / Lightweight Machine Learning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Models Evaluated: </a:t>
            </a:r>
            <a:r>
              <a:rPr sz="1200" b="0">
                <a:solidFill>
                  <a:srgbClr val="1F2937"/>
                </a:solidFill>
                <a:latin typeface="Calibri"/>
              </a:rPr>
              <a:t>SVM, NB, LR (as poor baselines) and DT, RF, AdaBoost (AD) paired with a proposed CorChi feature selection technique.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480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EVALUATION METRICS &amp; FINDINGS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Best Performance: IoTID20 (CorChi + Decision Tree): 99.80% accuracy | NSL-KDD (CorChi + RF): 99.92% accuracy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Key Contributions: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Formulated the CorChi (Correlation + Chi-Square) feature selection technique, which evaluates CHI statistics and Pearson correlation thresholds to select **26 optimal features on IoTID20 and 25 features on NSL-KDD**.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DT accuracy increased by 29% when trained on CorChi, proving that lightweight shallow models can match deep learning performance.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Requires parameter tuning post multiple experimental iterations, which may not generalize to unseen network protocols.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900" i="1">
                <a:solidFill>
                  <a:srgbClr val="6B7280"/>
                </a:solidFill>
                <a:latin typeface="Calibri"/>
              </a:rPr>
              <a:t>Citation: S. Kaushik, A. Bhardwaj, A. Almogren et al., "IoT Intrusion Detection Using Machine Learning with a Novel High-Performing Feature Selection Method," Sci. Rep., vol. 15, Art. no. 3882, 2025.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IoTID20 Dataset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IoTID20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PROFILE &amp; CHARACTERISTICS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Purpose: </a:t>
            </a:r>
            <a:r>
              <a:rPr sz="1200" b="0">
                <a:solidFill>
                  <a:srgbClr val="1F2937"/>
                </a:solidFill>
                <a:latin typeface="Calibri"/>
              </a:rPr>
              <a:t>Specifically model anomaly-based intrusions in IoT smart home networks using physical device nodes.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Features: </a:t>
            </a:r>
            <a:r>
              <a:rPr sz="1200" b="0">
                <a:solidFill>
                  <a:srgbClr val="1F2937"/>
                </a:solidFill>
                <a:latin typeface="Calibri"/>
              </a:rPr>
              <a:t>86 features (80 network/flow-based) mapping packet sizes, IAT, rates, and flags.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Attack Classes: </a:t>
            </a:r>
            <a:r>
              <a:rPr sz="1200" b="0">
                <a:solidFill>
                  <a:srgbClr val="1F2937"/>
                </a:solidFill>
                <a:latin typeface="Calibri"/>
              </a:rPr>
              <a:t>Mirai botnet, DoS, Port Scan, and MITM ARP Spoofing attacks.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Models: </a:t>
            </a:r>
            <a:r>
              <a:rPr sz="1200" b="0">
                <a:solidFill>
                  <a:srgbClr val="1F2937"/>
                </a:solidFill>
                <a:latin typeface="Calibri"/>
              </a:rPr>
              <a:t>Decision Tree (DT), Random Forest (RF), and AdaBoost (AD).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SUMMARY OF LITERATURE FINDINGS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Peak Accuracy: </a:t>
            </a:r>
            <a:r>
              <a:rPr sz="1200" b="0">
                <a:solidFill>
                  <a:srgbClr val="1F2937"/>
                </a:solidFill>
                <a:latin typeface="Calibri"/>
              </a:rPr>
              <a:t>99.80% achieved by Decision Tree when combined with CorChi feature selection; 99.86% by GRU/LSTM multi-head attention.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Advantages: </a:t>
            </a:r>
            <a:r>
              <a:rPr sz="1200" b="0">
                <a:solidFill>
                  <a:srgbClr val="1F2937"/>
                </a:solidFill>
                <a:latin typeface="Calibri"/>
              </a:rPr>
              <a:t>Perfect representation of a typical smart home environment; highly detailed flow features.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Common Limitations: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Baselines (SVM, NB, LR) fail significantly due to redundant feature correlations.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CorChi Power: </a:t>
            </a:r>
            <a:r>
              <a:rPr sz="1200" b="0">
                <a:solidFill>
                  <a:srgbClr val="1F2937"/>
                </a:solidFill>
                <a:latin typeface="Calibri"/>
              </a:rPr>
              <a:t>Combining Chi-Square with Pearson Correlation removes redundant columns, allowing a simple Decision Tree to match complex deep neural net accuracy.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Comparative Analysis: Parent Datasets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Comparative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46304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149"/>
                <a:gridCol w="1727149"/>
                <a:gridCol w="1727149"/>
                <a:gridCol w="1727149"/>
                <a:gridCol w="1727149"/>
                <a:gridCol w="172715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Traffic Environment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Attack Categories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Feat.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Best 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Peak Acc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Bot-IoT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Simulated Smart Home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DDoS, DoS, Theft, Recon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UNSW-NB15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Cyber Range Hybrid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Exploits, DoS, Fuzzers, Worms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EFS + LS-SVM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93.27%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ToN-IoT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Widescale Telemetry /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MITM, Ransomware, XSS, 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BAOA-XGBoost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CICIoT2023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105 Physical Devices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DDoS, Mirai, BruteForce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1D-CNN + LSTM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CICDDoS2019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Reflection/Exploit 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DNS, NTP, LDAP, MSSQL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Bayesian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99.40%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NSL-KDD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Refined Enterprise LAN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DoS, Probe, U2R, R2L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CorChi + RF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99.92%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CICIDS-2017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Multi-day User Behaviors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DDoS, PortScan, 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99.96%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IoTID20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Smart Home Testbed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Mirai, DoS, Scan, MITM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CorChi + DT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99.80%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Comparative Analysis: Machine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RANDOM FOREST &amp; TREE ENSEMBLES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Exceptional Performance: </a:t>
            </a:r>
            <a:r>
              <a:rPr sz="1200" b="0">
                <a:solidFill>
                  <a:srgbClr val="1F2937"/>
                </a:solidFill>
                <a:latin typeface="Calibri"/>
              </a:rPr>
              <a:t>Random Forest, Extra Trees, and XGBoost achieve up to 99.99% accuracy across Bot-IoT, ToN-IoT, and NSL-KDD datasets.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Overfit-Resistance: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Highly resilient to synthetic packet-layer variances introduced by oversampling techniques like SMOTE.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Computational Efficiency: </a:t>
            </a:r>
            <a:r>
              <a:rPr sz="1200" b="0">
                <a:solidFill>
                  <a:srgbClr val="1F2937"/>
                </a:solidFill>
                <a:latin typeface="Calibri"/>
              </a:rPr>
              <a:t>Features selected using PCC or CorChi allow decision trees to execute within milliseconds, making them perfect for low-power IoT gateways.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SUPPORT VECTOR MACHINES &amp; LINEAR BOUNDARIES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SVM Accuracies: </a:t>
            </a:r>
            <a:r>
              <a:rPr sz="1200" b="0">
                <a:solidFill>
                  <a:srgbClr val="1F2937"/>
                </a:solidFill>
                <a:latin typeface="Calibri"/>
              </a:rPr>
              <a:t>Linear SVM (LSVM) paired with exhaustive feature selection yields 99.32% on NSL-KDD, but falls under 80% without pruning.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Non-Linear boundaries: </a:t>
            </a:r>
            <a:r>
              <a:rPr sz="1200" b="0">
                <a:solidFill>
                  <a:srgbClr val="1F2937"/>
                </a:solidFill>
                <a:latin typeface="Calibri"/>
              </a:rPr>
              <a:t>Quadratic SVM (QSVM) can map complex attack clusters but increases mathematical training complexity.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Linear Classifiers (LDA/QDA): </a:t>
            </a:r>
            <a:r>
              <a:rPr sz="1200" b="0">
                <a:solidFill>
                  <a:srgbClr val="1F2937"/>
                </a:solidFill>
                <a:latin typeface="Calibri"/>
              </a:rPr>
              <a:t>Fast execution but QDA fails drastically (68.53%) on datasets with high feature collinearity (e.g. NSL-KDD protocol variables).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Comparative Analysis: Deep Learning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SPATIAL-TEMPORAL NEURAL NETWORKS (CNN &amp; LSTM)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Proposed CNN-LSTM: </a:t>
            </a:r>
            <a:r>
              <a:rPr sz="1200" b="0">
                <a:solidFill>
                  <a:srgbClr val="1F2937"/>
                </a:solidFill>
                <a:latin typeface="Calibri"/>
              </a:rPr>
              <a:t>Hybrid sequential models (1D-CNN spatial filters + LSTM temporal recurrence) achieve up to 99.995% binary accuracy on CICIoT2023.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SSA-LSTM temporal learning: </a:t>
            </a:r>
            <a:r>
              <a:rPr sz="1200" b="0">
                <a:solidFill>
                  <a:srgbClr val="1F2937"/>
                </a:solidFill>
                <a:latin typeface="Calibri"/>
              </a:rPr>
              <a:t>Long Short-Term Memory models optimized via Salp Swarm Algorithm achieve 99.80% accuracy on CICIDS-2017.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Bytes Decompositions: </a:t>
            </a:r>
            <a:r>
              <a:rPr sz="1200" b="0">
                <a:solidFill>
                  <a:srgbClr val="1F2937"/>
                </a:solidFill>
                <a:latin typeface="Calibri"/>
              </a:rPr>
              <a:t>Converting inputs to byte arrays allows 1D-CNNs with inception-like layers to parse highly varied numeric attributes on CICDDoS2019.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TRANSFORMERS, TABNET &amp; ADVANCED MODELS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Transformer self-attention: </a:t>
            </a:r>
            <a:r>
              <a:rPr sz="1200" b="0">
                <a:solidFill>
                  <a:srgbClr val="1F2937"/>
                </a:solidFill>
                <a:latin typeface="Calibri"/>
              </a:rPr>
              <a:t>Bypassing text word embeddings and positional encoding allows standard self-attention encoders to achieve 99.40% on CICIoT2023.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TabNet-IDS Explainability: </a:t>
            </a:r>
            <a:r>
              <a:rPr sz="1200" b="0">
                <a:solidFill>
                  <a:srgbClr val="1F2937"/>
                </a:solidFill>
                <a:latin typeface="Calibri"/>
              </a:rPr>
              <a:t>Sequential attention masks provide transparent global and local feature importance rankings, yielding 95.58% accuracy on CSE-CIC-IDS2018.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Edge Constraints: </a:t>
            </a:r>
            <a:r>
              <a:rPr sz="1200" b="0">
                <a:solidFill>
                  <a:srgbClr val="1F2937"/>
                </a:solidFill>
                <a:latin typeface="Calibri"/>
              </a:rPr>
              <a:t>Heavy parameter scales ($O(n^2 \cdot d)$) of self-attention networks restrict real-time deployment on microcontrollers.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Research Gaps Identified Across Reference Literature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DATASET GENERALIZABILITY &amp; REDUNDANCY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Cross-Domain Failure: </a:t>
            </a:r>
            <a:r>
              <a:rPr sz="1200" b="0">
                <a:solidFill>
                  <a:srgbClr val="1F2937"/>
                </a:solidFill>
                <a:latin typeface="Calibri"/>
              </a:rPr>
              <a:t>Models trained on ToN-IoT fail completely (0.000 F1-score) when tested on BoT-IoT, indicating severe network capture bias (Iwanowski et al., 2025).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Feature Redundancy: </a:t>
            </a:r>
            <a:r>
              <a:rPr sz="1200" b="0">
                <a:solidFill>
                  <a:srgbClr val="1F2937"/>
                </a:solidFill>
                <a:latin typeface="Calibri"/>
              </a:rPr>
              <a:t>Standard benchmarks contain massive collinear and zero-variance features that falsely inflate model accuracies.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Class Imbalances: </a:t>
            </a:r>
            <a:r>
              <a:rPr sz="1200" b="0">
                <a:solidFill>
                  <a:srgbClr val="1F2937"/>
                </a:solidFill>
                <a:latin typeface="Calibri"/>
              </a:rPr>
              <a:t>Raw captures are heavily skewed (e.g. Bot-IoT benign samples are &lt;1%), biasing models toward majority classes unless SMOTE is 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EXPLAINABILITY &amp; EDGE DEPLOYMENT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The 'Black Box' Problem: </a:t>
            </a:r>
            <a:r>
              <a:rPr sz="1200" b="0">
                <a:solidFill>
                  <a:srgbClr val="1F2937"/>
                </a:solidFill>
                <a:latin typeface="Calibri"/>
              </a:rPr>
              <a:t>Highly accurate deep learning architectures (DCNN, LSTMs) lack transparency, reducing security administrators' trust in predictions.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High Parameter Space: </a:t>
            </a:r>
            <a:r>
              <a:rPr sz="1200" b="0">
                <a:solidFill>
                  <a:srgbClr val="1F2937"/>
                </a:solidFill>
                <a:latin typeface="Calibri"/>
              </a:rPr>
              <a:t>Self-attention encoders and hybrid CNN-LSTM models require high-performance hardware, which is incompatible with tiny IoT battery life.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Synthetic Over-Oversampling: </a:t>
            </a:r>
            <a:r>
              <a:rPr sz="1200" b="0">
                <a:solidFill>
                  <a:srgbClr val="1F2937"/>
                </a:solidFill>
                <a:latin typeface="Calibri"/>
              </a:rPr>
              <a:t>SMOTE oversampling generates artificial statistical flows that may not reflect realistic physical packet behaviors.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Conclusion &amp; Key Project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SYNTHESIS OF IDS TRENDS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Most Widely Used: </a:t>
            </a:r>
            <a:r>
              <a:rPr sz="1200" b="0">
                <a:solidFill>
                  <a:srgbClr val="1F2937"/>
                </a:solidFill>
                <a:latin typeface="Calibri"/>
              </a:rPr>
              <a:t>NSL-KDD remains the most robust academic baseline, while CICIoT2023 represents the state-of-the-art for physical smart home profiling.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Most Effective Models: </a:t>
            </a:r>
            <a:r>
              <a:rPr sz="1200" b="0">
                <a:solidFill>
                  <a:srgbClr val="1F2937"/>
                </a:solidFill>
                <a:latin typeface="Calibri"/>
              </a:rPr>
              <a:t>Random Forest and tree ensembles consistently deliver the best and most overfit-resistant results across high-imbalance IoT telemetry.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Deep vs Shallow: </a:t>
            </a:r>
            <a:r>
              <a:rPr sz="1200" b="0">
                <a:solidFill>
                  <a:srgbClr val="1F2937"/>
                </a:solidFill>
                <a:latin typeface="Calibri"/>
              </a:rPr>
              <a:t>Shallow ML models with optimized feature subsets (PCC, CorChi) match complex neural networks while requiring fraction of the compute footprint.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93776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  <a:latin typeface="Calibri"/>
              </a:rPr>
              <a:t>ROADMAP FOR YOUR IDS PROJECT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1. Prioritize Feature Pruning: </a:t>
            </a:r>
            <a:r>
              <a:rPr sz="1200" b="0">
                <a:solidFill>
                  <a:srgbClr val="1F2937"/>
                </a:solidFill>
                <a:latin typeface="Calibri"/>
              </a:rPr>
              <a:t>Utilize Pearson Correlation or CorChi to select the top 9–14 features to avoid feature scale dominance and speed up prediction cycles.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2. Apply Stratified Sampling: </a:t>
            </a:r>
            <a:r>
              <a:rPr sz="1200" b="0">
                <a:solidFill>
                  <a:srgbClr val="1F2937"/>
                </a:solidFill>
                <a:latin typeface="Calibri"/>
              </a:rPr>
              <a:t>Use strict stratified undersampling equations to retain rare, security-critical attack classes while trimming legal background noise.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• </a:t>
            </a:r>
            <a:r>
              <a:rPr sz="1200" b="1">
                <a:solidFill>
                  <a:srgbClr val="1F2937"/>
                </a:solidFill>
                <a:latin typeface="Calibri"/>
              </a:rPr>
              <a:t>3. Deploy Decoupled Ensembles: </a:t>
            </a:r>
            <a:r>
              <a:rPr sz="1200" b="0">
                <a:solidFill>
                  <a:srgbClr val="1F2937"/>
                </a:solidFill>
                <a:latin typeface="Calibri"/>
              </a:rPr>
              <a:t>Use a dual-stage edge framework: Stage 1 (Extra Tree binary filter) → Stage 2 (Multilayer Perceptron multiclass identifier) to optimize gateway throughput.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Academic Bibliography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PRIMARY SYSTEM REFERENCE PAPERS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[1] I. Kerrakchou et al., "Selection of efficient machine learning algorithm on Bot-IoT dataset..." Indonesian J. Elec. Eng. &amp; Comp. Sci., vol. 21, no. 3, 2021.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[2] A. Aldaej et al., "Ensemble technique of intrusion detection for IoT-edge platform," Sci. Rep., vol. 14, Art. no. 12066, 2024.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[3] J. Ashraf et al., "Making a Real-Time IoT Network Intrusion-Detection System (INIDS) Using a Realistic BoT–IoT Dataset," Appl. Sci., vol. 15, no. 4, 2025.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[4] N. Hassouneh and S. al-sharaeh, "Intrusion Detection in IoT Networks Using LSTM Deep Learning Models with the UNSW-NB15 Dataset," 2024.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[5] M. Iwanowski et al., "The Choice of Training Data and the Generalizability of Machine Learning Models for NIDS," Appl. Sci., vol. 15, no. 15, 2025.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[6] S. Fraihat et al., "Intrusion detection system for large-scale IoT NetFlow networks using machine learning with modified AOA," Internet of Things, vol. 22, 2023.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ADVANCED DEEP LEARNING &amp; IoT REFERENCES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[7] R. Younisse et al., "NIDS-CNNLSTM: Network Intrusion Detection Classification Model Based on Deep Learning," Electronics, vol. 13, no. 10, 2024.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[8] S. M. Tseng et al., "Multi-class intrusion detection based on transformer for IoT networks using CIC-IoT-2023 dataset," Future Internet, vol. 16, no. 8, 2024.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[9] D. Akgun et al., "A Deep Learning Approach Based on Inception-like Blocks for DDoS Classification," Computers &amp; Security, vol. 118, 2022.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[10] O. D. Okey et al., "Intrusion Detection on IoT Systems Using Automatic Xplainable Feature Selection," PLOS ONE, vol. 18, no. 6, 2023.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[11] S. Dhote and D. Agrawal, "A Comparative Machine Learning Framework for Network Intrusion Detection using the NSL-KDD Dataset," IJIESIA, vol. 1, no. 2, 2026.</a:t>
            </a:r>
          </a:p>
          <a:p>
            <a:pPr>
              <a:spcAft>
                <a:spcPts val="4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[12] S. Kaushik et al., "IoT Intrusion Detection Using Machine Learning with a Novel High-Performing Feature Selection Method," Sci. Rep., vol. 15, no. 1, 2025.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Dataset Citations &amp; Standard Bibliography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43000"/>
            <a:ext cx="10362895" cy="254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309360"/>
            <a:ext cx="10362895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M.E. Computer Science &amp; Engineering | Literature Survey |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BENCHMARK DATASETS BIBLIOGRAPHY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[1] BOT-IoT: N. Koroniotis, N. Moustafa et al., "Towards the development of realistic botnet dataset in the internet of things for network forensic analytics," Future Generation Computer Systems, vol. 100, pp. 779-796, 2019.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[2] UNSW-NB15: N. Moustafa and J. Slay, "UNSW-NB15: a comprehensive data set for network intrusion detection systems," in Military Communications and Information Systems Conference (MilCIS), pp. 1-6, 2015.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[3] ToN-IoT: A. Alsaedi, N. Moustafa et al., "TON_IoT Telemetry Dataset: A New Generation Dataset of IoT and IIoT for Data-Driven Intrusion Detection Systems," IEEE Access, vol. 8, pp. 165130-165150, 2020.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[4] NSL-KDD: M. Tavallaee, E. Bagheri, W. Lu, and A. A. Ghorbani, "A detailed analysis of the KDD CUP 99 data set," in Proc. IEEE Symposium on CISDA, Ottawa, ON, Canada, pp. 1-6, 2009.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937760" cy="457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CANADIAN INSTITUTE FOR CYBERSECURITY REFERENCES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[5] CICIoT2023: E. C. P. Neto, S. Dadkhah, R. Ferreira, A. Zohourian, R. Lu, and A. A. Ghorbani, "CICIoT2023: a real-time dataset and benchmark for large-scale attacks in IoT environment," Sensors, vol. 23, no. 13, Art. no. 5941, 2023.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[6] CIC-IDS2017: I. Sharafaldin, A. H. Lashkari, and A. A. Ghorbani, "Toward generating a new intrusion detection dataset and intrusion traffic characterization," in Proc. ICISSP, Funchal, Madeira, Portugal, pp. 108-116, 2018.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[7] CSE-CIC-IDS2018: Canadian Institute for Cybersecurity, "CSE-CIC-IDS2018: a comprehensive dataset for network traffic intrusion detection and malicious activity recognition," 2018.</a:t>
            </a:r>
          </a:p>
          <a:p>
            <a:pPr>
              <a:spcAft>
                <a:spcPts val="600"/>
              </a:spcAft>
            </a:pPr>
            <a:r>
              <a:rPr sz="850">
                <a:solidFill>
                  <a:srgbClr val="1F2937"/>
                </a:solidFill>
                <a:latin typeface="Calibri"/>
              </a:rPr>
              <a:t>[8] IoTID20: I. Ullah and Q. H. Mahmoud, "A scheme for anomaly-based intrusion detection in IoT networks using machine learning," in Proc. IEEE Smart Cities Conf. (ISC2), pp. 1-5, 2020.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