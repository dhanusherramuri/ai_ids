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Literature Survey on Intrusion Detection Systems</a:t>
            </a:r>
          </a:p>
          <a:p>
            <a:pPr>
              <a:spcAft>
                <a:spcPts val="3600"/>
              </a:spcAft>
            </a:pPr>
            <a:r>
              <a:rPr sz="1800" b="0">
                <a:solidFill>
                  <a:srgbClr val="C2410C"/>
                </a:solidFill>
                <a:latin typeface="Arial"/>
              </a:rPr>
              <a:t>A Comparative Analysis of Benchmark Datasets and Reference Papers</a:t>
            </a:r>
          </a:p>
          <a:p>
            <a:r>
              <a:rPr sz="1300" b="0">
                <a:solidFill>
                  <a:srgbClr val="9CA3AF"/>
                </a:solidFill>
                <a:latin typeface="Arial"/>
              </a:rPr>
              <a:t>M.E. Computer Science and Engineering</a:t>
            </a:r>
            <a:br/>
            <a:r>
              <a:t>Evaluating Bot-IoT, UNSW-NB15, ToN-IoT, CICIoT2023, CICDDoS2019, NSL-KDD, and CIC-IDS Benchmarks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Georgia"/>
              </a:rPr>
              <a:t>Presentation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317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Arial"/>
              </a:rPr>
              <a:t>M.E. Literature Survey | Network Security and Intrusion Detection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1. Introduction to Network Anomaly Detection and Benchmark Datasets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2. BOT-IoT Dataset: Kerrakchou et al. (2023) — Correlation &amp; Random Forest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3. UNSW-NB15 Dataset: Hassouneh &amp; al-sharaeh (2024) — SMOTE Oversampling &amp; Recurrent Neural Nets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4. ToN-IoT Dataset: Iwanowski et al. (2025) — t-SNE &amp; Cross-Dataset Generalizability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5. CICIoT2023 Dataset: Younisse &amp; Ahmad (2024) — CNN-LSTM Hybrid Architecture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6. CICDDoS2019 Dataset: Akgun et al. (2022) — 1D Inception-Like Blocks &amp; Feature Cleanups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7. NSL-KDD Dataset: Vibhute et al. (2024) — RF-Gini Gating &amp; KNN Boundaries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8. CIC-IDS2017 &amp; CSE-CIC-IDS2018: Rodriguez et al. (2023) — Attentive Explainable TabNet-IDS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9. IoTID20 Dataset: Kaushik et al. (2025) — CorChi-DT Lightweight Classifiers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10. Comparative Evaluation, Gaps, and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Georgia"/>
              </a:rPr>
              <a:t>1. BOT-IoT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317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Arial"/>
              </a:rPr>
              <a:t>M.E. Literature Survey | Network Security and Intrusion Detection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Georgia"/>
              </a:rPr>
              <a:t>Paper: "Selection of efficient machine learning algorithm on Bot-IoT dataset for intrusion detection in internet of things networks"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11480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BEST REPORTED PERFORMANCE:</a:t>
            </a:r>
          </a:p>
          <a:p>
            <a:pPr>
              <a:spcAft>
                <a:spcPts val="2400"/>
              </a:spcAft>
            </a:pPr>
            <a:r>
              <a:rPr sz="2400" b="1">
                <a:solidFill>
                  <a:srgbClr val="C2410C"/>
                </a:solidFill>
                <a:latin typeface="Georgia"/>
              </a:rPr>
              <a:t>99.99% Accuracy</a:t>
            </a:r>
            <a:br/>
            <a:r>
              <a:t>(Random Forest)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CORE RESEARCH OUTCOME:</a:t>
            </a:r>
          </a:p>
          <a:p>
            <a:r>
              <a:rPr sz="1500" b="0">
                <a:solidFill>
                  <a:srgbClr val="1F2937"/>
                </a:solidFill>
                <a:latin typeface="Arial"/>
              </a:rPr>
              <a:t>Confirmed that selecting a tightly pruned set of 9 highly correlated features achieves perfect classification accuracy while dramatically reducing computational overhead on resource-constrained IoT gateways.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377440"/>
            <a:ext cx="6522415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DATASET USAGE &amp; MODEL SUMMARY: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Conducted statistical correlation analysis on the Bot-IoT dataset to prune features from 46 down to the 9 most highly correlated feature columns.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Supervised classifiers were trained on a 5% subset containing roughly 3.6 million rows to construct highly optimized, low-overhead models.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Evaluated six machine learning methods: Random Forest, Gradient Boosting, Decision Tree, ANN, Naïve Bayes, and Logistic Regression.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Georgia"/>
              </a:rPr>
              <a:t>2. UNSW-NB15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317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Arial"/>
              </a:rPr>
              <a:t>M.E. Literature Survey | Network Security and Intrusion Detection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Georgia"/>
              </a:rPr>
              <a:t>Paper: "Intrusion Detection in IoT Networks Using LSTM Deep Learning Models with the UNSW-NB15 Dataset"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11480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BEST REPORTED PERFORMANCE:</a:t>
            </a:r>
          </a:p>
          <a:p>
            <a:pPr>
              <a:spcAft>
                <a:spcPts val="2400"/>
              </a:spcAft>
            </a:pPr>
            <a:r>
              <a:rPr sz="2400" b="1">
                <a:solidFill>
                  <a:srgbClr val="C2410C"/>
                </a:solidFill>
                <a:latin typeface="Georgia"/>
              </a:rPr>
              <a:t>98.68% Binary Accuracy</a:t>
            </a:r>
            <a:br/>
            <a:r>
              <a:t>(SMOTE + BiLSTM)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CORE RESEARCH OUTCOME:</a:t>
            </a:r>
          </a:p>
          <a:p>
            <a:r>
              <a:rPr sz="1500" b="0">
                <a:solidFill>
                  <a:srgbClr val="1F2937"/>
                </a:solidFill>
                <a:latin typeface="Arial"/>
              </a:rPr>
              <a:t>Demonstrated that SMOTE oversampling significantly improves the representation of minority classes, enhancing model convergence and robustness in detecting complex attacks (like fuzzers and backdoors).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377440"/>
            <a:ext cx="6522415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DATASET USAGE &amp; MODEL SUMMARY: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Addressed the severe class imbalances within the UNSW-NB15 training dataset (175,341 records) which typically bias networks toward majority labels.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Constructed and compared four distinct temporal deep learning models: standard LSTM, Bidirectional LSTM, GRU, and Bidirectional GRU.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Implemented Synthetic Minority Over-sampling Technique (SMOTE) to synthetically balance minority attack categories during the preprocessing phase.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Georgia"/>
              </a:rPr>
              <a:t>3. ToN-IoT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317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Arial"/>
              </a:rPr>
              <a:t>M.E. Literature Survey | Network Security and Intrusion Detection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Georgia"/>
              </a:rPr>
              <a:t>Paper: "The Choice of Training Data and the Generalizability of Machine Learning Models for Network Intrusion Detection Systems"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11480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BEST REPORTED PERFORMANCE:</a:t>
            </a:r>
          </a:p>
          <a:p>
            <a:pPr>
              <a:spcAft>
                <a:spcPts val="2400"/>
              </a:spcAft>
            </a:pPr>
            <a:r>
              <a:rPr sz="2400" b="1">
                <a:solidFill>
                  <a:srgbClr val="C2410C"/>
                </a:solidFill>
                <a:latin typeface="Georgia"/>
              </a:rPr>
              <a:t>0.000 Cross-Dataset F1</a:t>
            </a:r>
            <a:br/>
            <a:r>
              <a:t>(Train: ToN-IoT | Test: Bot-IoT)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CORE RESEARCH OUTCOME:</a:t>
            </a:r>
          </a:p>
          <a:p>
            <a:r>
              <a:rPr sz="1500" b="0">
                <a:solidFill>
                  <a:srgbClr val="1F2937"/>
                </a:solidFill>
                <a:latin typeface="Arial"/>
              </a:rPr>
              <a:t>Discovered a severe generalizability drop: while within-dataset accuracies remained near-perfect, cross-dataset F1 scores collapsed, proving that dataset-specific capture biases severely impact real-world NIDS reliability.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377440"/>
            <a:ext cx="6522415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DATASET USAGE &amp; MODEL SUMMARY: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Evaluated the cross-dataset generalizability of Extra Tree classifiers by training and testing models interchangeably across four NetFlow v2 formatted datasets.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Used t-SNE dimensionality reduction to visually map and analyze feature space overlaps across UNSW-NB15, CSE-CIC-IDS2018, Bot-IoT, and ToN-IoT.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Extracted equally-sized subsets of 1 million flow records from each dataset to ensure fair and balanced cross-validation.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Georgia"/>
              </a:rPr>
              <a:t>4. CICIoT2023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317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Arial"/>
              </a:rPr>
              <a:t>M.E. Literature Survey | Network Security and Intrusion Detection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Georgia"/>
              </a:rPr>
              <a:t>Paper: "NIDS-CNNLSTM: Network Intrusion Detection Classification Model Based on Deep Learning"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11480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BEST REPORTED PERFORMANCE:</a:t>
            </a:r>
          </a:p>
          <a:p>
            <a:pPr>
              <a:spcAft>
                <a:spcPts val="2400"/>
              </a:spcAft>
            </a:pPr>
            <a:r>
              <a:rPr sz="2400" b="1">
                <a:solidFill>
                  <a:srgbClr val="C2410C"/>
                </a:solidFill>
                <a:latin typeface="Georgia"/>
              </a:rPr>
              <a:t>99.995% Binary Accuracy</a:t>
            </a:r>
            <a:br/>
            <a:r>
              <a:t>99.96% Multiclass Accuracy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CORE RESEARCH OUTCOME:</a:t>
            </a:r>
          </a:p>
          <a:p>
            <a:r>
              <a:rPr sz="1500" b="0">
                <a:solidFill>
                  <a:srgbClr val="1F2937"/>
                </a:solidFill>
                <a:latin typeface="Arial"/>
              </a:rPr>
              <a:t>Proved that the CNN-LSTM hybrid classifier significantly outperforms individual architectures by successfully combining CNN spatial feature extraction with sequential LSTM temporal sequence modeling.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377440"/>
            <a:ext cx="6522415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DATASET USAGE &amp; MODEL SUMMARY: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Designed a custom hybrid architecture to capture both spatial flow characteristics and temporal connection relationships in modern big data.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Evaluated performance on the imbalanced, high-volume CICIoT2023 dataset, benchmarking against standard classifiers (MLP, Decision Tree, Naïve Bayes).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Validated model stability across varied train-test splits (70:30, 80:20, and 90:10) to prevent optimistic overfitting.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Georgia"/>
              </a:rPr>
              <a:t>5. CICDDoS2019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317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Arial"/>
              </a:rPr>
              <a:t>M.E. Literature Survey | Network Security and Intrusion Detection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Georgia"/>
              </a:rPr>
              <a:t>Paper: "A Deep Learning Approach Based on Inception-like Blocks for DDoS Classification"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11480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BEST REPORTED PERFORMANCE:</a:t>
            </a:r>
          </a:p>
          <a:p>
            <a:pPr>
              <a:spcAft>
                <a:spcPts val="2400"/>
              </a:spcAft>
            </a:pPr>
            <a:r>
              <a:rPr sz="2400" b="1">
                <a:solidFill>
                  <a:srgbClr val="C2410C"/>
                </a:solidFill>
                <a:latin typeface="Georgia"/>
              </a:rPr>
              <a:t>99.30% Multiclass Accuracy</a:t>
            </a:r>
            <a:br/>
            <a:r>
              <a:t>99.99% Binary Accuracy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CORE RESEARCH OUTCOME:</a:t>
            </a:r>
          </a:p>
          <a:p>
            <a:r>
              <a:rPr sz="1500" b="0">
                <a:solidFill>
                  <a:srgbClr val="1F2937"/>
                </a:solidFill>
                <a:latin typeface="Arial"/>
              </a:rPr>
              <a:t>Confirmed that preprocessing to delete duplicate records prevents training leaks (having identical samples in train and test sets), ensuring realistic and robust model evaluation.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377440"/>
            <a:ext cx="6522415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DATASET USAGE &amp; MODEL SUMMARY: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Cleaned the raw CICDDoS2019 dataset to remove duplicate records, zeros, and null values ignored by the majority of prior studies.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Constructed a homogeneous dataset of 660,621 unique records with balanced benign and attack flows using Info Gain Attribute Selection.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Proposed a novel 1D CNN with inception blocks that splits input features into raw bytes to process large numeric values without scaling artifacts.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Georgia"/>
              </a:rPr>
              <a:t>6. NSL-KDD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317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Arial"/>
              </a:rPr>
              <a:t>M.E. Literature Survey | Network Security and Intrusion Detection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Georgia"/>
              </a:rPr>
              <a:t>Paper: "Network Intrusion Detection Using Random Forest Feature Selection and Machine Learning"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11480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BEST REPORTED PERFORMANCE:</a:t>
            </a:r>
          </a:p>
          <a:p>
            <a:pPr>
              <a:spcAft>
                <a:spcPts val="2400"/>
              </a:spcAft>
            </a:pPr>
            <a:r>
              <a:rPr sz="2400" b="1">
                <a:solidFill>
                  <a:srgbClr val="C2410C"/>
                </a:solidFill>
                <a:latin typeface="Georgia"/>
              </a:rPr>
              <a:t>98.24% Accuracy</a:t>
            </a:r>
            <a:br/>
            <a:r>
              <a:t>(K-Nearest Neighbors)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CORE RESEARCH OUTCOME:</a:t>
            </a:r>
          </a:p>
          <a:p>
            <a:r>
              <a:rPr sz="1500" b="0">
                <a:solidFill>
                  <a:srgbClr val="1F2937"/>
                </a:solidFill>
                <a:latin typeface="Arial"/>
              </a:rPr>
              <a:t>Verified that a simple, neighborhood-based model (KNN) combined with Gini-gated feature selection out-performs complex linear classifiers (SVM: 87.58%, LR: 88.86%) in mapping network threats.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377440"/>
            <a:ext cx="6522415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DATASET USAGE &amp; MODEL SUMMARY: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Explored Gini-importance-based feature selection to extract the 9 most essential attributes from the 41 features of the NSL-KDD dataset.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Applied Random Forest with a 0.05 selection threshold to eliminate non-contributing features that introduce noise into classifier boundaries.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Trained and compared three standard algorithms: SVM, Logistic Regression, and K-Nearest Neighbors (KNN) on the optimized subset.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Georgia"/>
              </a:rPr>
              <a:t>7. CIC-IDS2017 &amp; CSE-CIC-IDS2018 Datasets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317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Arial"/>
              </a:rPr>
              <a:t>M.E. Literature Survey | Network Security and Intrusion Detection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Georgia"/>
              </a:rPr>
              <a:t>Paper: "Attentive transformer deep learning algorithm for intrusion detection on IoT systems using automatic Xplainable feature selection"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11480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BEST REPORTED PERFORMANCE:</a:t>
            </a:r>
          </a:p>
          <a:p>
            <a:pPr>
              <a:spcAft>
                <a:spcPts val="2400"/>
              </a:spcAft>
            </a:pPr>
            <a:r>
              <a:rPr sz="2400" b="1">
                <a:solidFill>
                  <a:srgbClr val="C2410C"/>
                </a:solidFill>
                <a:latin typeface="Georgia"/>
              </a:rPr>
              <a:t>97.25% (CIC-IDS2017)</a:t>
            </a:r>
            <a:br/>
            <a:r>
              <a:t>95.63% (CSE-CIC-IDS2018)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CORE RESEARCH OUTCOME:</a:t>
            </a:r>
          </a:p>
          <a:p>
            <a:r>
              <a:rPr sz="1500" b="0">
                <a:solidFill>
                  <a:srgbClr val="1F2937"/>
                </a:solidFill>
                <a:latin typeface="Arial"/>
              </a:rPr>
              <a:t>Replaced traditional black-box deep learning models with an attentive architecture that offers global and local interpretability, allowing analysts to extract exact visual justifications for threat predictions.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377440"/>
            <a:ext cx="6522415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DATASET USAGE &amp; MODEL SUMMARY: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Implemented the TabNet-IDS self-interpreting neural network based on a PyTorch framework to classify massive network traffic volumes.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Evaluated model performance across over 70 million records spanning three major benchmarks: CIC-IDS2017, CSE-CIC-IDS2018, and CIC-DDoS2019.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Used TabNet's internal sequential attention mechanism to dynamically mask and automatically weigh features during the learning phase.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Georgia"/>
              </a:rPr>
              <a:t>8. IoTID20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317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Arial"/>
              </a:rPr>
              <a:t>M.E. Literature Survey | Network Security and Intrusion Detection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Georgia"/>
              </a:rPr>
              <a:t>Paper: "Comparative performance evaluation of machine learning classifiers for multi-class intrusion detection on the NSL-KDD dataset"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11480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BEST REPORTED PERFORMANCE:</a:t>
            </a:r>
          </a:p>
          <a:p>
            <a:pPr>
              <a:spcAft>
                <a:spcPts val="2400"/>
              </a:spcAft>
            </a:pPr>
            <a:r>
              <a:rPr sz="2400" b="1">
                <a:solidFill>
                  <a:srgbClr val="C2410C"/>
                </a:solidFill>
                <a:latin typeface="Georgia"/>
              </a:rPr>
              <a:t>99.80% Accuracy on IoTID20</a:t>
            </a:r>
            <a:br/>
            <a:r>
              <a:t>99.92% Accuracy on NSL-KDD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CORE RESEARCH OUTCOME:</a:t>
            </a:r>
          </a:p>
          <a:p>
            <a:r>
              <a:rPr sz="1500" b="0">
                <a:solidFill>
                  <a:srgbClr val="1F2937"/>
                </a:solidFill>
                <a:latin typeface="Arial"/>
              </a:rPr>
              <a:t>Proven that statistical feature selection (CorChi) combined with lightweight Decision Trees matches or exceeds complex deep learning accuracies while eliminating heavy hardware training constraints.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377440"/>
            <a:ext cx="6522415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100" b="1">
                <a:solidFill>
                  <a:srgbClr val="4B5563"/>
                </a:solidFill>
                <a:latin typeface="Arial"/>
              </a:rPr>
              <a:t>DATASET USAGE &amp; MODEL SUMMARY: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Proposed a novel statistical feature selection technique named CorChi (Correlation + Chi-Square) to extract a refined subset of 15 essential features.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Evaluated the selected features using lightweight, low-complexity models (Decision Tree, Random Forest, AdaBoost) to minimize edge latency.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•  Benchmarked results against resource-intensive deep learning models across the IoTID20 and NSL-KDD security datasets.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Georgia"/>
              </a:rPr>
              <a:t>Comparative Synthesis &amp;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317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Arial"/>
              </a:rPr>
              <a:t>M.E. Literature Survey | Network Security and Intrusion Detection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C2410C"/>
                </a:solidFill>
                <a:latin typeface="Arial"/>
              </a:rPr>
              <a:t>1. PRUNING THE FLOW FEATURE SPACE</a:t>
            </a:r>
          </a:p>
          <a:p>
            <a:pPr>
              <a:spcAft>
                <a:spcPts val="28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Across all datasets (Bot-IoT, NSL-KDD, IoTID20), applying statistical feature selection (Pearson correlation, CorChi, Info Gain) to reduce features down to 9–15 columns maintains or enhances classification accuracy while cutting processing footprint by up to 84%.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2410C"/>
                </a:solidFill>
                <a:latin typeface="Arial"/>
              </a:rPr>
              <a:t>2. BALANCING MINORITY THREATS</a:t>
            </a:r>
          </a:p>
          <a:p>
            <a:r>
              <a:rPr sz="1400" b="0">
                <a:solidFill>
                  <a:srgbClr val="1F2937"/>
                </a:solidFill>
                <a:latin typeface="Arial"/>
              </a:rPr>
              <a:t>Raw security datasets suffer from severe class imbalances. Applying stratified random undersampling (undersampling majority benign classes) or hybrid oversampling (SMOTE for minority classes) is essential to train unbiased NIDS classifiers.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C2410C"/>
                </a:solidFill>
                <a:latin typeface="Arial"/>
              </a:rPr>
              <a:t>3. SHALLOW ML VS. DEEP SEQUENCE NETWORKS</a:t>
            </a:r>
          </a:p>
          <a:p>
            <a:pPr>
              <a:spcAft>
                <a:spcPts val="28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For tabular flow datasets, tree-based ensemble models (Random Forest, XGBoost, CatBoost) achieve equal or superior accuracies to sequential deep learning models (LSTMs, GRUs) while executing in microseconds, making them ideal for edge deployment.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2410C"/>
                </a:solidFill>
                <a:latin typeface="Arial"/>
              </a:rPr>
              <a:t>4. THE NIDS CROSS-DATASET BLIND SPOT</a:t>
            </a:r>
          </a:p>
          <a:p>
            <a:r>
              <a:rPr sz="1400" b="0">
                <a:solidFill>
                  <a:srgbClr val="1F2937"/>
                </a:solidFill>
                <a:latin typeface="Arial"/>
              </a:rPr>
              <a:t>Evaluating a model only on its training dataset generates inflated results. Cross-dataset testing reveals significant vulnerabilities to capture biases, demonstrating that modern NIDS models struggle to generalize to unseen networks.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Georgia"/>
              </a:rPr>
              <a:t>Bibliography &amp; Academic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317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Arial"/>
              </a:rPr>
              <a:t>M.E. Literature Survey | Network Security and Intrusion Detection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[1] Kerrakchou, I., et al. (2023). "Selection of efficient machine learning algorithm on Bot-IoT dataset..." Indonesian Journal of Electrical Engineering and Computer Science, 31(3).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[2] Hassouneh, N., &amp; al-sharaeh, S. (2024). "Intrusion Detection in IoT Networks Using LSTM Deep Learning Models with the UNSW-NB15 Dataset." Academic Paper.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[3] Iwanowski, M., et al. (2025). "The Choice of Training Data and the Generalizability of Machine Learning Models for NIDS." Applied Sciences, 15(15).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[4] Younisse, S., &amp; Ahmad, M. (2024). "NIDS-CNNLSTM: Network Intrusion Detection Classification Model Based on Deep Learning." IEEE Access, 13.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[5] Akgun, D., et al. (2022). "A Deep Learning Approach Based on Inception-like Blocks for DDoS Classification." Computers &amp; Security, 118.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[6] Vibhute, A. D., et al. (2024). "Network Intrusion Detection Using Random Forest Feature Selection and Machine Learning." Procedia Computer Science, 233.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[7] Rodriguez, D. Z., et al. (2023). "Attentive transformer deep learning algorithm for intrusion detection on IoT systems..." PLoS ONE, 18(10).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[8] Kaushik, S., et al. (2025). "Comparative performance evaluation of machine learning classifiers for multi-class intrusion detection..." Scientific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