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75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4F488-2918-A17E-4F0F-65CA75102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4F10D-7B57-C23C-F391-5F76E6297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0F9B3-0AA5-E143-6138-982EBC11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2D08D-31A3-627C-059A-06DE7FAB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10432-C5CA-5CCE-DF6C-A97A5EC6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2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D8B3-70F9-4743-A802-F9069E5A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E318D-1D37-2A6D-0D28-F37827584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A75D6-8192-C448-320D-41648BA8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03D29-B3A1-6EAD-351B-0938FDD3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4812F-E414-9AA7-925C-9F1A412A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7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B357-F2E8-3B71-0565-F4EDF70B9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615D3-10B8-D7F3-A164-8F2146FC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928E8-2949-502A-82A0-42069404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8F7AD-8CB7-1228-C4EE-FAF5DAA5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CE5DB-4943-B2E6-DA5E-31ECD6FC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1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D148-9EF6-3FFB-3023-B3D59F93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AB4ED-6F98-EA85-80C1-F4E3DF3AB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4BF9B-7CAB-B199-5907-F518F9B60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71EE9-B803-D0BE-125B-470D77B9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ECFD-C142-3A50-C7E6-C4002D3A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1FD28-E1A6-FEB9-F504-0FF680C7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5F30-6DA0-5B7F-7DF9-7E500B0E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963A9-306C-4DFC-408D-16BDD0799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E794-B860-BBCB-AA77-46168A262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EF827-2FFA-E6FE-ED23-30A7375A1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D374B-5C7C-3C23-D2FE-65E20F478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BF96A-5B1F-267D-1CBA-2C3C9BD7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F62B00-8133-5F1C-5569-549DDE87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B9FC4-5970-63D5-4FAC-635F7B42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5909-5816-4638-3F8D-6F6F6250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0C344-DF76-9B1A-CE8D-B3BD818BE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A5D17-F105-2505-CB1C-99B216E7E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EAEBC-3A9C-9DA7-158B-C9BE2ACC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6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E10278-FEA9-A0DA-82F8-788065975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0FE27-29AA-4B3D-684C-0D18E7D7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5909B-AB58-4CB7-001B-46616DEA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041B-5C6E-80AC-DD39-EEE820140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99163-D59C-F4FB-5485-5E11D9EC9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0C5AE-E812-BCA2-6374-0E6E4194D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29583-79B5-7BBB-A58C-782B97B7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9D7A1-D88A-30F6-383E-04A5A2DA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D30B-1ED6-5E82-3677-A437CCE0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3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7B33-51C4-8061-9273-3846CB16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60129-C5AE-5614-485E-13FABE3EA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95645-7E54-70A0-4AC2-0686029CA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98CC7-FA54-CC11-5F57-141DC1FD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263EA-14C3-C5D5-4A31-4B995749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E17CB-4EA9-F677-3F9E-6B88E677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8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E7D6-A332-0544-DCB4-4C3337E82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813E2-1E3B-8A82-37BA-1A3701BF0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48993-C503-D393-C8B8-E01FB4BC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62ECC-410C-20A1-4CCC-73A72796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AC207-1CB0-663B-EAD6-A65F5AD3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5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5F585-CFD4-657F-53F1-7585C3413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15B2A-5C25-AC6D-2888-84733701E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D4351-9B63-5841-124D-5D3DBE03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5BA28-7AFC-3E44-0A98-73CC143B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0AAFD-BE1D-042C-0B3E-8392D163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1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C42BE-EBDF-EB22-9D99-3D2AAB1E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52706-2992-D005-3B32-CDD106CE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4D835-2583-39EC-6E0B-3063826DF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80B0D-6093-4B46-3B5C-C7B7BB38D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72EA0-855F-76B9-81A3-3216C88E9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7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2011680"/>
            <a:ext cx="1036289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800" b="1" i="0" dirty="0">
                <a:latin typeface="Georgia"/>
              </a:rPr>
              <a:t>A LITERATURE SURVEY ON INTRUSION DETECTION SYSTEMS</a:t>
            </a:r>
          </a:p>
          <a:p>
            <a:pPr algn="ctr"/>
            <a:r>
              <a:rPr lang="en-IN" sz="1200" b="1" i="0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CSE 3 | </a:t>
            </a:r>
            <a:r>
              <a:rPr sz="1200" b="1" i="0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M.E. Computer Science and Engineering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E293B"/>
                </a:solidFill>
                <a:latin typeface="Georgia"/>
              </a:rPr>
              <a:t>Contents</a:t>
            </a:r>
            <a:endParaRPr lang="en-US"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2307" y="1645920"/>
            <a:ext cx="256032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2307" y="1645920"/>
            <a:ext cx="54864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44955" y="2327354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b="1" i="0" dirty="0">
                <a:solidFill>
                  <a:srgbClr val="B45309"/>
                </a:solidFill>
                <a:latin typeface="Georgia"/>
              </a:rPr>
              <a:t>1. BOT-IoT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1645920"/>
            <a:ext cx="256032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1227" y="1645920"/>
            <a:ext cx="54864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33875" y="2327354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b="1" i="0" dirty="0">
                <a:solidFill>
                  <a:srgbClr val="B45309"/>
                </a:solidFill>
                <a:latin typeface="Georgia"/>
              </a:rPr>
              <a:t>2. UNSW-NB15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645920"/>
            <a:ext cx="256032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147" y="1645920"/>
            <a:ext cx="54864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22795" y="2327354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b="1" i="0" dirty="0">
                <a:solidFill>
                  <a:srgbClr val="B45309"/>
                </a:solidFill>
                <a:latin typeface="Georgia"/>
              </a:rPr>
              <a:t>3. </a:t>
            </a:r>
            <a:r>
              <a:rPr sz="1400" b="1" i="0" dirty="0" err="1">
                <a:solidFill>
                  <a:srgbClr val="B45309"/>
                </a:solidFill>
                <a:latin typeface="Georgia"/>
              </a:rPr>
              <a:t>ToN</a:t>
            </a:r>
            <a:r>
              <a:rPr sz="1400" b="1" i="0" dirty="0">
                <a:solidFill>
                  <a:srgbClr val="B45309"/>
                </a:solidFill>
                <a:latin typeface="Georgia"/>
              </a:rPr>
              <a:t>-IoT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9067" y="1645920"/>
            <a:ext cx="256032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99067" y="1645920"/>
            <a:ext cx="54864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11715" y="2327354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b="1" i="0" dirty="0">
                <a:solidFill>
                  <a:srgbClr val="B45309"/>
                </a:solidFill>
                <a:latin typeface="Georgia"/>
              </a:rPr>
              <a:t>4. CIC-IDS17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307" y="3566160"/>
            <a:ext cx="256032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307" y="3566160"/>
            <a:ext cx="54864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44955" y="4247594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b="1" i="0" dirty="0">
                <a:solidFill>
                  <a:srgbClr val="B45309"/>
                </a:solidFill>
                <a:latin typeface="Georgia"/>
              </a:rPr>
              <a:t>5. CICIoT2023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1227" y="3566160"/>
            <a:ext cx="256032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21227" y="3566160"/>
            <a:ext cx="54864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33875" y="4247594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b="1" i="0" dirty="0">
                <a:solidFill>
                  <a:srgbClr val="B45309"/>
                </a:solidFill>
                <a:latin typeface="Georgia"/>
              </a:rPr>
              <a:t>6. CIC-DDoS2019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147" y="3566160"/>
            <a:ext cx="256032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0147" y="3566160"/>
            <a:ext cx="54864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22795" y="4247594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b="1" i="0" dirty="0">
                <a:solidFill>
                  <a:srgbClr val="B45309"/>
                </a:solidFill>
                <a:latin typeface="Georgia"/>
              </a:rPr>
              <a:t>7. IoTID20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9067" y="3566160"/>
            <a:ext cx="256032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99067" y="3566160"/>
            <a:ext cx="54864" cy="1645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11715" y="4247594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400"/>
              </a:spcAft>
            </a:pPr>
            <a:r>
              <a:rPr sz="1400" b="1" i="0" dirty="0">
                <a:solidFill>
                  <a:srgbClr val="B45309"/>
                </a:solidFill>
                <a:latin typeface="Georgia"/>
              </a:rPr>
              <a:t>8. NSL-KDD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1E293B"/>
                </a:solidFill>
                <a:latin typeface="Georgia"/>
              </a:rPr>
              <a:t>01: BOT-IoT Dataset</a:t>
            </a:r>
          </a:p>
          <a:p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645920"/>
            <a:ext cx="3200400" cy="17869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Imane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Kerrakchou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Selection of efficient ML on Bot-IoT dataset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Utilized the 5% subset of Bot-IoT (3.6 million records).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Applied Pearson correlation to select top 9 features.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Random Forest model achieved 99.99%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1367" y="1645920"/>
            <a:ext cx="320040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Jawad Ashraf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Making a Real-Time IoT NIDS Using Realistic </a:t>
            </a:r>
            <a:r>
              <a:rPr sz="1300" b="0" i="1" dirty="0" err="1">
                <a:solidFill>
                  <a:srgbClr val="64748B"/>
                </a:solidFill>
                <a:latin typeface="Arial"/>
              </a:rPr>
              <a:t>BoT</a:t>
            </a:r>
            <a:r>
              <a:rPr sz="1300" b="0" i="1" dirty="0">
                <a:solidFill>
                  <a:srgbClr val="64748B"/>
                </a:solidFill>
                <a:latin typeface="Arial"/>
              </a:rPr>
              <a:t>-IoT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Tackled severe class imbalance using SMOTE + under sampling.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Pearson Correlation selected 14 optimal features.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Random Forest achieved 99.2% overfit-resistant accuracy.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896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896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1847" y="1645920"/>
            <a:ext cx="320040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Abdulaziz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Aldaej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Ensemble technique of intrusion detection for IoT-edge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edge-decoupled two-stage classification scheme.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E-Tree binary filter flags intrusions at 99.95% accuracy.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RF/MLP ensemble handles multi-class attack profiling.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00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800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887" y="4069080"/>
            <a:ext cx="320040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Nitu Dash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Optimized LSTM-based model for anomaly NIDS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Evaluated metaheuristic tuning on Bot-IoT training instances.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Long Short-Term Memory optimized via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Salp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Swarm Algorithm.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SSA-LSTMIDS registered 86.44% test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848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5848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1367" y="4069080"/>
            <a:ext cx="320040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K.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Albulayhi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(2021)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Deep learning approaches for intrusion-detection systems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Surveyed supervised, unsupervised, and hybrid deep learning.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Evaluated binarized LR, SVM, DT, and ANN classifiers.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Mapped heavy target vulnerability under DDoS &amp; DoS flooding.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896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9896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2703" y="4069080"/>
            <a:ext cx="3200400" cy="2039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T. B. O.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A hybrid feature selection technique based on Firefly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Evaluated on standardized NetFlow NF-BoT-IoT-v2 dataset.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Spearman rank + Mutual Info + Firefly feature selection.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Achieved 98.42% accuracy with substantial feature reduction.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1E293B"/>
                </a:solidFill>
                <a:latin typeface="Georgia"/>
              </a:rPr>
              <a:t>02: UNSW-NB15 Dataset</a:t>
            </a:r>
          </a:p>
          <a:p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645920"/>
            <a:ext cx="3200400" cy="2005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 err="1">
                <a:solidFill>
                  <a:srgbClr val="1E293B"/>
                </a:solidFill>
                <a:latin typeface="Georgia"/>
              </a:rPr>
              <a:t>Nazek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Hassouneh et al.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Intrusion Detection in IoT Networks using LSTM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Utilized the UNSW-NB15 dataset (175,341 training records).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Applied SMOTE oversampling to correct severe class imbalance.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Bidirectional LSTM model achieved 98.68% binary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9963" y="1519622"/>
            <a:ext cx="3200400" cy="20185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Salam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Fraihat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Intrusion detection for large-scale NetFlow networks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Tested on standardized NetFlow NF-UNSW-NB15-v2 protocol.</a:t>
            </a:r>
            <a:endParaRPr lang="en-US" sz="130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Binary Arithmetic Optimization (BAOA) feature selection.</a:t>
            </a:r>
            <a:endParaRPr lang="en-US" sz="130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Reduced features down to 7 (84% reduction), achieving 99.69%.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896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896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6127" y="1540890"/>
            <a:ext cx="3200400" cy="2005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P.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Waghmode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Intrusion Detection System Based on Machine Learning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Employed Exhaustive Feature Selection (EFS) across attributes.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Least Square Support Vector Machine (LS-SVM) was trained.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Achieved 93.27% accuracy, outperforming standard deep nets.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824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24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1127" y="3979792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 err="1">
                <a:solidFill>
                  <a:srgbClr val="1E293B"/>
                </a:solidFill>
                <a:latin typeface="Georgia"/>
              </a:rPr>
              <a:t>Alsulami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IoT protocol-enabled IDS based on machine learning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Examined network layer protocol markers in UNSW-NB15.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Analyzed feature categories representing basic, content &amp; flow.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Tree-based classifiers achieved over 97% standard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607" y="4069080"/>
            <a:ext cx="3200400" cy="20185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Shu-Ming Tseng et al.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Transformer-Based Intrusion Detection for IoT Networks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Designed parallel self-attention</a:t>
            </a:r>
            <a:r>
              <a:rPr lang="en-US" sz="1300" b="0" i="0" dirty="0">
                <a:solidFill>
                  <a:srgbClr val="1E293B"/>
                </a:solidFill>
                <a:latin typeface="Arial"/>
              </a:rPr>
              <a:t>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Transformer network.</a:t>
            </a:r>
            <a:endParaRPr lang="en-US" sz="130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Modeled sequence weights of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connection flows.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Achieved 94.00% accuracy on multi-class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network traffic.</a:t>
            </a:r>
            <a:endParaRPr sz="1300" b="0" i="0" dirty="0">
              <a:solidFill>
                <a:srgbClr val="1E293B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1E293B"/>
                </a:solidFill>
                <a:latin typeface="Georgia"/>
              </a:rPr>
              <a:t>03: </a:t>
            </a:r>
            <a:r>
              <a:rPr sz="2400" b="1" i="0" dirty="0" err="1">
                <a:solidFill>
                  <a:srgbClr val="1E293B"/>
                </a:solidFill>
                <a:latin typeface="Georgia"/>
              </a:rPr>
              <a:t>ToN</a:t>
            </a:r>
            <a:r>
              <a:rPr sz="2400" b="1" i="0" dirty="0">
                <a:solidFill>
                  <a:srgbClr val="1E293B"/>
                </a:solidFill>
                <a:latin typeface="Georgia"/>
              </a:rPr>
              <a:t>-IoT Dataset</a:t>
            </a:r>
          </a:p>
          <a:p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645920"/>
            <a:ext cx="3200400" cy="2023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M. Iwanowski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The Choice of Training Data and Generalizability of ML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Tested cross-dataset generalizability of NetFlow ToN-IoT-v2.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Used t-SNE to map extreme capture biases between datasets.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Training on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ToN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-IoT and testing on Bot-IoT yielded 0.000 F1.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1367" y="1645920"/>
            <a:ext cx="3200400" cy="2023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I. Saber et al. (2015)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Modeling and implementation approach to evaluate IDS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Evaluated heterogeneous device telemetry (Fridge, Garage, GPS).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Supervised Naïve Bayes, SVM, and MLP classifiers were used.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Telemetry-based models reached 98% to 100% accuracy.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896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896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1847" y="1645920"/>
            <a:ext cx="3200400" cy="2005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S. W.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Nourildean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(2026)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A Robust Deep Learning NIDS on Modern IoT Protocols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Benchmarked metaheuristic deep networks on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ToN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-IoT telemetry.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Evaluated Processed Windows 10 telemetry subsets.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model achieved peak accuracy of 98.75%.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824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24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1127" y="4069080"/>
            <a:ext cx="3200400" cy="2023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S. Abbas et al.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Federated Edge Learning for Cyberattack Detection in IoT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decentralized collaborative model training.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Trained local models on edge IoT nodes under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ToN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-IoT.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Addressed network congestion and raw telemetry leakage.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607" y="4069080"/>
            <a:ext cx="3200400" cy="2005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S.Y. and M.D.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NIDS-CNNLSTM Classification Model Based on Deep Learning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a hybrid 1D-CNN + LSTM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sequential network.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Tested on Processed Windows 10 telemetry logs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of ToN-IoT.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CNN extracts spatial features, LSTM logs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temporal states.</a:t>
            </a:r>
            <a:endParaRPr sz="1300" b="0" i="0" dirty="0">
              <a:solidFill>
                <a:srgbClr val="1E293B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2400" b="1" i="0" dirty="0">
                <a:solidFill>
                  <a:srgbClr val="1E293B"/>
                </a:solidFill>
                <a:latin typeface="Georgia"/>
              </a:rPr>
              <a:t>04: CIC-IDS2017 &amp; CSE-CIC-IDS2018 Dataset</a:t>
            </a:r>
          </a:p>
          <a:p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475164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555897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 err="1">
                <a:solidFill>
                  <a:srgbClr val="1E293B"/>
                </a:solidFill>
                <a:latin typeface="Georgia"/>
              </a:rPr>
              <a:t>Ogobuchi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Daniel Okey et al.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Intrusion detection on IoT systems using automatic XAI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TabNet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-IDS on CSE-CIC-IDS2018 (16M+ flows).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Sequential attention masks automatically select key features.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Outputs global &amp; local visual explanation masks at 95.58% acc.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1367" y="1539821"/>
            <a:ext cx="3200400" cy="21870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M. Vishwakarma &amp; N.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Kesswani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Two-Phase Intrusion Detection System for IoT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two-phase Naive Bayes voting + Elliptic Envelope.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Benchmarked on CIC-IDS2017 multi-day background traffic.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Achieved 98.59% accuracy while keeping False Alarm Rates 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896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896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184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 err="1">
                <a:solidFill>
                  <a:srgbClr val="1E293B"/>
                </a:solidFill>
                <a:latin typeface="Georgia"/>
              </a:rPr>
              <a:t>Shebl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EURASIP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A Robust Deep Learning NIDS on Modern Protocols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spatial Deep Convolutional Neural Network (DCNN).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Evaluated on multi-day enterprise packet flows of CICIDS-2017.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DCNN achieved a peak binary classification accuracy of 99.96%.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824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24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1127" y="3980156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F. S.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Alsubaei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Optimized Sequential Neural Network (OSNN) NIDS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Trained on CSE-CICIDS-2018 to resolve raw high-rate threats.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 err="1">
                <a:solidFill>
                  <a:srgbClr val="1E293B"/>
                </a:solidFill>
                <a:latin typeface="Arial"/>
              </a:rPr>
              <a:t>XGBoost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binary classification + OSNN multi-class model.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Yielded optimal performance with test accuracy of 99.53%.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607" y="406908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Nitu Dash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An Optimized LSTM-Based Deep Learning Model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Utilized 103,825 training records from the CICIDS-2017 set.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Hyperparameters of LSTM optimized via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Salp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Swarm Algorithm.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SSA-LSTMIDS registered 99.80% testing accuracy.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1E293B"/>
                </a:solidFill>
                <a:latin typeface="Georgia"/>
              </a:rPr>
              <a:t>05: CICIoT2023 Dataset</a:t>
            </a:r>
          </a:p>
          <a:p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554656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S.Y. and M.D.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NIDS-CNNLSTM: Network Intrusion Detection classification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Used physical smart home testbed consisting of 105 devices.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1D-CNN + LSTM sequential deep architecture.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Achieved 99.995% binary and 99.96% multi-class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1367" y="1540891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Shu-Ming Tseng et al.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Multi-Class Intrusion Detection Based on Transformer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Utilized raw CIC-IoT-2023 flows (46M+ records, 33 attacks).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Trained self-attention Transformer without feature screening.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Transformer encoder registered 99.40% multi-class accuracy.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896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896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184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Salah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Almahaqeri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(2026)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An Optimized Gradient Boosting Framework for IoT ID</a:t>
            </a:r>
            <a:endParaRPr lang="en-US" sz="1300" b="0" i="1" dirty="0">
              <a:solidFill>
                <a:srgbClr val="64748B"/>
              </a:solidFill>
              <a:latin typeface="Arial"/>
            </a:endParaRP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Handled class imbalance in the 46.6M dataset via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undersampling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gain-based selection for dimensionality reduction.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 err="1">
                <a:solidFill>
                  <a:srgbClr val="1E293B"/>
                </a:solidFill>
                <a:latin typeface="Arial"/>
              </a:rPr>
              <a:t>CatBoost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model registered 8-class F1-score of 0.9923.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824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24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1127" y="406908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R. W.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Wardhani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Edge-Computing Network Intrusion Detection System in IoT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Compared 1D-CNN (93.80% F1-score) and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BiLSTM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-CNN (93.82% F1).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1D-CNN cut training time to 144 seconds, proving highly efficient.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Optimal for resource-constrained edge computing environments.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607" y="406908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E. Neto et al.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CICIoT2023: A Real-Time Dataset and Benchmark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Designed large-scale IoT physical smart home topology.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Captured compromised IoT devices targeting other IoT nodes.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Benchmark Random Forest achieved 99.68% binary accuracy.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1E293B"/>
                </a:solidFill>
                <a:latin typeface="Georgia"/>
              </a:rPr>
              <a:t>06: CIC-DDoS2019 Dataset</a:t>
            </a:r>
          </a:p>
          <a:p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Devrim Akgun et al. (2022)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A Deep Learning Approach Based on Inception-like Blocks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Deduplicated original dataset to compile 660,621 clean flows.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Split input features into individual bytes for better scaling.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Designed Inception block CNN yielding 99.30% multi-class acc.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136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O. Thorat et al. (2021)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Detecting DDoS Attacks Through Decision Tree Analysis: EDA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Executed Exploratory Data Analysis (EDA) on CIC-DDoS2019 dataset.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Identified key transport-layer flood signatures (syn, synonymous IP).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Decision Tree models mapped traffic splits for rule-generation.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896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896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1847" y="1551964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M. Subramanian et al. (2022)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DDoS Attack Detection Using Deep Learning and Bayesian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Utilized 12.7 million attack traces from the CICDDoS2019 dataset.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Applied Bayesian optimization to tune sequential deep network.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LSTM model registered 99.40% accuracy under optimal parameters.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824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24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1127" y="3975124"/>
            <a:ext cx="3200400" cy="21970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A.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Basahel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Enhanced coyote optimization with deep learning based cloud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a hybrid federated edge-cloud framework for DDoS mitigation.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Coyote optimization tuned hyperparameters for deep LSTM layers.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Model registered over 99.00% binary classification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607" y="406908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Alzahrani et al. (2021)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Machine Learning Models Comparison on CICDDoS2019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Benchmarked SVM, KNN, DT, NB, RF, and LR on multiclass DDoS.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Investigated binarized attack vs benign profiles under protocol loads.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Random Forest model achieved 99.00% multi-class accuracy.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1E293B"/>
                </a:solidFill>
                <a:latin typeface="Georgia"/>
              </a:rPr>
              <a:t>07: IoTID20 Dataset</a:t>
            </a:r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 err="1">
                <a:solidFill>
                  <a:srgbClr val="1E293B"/>
                </a:solidFill>
                <a:latin typeface="Georgia"/>
              </a:rPr>
              <a:t>Younisse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&amp; Ahmad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Toward Enhanced Attack Detection and Explanation in IDS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Addressed black-box opacity in deep neural network models.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Deployed ensemble blending with LIME and counterfactuals.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Proposed blending model registered perfect 1.0 (100%)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1367" y="1551964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Sunil Kaushik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IoT Intrusion Detection Using ML with a Novel Feature Selection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Formulated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CorChi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(Correlation + Chi-Square) feature selection.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Pruned feature space down to 15 core parameters, reducing complexity.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Decision Tree achieved 99.80% accuracy in just 46ms CPU runtime.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896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896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184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 err="1">
                <a:solidFill>
                  <a:srgbClr val="1E293B"/>
                </a:solidFill>
                <a:latin typeface="Georgia"/>
              </a:rPr>
              <a:t>Shebl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HIDS-IoMT: A Deep Learning-Based Intelligent IDS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300" b="0" i="0" dirty="0">
                <a:solidFill>
                  <a:srgbClr val="1E293B"/>
                </a:solidFill>
                <a:latin typeface="Arial"/>
              </a:rPr>
              <a:t>T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ested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on smart-home testbed victims (Wi-Fi camera, smartphones).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Mapped legal patterns against Mirai, DoS, Scan, and MitM threats.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DCNN architecture achieved 99.860% multiclass accuracy.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824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824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1127" y="406908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T. B. O.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A hybrid feature selection technique on NF-BoT-IoT-v2 and IoTID20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Analyzed 625,783 flow samples of the IoTID20 dataset.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Mutual Information + Spearman Rank + Firefly Feature Selection.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Deep LSTM NIDS registered 89.54% accuracy on multi-class.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607" y="406908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K.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Albulayhi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(2021)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Deep learning approaches for intrusion-detection systems in IoT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Split smart-home devices into attacking and victim nodes.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Evaluated LR, SVM, DT, and ANN classifiers on binarized flows.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Determined local cluster neighborhood boundaries on Mirai and Scan.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1E293B"/>
                </a:solidFill>
                <a:latin typeface="Georgia"/>
              </a:rPr>
              <a:t>08: NSL-KDD Dataset</a:t>
            </a:r>
          </a:p>
          <a:p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800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800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Amol D.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Vibhute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(2024)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Towards Detection of Network Anomalies using ML on NSL-KDD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Corrected KDD's duplicate biases using 125,973 training records.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Random Forest feature scaling (0.05 threshold) isolated 9 features.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K-Nearest Neighbors model achieved 98.24% testing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48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136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Aman Jyoti et al. (2026)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Comparative performance evaluation of ML classifiers on NSL-KDD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Systematically compared LSVM, QSVM, KNN, LDA, and QDA.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Neighborhood-based KNN classifier achieved 98.55% accuracy.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Proved high local clustering and linear separability of features.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8967" y="150876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98967" y="150876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1847" y="164592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Pardeshi &amp; Patil (2023)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Supervised Intrusion Detection with </a:t>
            </a:r>
            <a:r>
              <a:rPr sz="1300" b="0" i="1" dirty="0" err="1">
                <a:solidFill>
                  <a:srgbClr val="64748B"/>
                </a:solidFill>
                <a:latin typeface="Arial"/>
              </a:rPr>
              <a:t>SelectKBest</a:t>
            </a:r>
            <a:r>
              <a:rPr sz="1300" b="0" i="1" dirty="0">
                <a:solidFill>
                  <a:srgbClr val="64748B"/>
                </a:solidFill>
                <a:latin typeface="Arial"/>
              </a:rPr>
              <a:t> and CFS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Combined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SelectKBest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filter with Correlation Feature Selection.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Trained Random Forest, SVM, Decision Tree, and KNN.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RF and Gradient Boosting achieved 90.00% multi-class accuracy.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00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800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887" y="406908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S.Y. and M.D. (2026)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Adaptive Ensemble Machine Learning Model for Intrusion Detection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Addressed minority under-fitting on Probe, R2L,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and U2R.</a:t>
            </a:r>
            <a:endParaRPr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Constructed class-weight adaptive voting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ensemble classifier.</a:t>
            </a:r>
            <a:endParaRPr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Significantly improved the detection rates of highly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localized attacks.</a:t>
            </a:r>
            <a:endParaRPr sz="1300" b="0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5848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5848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1367" y="4069080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P. </a:t>
            </a:r>
            <a:r>
              <a:rPr sz="1300" b="1" i="0" dirty="0" err="1">
                <a:solidFill>
                  <a:srgbClr val="1E293B"/>
                </a:solidFill>
                <a:latin typeface="Georgia"/>
              </a:rPr>
              <a:t>Waghmode</a:t>
            </a:r>
            <a:r>
              <a:rPr sz="1300" b="1" i="0" dirty="0">
                <a:solidFill>
                  <a:srgbClr val="1E293B"/>
                </a:solidFill>
                <a:latin typeface="Georgia"/>
              </a:rPr>
              <a:t> et al. (2025)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Intrusion Detection System Based on Machine Learning Using LS-SVM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Exhaustive Feature Selection (EFS) swept all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possible combinations.</a:t>
            </a:r>
            <a:endParaRPr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Least Square Support Vector Machine (LS-SVM)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was trained.</a:t>
            </a:r>
            <a:endParaRPr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Achieved 99.30% binary accuracy with minimal </a:t>
            </a:r>
            <a:r>
              <a:rPr sz="1300" b="0" i="0">
                <a:solidFill>
                  <a:srgbClr val="1E293B"/>
                </a:solidFill>
                <a:latin typeface="Arial"/>
              </a:rPr>
              <a:t>feature sizes.</a:t>
            </a:r>
            <a:endParaRPr sz="1300" b="0" i="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98967" y="3931920"/>
            <a:ext cx="34747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98967" y="3931920"/>
            <a:ext cx="73152" cy="2240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6127" y="3959942"/>
            <a:ext cx="3200400" cy="1987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2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Aman Jyoti et al. (2026 - Reference)</a:t>
            </a:r>
          </a:p>
          <a:p>
            <a:pPr algn="just">
              <a:spcAft>
                <a:spcPts val="500"/>
              </a:spcAft>
            </a:pPr>
            <a:r>
              <a:rPr sz="1300" b="0" i="1" dirty="0">
                <a:solidFill>
                  <a:srgbClr val="64748B"/>
                </a:solidFill>
                <a:latin typeface="Arial"/>
              </a:rPr>
              <a:t>Comparative performance evaluation of ML classifiers (v2)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Evaluated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LightGBM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, Voting,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CatBoost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, and MLP.</a:t>
            </a: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i="0" dirty="0" err="1">
                <a:solidFill>
                  <a:srgbClr val="1E293B"/>
                </a:solidFill>
                <a:latin typeface="Arial"/>
              </a:rPr>
              <a:t>CatBoost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achieved peak 73.7% precision on rare U2R attack class.</a:t>
            </a:r>
            <a:endParaRPr lang="en-US" sz="1300" b="0" i="0" dirty="0">
              <a:solidFill>
                <a:srgbClr val="1E293B"/>
              </a:solidFill>
              <a:latin typeface="Arial"/>
            </a:endParaRPr>
          </a:p>
          <a:p>
            <a:pPr marL="285750" indent="-285750" algn="just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rgbClr val="1E293B"/>
                </a:solidFill>
                <a:latin typeface="Arial"/>
              </a:rPr>
              <a:t>Voting model suffered massive class bias on highly imbalanced labels.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7550" y="365760"/>
            <a:ext cx="111556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 dirty="0">
                <a:solidFill>
                  <a:srgbClr val="1E293B"/>
                </a:solidFill>
                <a:latin typeface="Georgia"/>
              </a:rPr>
              <a:t>09: Comparative Synthesis &amp; Key Takeaways</a:t>
            </a:r>
          </a:p>
          <a:p>
            <a:endParaRPr sz="1100" b="0" i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7550" y="1188720"/>
            <a:ext cx="1115568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7550" y="1554480"/>
            <a:ext cx="53949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7550" y="1554480"/>
            <a:ext cx="73152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6150" y="1783080"/>
            <a:ext cx="5029200" cy="2738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1400"/>
              </a:spcAft>
            </a:pPr>
            <a:r>
              <a:rPr sz="1300" b="1" i="0" dirty="0">
                <a:solidFill>
                  <a:srgbClr val="B45309"/>
                </a:solidFill>
                <a:latin typeface="Georgia"/>
              </a:rPr>
              <a:t>1. Feature Engineering &amp; Selection</a:t>
            </a:r>
          </a:p>
          <a:p>
            <a:pPr marL="285750" indent="-28575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Feature space pruning via Binary Arithmetic Optimization (BAOA) or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CorChi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reduces dimensions by up to 84% without sacrificing classification accuracy.</a:t>
            </a:r>
          </a:p>
          <a:p>
            <a:pPr marL="285750" indent="-28575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Removing static artifacts (such as Time-to-Live </a:t>
            </a:r>
            <a:r>
              <a:rPr sz="1300" b="0" i="0" dirty="0" err="1">
                <a:solidFill>
                  <a:srgbClr val="1E293B"/>
                </a:solidFill>
                <a:latin typeface="Arial"/>
              </a:rPr>
              <a:t>sttl</a:t>
            </a:r>
            <a:r>
              <a:rPr sz="1300" b="0" i="0" dirty="0">
                <a:solidFill>
                  <a:srgbClr val="1E293B"/>
                </a:solidFill>
                <a:latin typeface="Arial"/>
              </a:rPr>
              <a:t> in UNSW-NB15) is vital to prevent classifiers from memorizing biased testbed routing traces.</a:t>
            </a:r>
          </a:p>
          <a:p>
            <a:pPr marL="285750" indent="-28575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Transitioning raw packet captures (PCAP) to standardized NetFlow protocol format enables cross-network generalization across unified feature columns.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270" y="1554480"/>
            <a:ext cx="53949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78270" y="1554480"/>
            <a:ext cx="73152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6870" y="1783080"/>
            <a:ext cx="5029200" cy="2738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1400"/>
              </a:spcAft>
            </a:pPr>
            <a:r>
              <a:rPr sz="1300" b="1" i="0" dirty="0">
                <a:solidFill>
                  <a:srgbClr val="1E293B"/>
                </a:solidFill>
                <a:latin typeface="Georgia"/>
              </a:rPr>
              <a:t>2. Handling Imbalance &amp; Edge Latency</a:t>
            </a:r>
          </a:p>
          <a:p>
            <a:pPr marL="285750" indent="-28575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Raw datasets are heavily imbalanced (e.g. Bot-IoT is 99% malicious); implementing stratified under sampling or SMOTE is crucial for unbiased training.</a:t>
            </a:r>
          </a:p>
          <a:p>
            <a:pPr marL="285750" indent="-28575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Shallow machine learning (Tree Ensembles, KNN) consistently matches or outperforms complex deep nets while maintaining low microsecond latencies.</a:t>
            </a:r>
          </a:p>
          <a:p>
            <a:pPr marL="285750" indent="-285750" algn="just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i="0" dirty="0">
                <a:solidFill>
                  <a:srgbClr val="1E293B"/>
                </a:solidFill>
                <a:latin typeface="Arial"/>
              </a:rPr>
              <a:t>Decentralized, dual-stage architectures (Stage 1 binary filtering on edge devices -&gt; Stage 2 complex cloud multi-class) prevent gateway congestion.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2130</Words>
  <Application>Microsoft Office PowerPoint</Application>
  <PresentationFormat>Widescreen</PresentationFormat>
  <Paragraphs>238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Erramuri Dhanush RajKumar</cp:lastModifiedBy>
  <cp:revision>6</cp:revision>
  <dcterms:created xsi:type="dcterms:W3CDTF">2013-01-27T09:14:16Z</dcterms:created>
  <dcterms:modified xsi:type="dcterms:W3CDTF">2026-08-28T18:54:07Z</dcterms:modified>
  <cp:category/>
</cp:coreProperties>
</file>